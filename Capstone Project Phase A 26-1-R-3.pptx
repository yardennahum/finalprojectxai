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6858000" cx="12192000"/>
  <p:notesSz cx="6858000" cy="9144000"/>
  <p:embeddedFontLst>
    <p:embeddedFont>
      <p:font typeface="Rubik Medium"/>
      <p:regular r:id="rId34"/>
      <p:bold r:id="rId35"/>
      <p:italic r:id="rId36"/>
      <p:boldItalic r:id="rId37"/>
    </p:embeddedFont>
    <p:embeddedFont>
      <p:font typeface="Heebo"/>
      <p:regular r:id="rId38"/>
      <p:bold r:id="rId39"/>
    </p:embeddedFont>
    <p:embeddedFont>
      <p:font typeface="Heebo Light"/>
      <p:regular r:id="rId40"/>
      <p:bold r:id="rId41"/>
    </p:embeddedFont>
    <p:embeddedFont>
      <p:font typeface="Rubik ExtraBold"/>
      <p:bold r:id="rId42"/>
      <p:boldItalic r:id="rId43"/>
    </p:embeddedFont>
    <p:embeddedFont>
      <p:font typeface="Heebo SemiBold"/>
      <p:regular r:id="rId44"/>
      <p:bold r:id="rId45"/>
    </p:embeddedFont>
    <p:embeddedFont>
      <p:font typeface="Heebo Medium"/>
      <p:regular r:id="rId46"/>
      <p:bold r:id="rId47"/>
    </p:embeddedFont>
    <p:embeddedFont>
      <p:font typeface="Rubik"/>
      <p:regular r:id="rId48"/>
      <p:bold r:id="rId49"/>
      <p:italic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HeeboLight-regular.fntdata"/><Relationship Id="rId42" Type="http://schemas.openxmlformats.org/officeDocument/2006/relationships/font" Target="fonts/RubikExtraBold-bold.fntdata"/><Relationship Id="rId41" Type="http://schemas.openxmlformats.org/officeDocument/2006/relationships/font" Target="fonts/HeeboLight-bold.fntdata"/><Relationship Id="rId44" Type="http://schemas.openxmlformats.org/officeDocument/2006/relationships/font" Target="fonts/HeeboSemiBold-regular.fntdata"/><Relationship Id="rId43" Type="http://schemas.openxmlformats.org/officeDocument/2006/relationships/font" Target="fonts/RubikExtraBold-boldItalic.fntdata"/><Relationship Id="rId46" Type="http://schemas.openxmlformats.org/officeDocument/2006/relationships/font" Target="fonts/HeeboMedium-regular.fntdata"/><Relationship Id="rId45" Type="http://schemas.openxmlformats.org/officeDocument/2006/relationships/font" Target="fonts/HeeboSemiBold-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ubik-regular.fntdata"/><Relationship Id="rId47" Type="http://schemas.openxmlformats.org/officeDocument/2006/relationships/font" Target="fonts/HeeboMedium-bold.fntdata"/><Relationship Id="rId49" Type="http://schemas.openxmlformats.org/officeDocument/2006/relationships/font" Target="fonts/Rubik-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font" Target="fonts/RubikMedium-bold.fntdata"/><Relationship Id="rId34" Type="http://schemas.openxmlformats.org/officeDocument/2006/relationships/font" Target="fonts/RubikMedium-regular.fntdata"/><Relationship Id="rId37" Type="http://schemas.openxmlformats.org/officeDocument/2006/relationships/font" Target="fonts/RubikMedium-boldItalic.fntdata"/><Relationship Id="rId36" Type="http://schemas.openxmlformats.org/officeDocument/2006/relationships/font" Target="fonts/RubikMedium-italic.fntdata"/><Relationship Id="rId39" Type="http://schemas.openxmlformats.org/officeDocument/2006/relationships/font" Target="fonts/Heebo-bold.fntdata"/><Relationship Id="rId38" Type="http://schemas.openxmlformats.org/officeDocument/2006/relationships/font" Target="fonts/Heebo-regular.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ubik-boldItalic.fntdata"/><Relationship Id="rId50" Type="http://schemas.openxmlformats.org/officeDocument/2006/relationships/font" Target="fonts/Rubik-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381000" rtl="0" algn="l">
              <a:lnSpc>
                <a:spcPct val="115000"/>
              </a:lnSpc>
              <a:spcBef>
                <a:spcPts val="1200"/>
              </a:spcBef>
              <a:spcAft>
                <a:spcPts val="1200"/>
              </a:spcAft>
              <a:buNone/>
            </a:pPr>
            <a:r>
              <a:rPr lang="en-US"/>
              <a:t>Hi everyone, my name is Yarden, and this is Adan. Our project is about evaluating Explainable AI methods in domains with different levels of human impact.</a:t>
            </a:r>
            <a:endParaRPr/>
          </a:p>
        </p:txBody>
      </p:sp>
      <p:sp>
        <p:nvSpPr>
          <p:cNvPr id="91" name="Google Shape;91;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9265c46135_2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rPr>
              <a:t>Moving on to the motivation for the project. Today, AI is used to make decisions in many different fields, from movie recommendations to healthcare. The problem is that many AI systems are not transparent. Users often don't know </a:t>
            </a:r>
            <a:r>
              <a:rPr i="1" lang="en-US">
                <a:solidFill>
                  <a:schemeClr val="dk1"/>
                </a:solidFill>
              </a:rPr>
              <a:t>why</a:t>
            </a:r>
            <a:r>
              <a:rPr lang="en-US">
                <a:solidFill>
                  <a:schemeClr val="dk1"/>
                </a:solidFill>
              </a:rPr>
              <a:t> the AI made its decision. </a:t>
            </a:r>
            <a:r>
              <a:rPr lang="en-US">
                <a:solidFill>
                  <a:schemeClr val="dk1"/>
                </a:solidFill>
              </a:rPr>
              <a:t>this</a:t>
            </a:r>
            <a:r>
              <a:rPr lang="en-US">
                <a:solidFill>
                  <a:schemeClr val="dk1"/>
                </a:solidFill>
              </a:rPr>
              <a:t> creates a trust issue among users. However, not all decisions have the same risk. Therefore, we believe that </a:t>
            </a:r>
            <a:r>
              <a:rPr lang="en-US">
                <a:solidFill>
                  <a:schemeClr val="dk1"/>
                </a:solidFill>
              </a:rPr>
              <a:t>decision</a:t>
            </a:r>
            <a:r>
              <a:rPr lang="en-US">
                <a:solidFill>
                  <a:schemeClr val="dk1"/>
                </a:solidFill>
              </a:rPr>
              <a:t> with different risk levels require different levels of trust and different types of explanations. So, our goal is to find out which explanation method works best for each domain</a:t>
            </a:r>
            <a:endParaRPr/>
          </a:p>
        </p:txBody>
      </p:sp>
      <p:sp>
        <p:nvSpPr>
          <p:cNvPr id="103" name="Google Shape;103;g39265c46135_2_19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9265c46135_2_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9265c46135_2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381000" rtl="0" algn="l">
              <a:lnSpc>
                <a:spcPct val="115000"/>
              </a:lnSpc>
              <a:spcBef>
                <a:spcPts val="1200"/>
              </a:spcBef>
              <a:spcAft>
                <a:spcPts val="1200"/>
              </a:spcAft>
              <a:buNone/>
            </a:pPr>
            <a:r>
              <a:rPr lang="en-US">
                <a:solidFill>
                  <a:schemeClr val="dk1"/>
                </a:solidFill>
              </a:rPr>
              <a:t>Now, let's move on to the Background and Related Work. In this section, we will discuss the evolution of AI, the 'Black Box' problem, how risk levels affect user trust and Explainable ai methods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9265c46135_2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 AI has evolved significantly over the years. It transitioned from simple rule-based systems to becoming a central part of decision-making.</a:t>
            </a:r>
            <a:endParaRPr>
              <a:solidFill>
                <a:schemeClr val="dk1"/>
              </a:solidFill>
            </a:endParaRPr>
          </a:p>
          <a:p>
            <a:pPr indent="0" lvl="0" marL="0" rtl="0" algn="l">
              <a:lnSpc>
                <a:spcPct val="115000"/>
              </a:lnSpc>
              <a:spcBef>
                <a:spcPts val="1200"/>
              </a:spcBef>
              <a:spcAft>
                <a:spcPts val="1200"/>
              </a:spcAft>
              <a:buNone/>
            </a:pPr>
            <a:r>
              <a:rPr lang="en-US">
                <a:solidFill>
                  <a:schemeClr val="dk1"/>
                </a:solidFill>
              </a:rPr>
              <a:t>We can see this in many domains: In Healthcare, AI analyzes medical images to support diagnosis. In Finance, algorithms decide on credit scoring and investments. And in Logistics, AI is essential for route planning and inventory management.</a:t>
            </a:r>
            <a:endParaRPr/>
          </a:p>
        </p:txBody>
      </p:sp>
      <p:sp>
        <p:nvSpPr>
          <p:cNvPr id="127" name="Google Shape;127;g39265c46135_2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9265c46135_2_1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9265c46135_2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381000" rtl="0" algn="l">
              <a:lnSpc>
                <a:spcPct val="115000"/>
              </a:lnSpc>
              <a:spcBef>
                <a:spcPts val="1200"/>
              </a:spcBef>
              <a:spcAft>
                <a:spcPts val="0"/>
              </a:spcAft>
              <a:buNone/>
            </a:pPr>
            <a:r>
              <a:rPr lang="en-US">
                <a:solidFill>
                  <a:schemeClr val="dk1"/>
                </a:solidFill>
              </a:rPr>
              <a:t>However, this </a:t>
            </a:r>
            <a:r>
              <a:rPr b="1" lang="en-US">
                <a:solidFill>
                  <a:schemeClr val="dk1"/>
                </a:solidFill>
              </a:rPr>
              <a:t>growing use of AI</a:t>
            </a:r>
            <a:r>
              <a:rPr lang="en-US">
                <a:solidFill>
                  <a:schemeClr val="dk1"/>
                </a:solidFill>
              </a:rPr>
              <a:t> brings a major challenge: The Black Box Problem.</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rPr lang="en-US">
                <a:solidFill>
                  <a:schemeClr val="dk1"/>
                </a:solidFill>
              </a:rPr>
              <a:t>While we can see the </a:t>
            </a:r>
            <a:r>
              <a:rPr b="1" lang="en-US">
                <a:solidFill>
                  <a:schemeClr val="dk1"/>
                </a:solidFill>
              </a:rPr>
              <a:t>input</a:t>
            </a:r>
            <a:r>
              <a:rPr lang="en-US">
                <a:solidFill>
                  <a:schemeClr val="dk1"/>
                </a:solidFill>
              </a:rPr>
              <a:t> and the </a:t>
            </a:r>
            <a:r>
              <a:rPr b="1" lang="en-US">
                <a:solidFill>
                  <a:schemeClr val="dk1"/>
                </a:solidFill>
              </a:rPr>
              <a:t>output</a:t>
            </a:r>
            <a:r>
              <a:rPr lang="en-US">
                <a:solidFill>
                  <a:schemeClr val="dk1"/>
                </a:solidFill>
              </a:rPr>
              <a:t>, the internal decision-making logic remains hidden inside a 'black box'.</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rPr lang="en-US">
                <a:solidFill>
                  <a:schemeClr val="dk1"/>
                </a:solidFill>
              </a:rPr>
              <a:t>As a result, users cannot understand </a:t>
            </a:r>
            <a:r>
              <a:rPr i="1" lang="en-US">
                <a:solidFill>
                  <a:schemeClr val="dk1"/>
                </a:solidFill>
              </a:rPr>
              <a:t>how</a:t>
            </a:r>
            <a:r>
              <a:rPr lang="en-US">
                <a:solidFill>
                  <a:schemeClr val="dk1"/>
                </a:solidFill>
              </a:rPr>
              <a:t> decisions are reached, and this directly affects their </a:t>
            </a:r>
            <a:r>
              <a:rPr b="1" lang="en-US">
                <a:solidFill>
                  <a:schemeClr val="dk1"/>
                </a:solidFill>
              </a:rPr>
              <a:t>trust</a:t>
            </a:r>
            <a:r>
              <a:rPr lang="en-US">
                <a:solidFill>
                  <a:schemeClr val="dk1"/>
                </a:solidFill>
              </a:rPr>
              <a:t> in the system.</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9265c46135_2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381000" rtl="0" algn="l">
              <a:lnSpc>
                <a:spcPct val="115000"/>
              </a:lnSpc>
              <a:spcBef>
                <a:spcPts val="1200"/>
              </a:spcBef>
              <a:spcAft>
                <a:spcPts val="0"/>
              </a:spcAft>
              <a:buNone/>
            </a:pPr>
            <a:r>
              <a:rPr lang="en-US">
                <a:solidFill>
                  <a:schemeClr val="dk1"/>
                </a:solidFill>
              </a:rPr>
              <a:t>AI's impact on decision-making varies across domains with different risk levels, and each one presents unique challenges.</a:t>
            </a:r>
            <a:endParaRPr>
              <a:solidFill>
                <a:schemeClr val="dk1"/>
              </a:solidFill>
            </a:endParaRPr>
          </a:p>
          <a:p>
            <a:pPr indent="0" lvl="0" marL="0" marR="381000" rtl="0" algn="l">
              <a:lnSpc>
                <a:spcPct val="115000"/>
              </a:lnSpc>
              <a:spcBef>
                <a:spcPts val="1200"/>
              </a:spcBef>
              <a:spcAft>
                <a:spcPts val="0"/>
              </a:spcAft>
              <a:buNone/>
            </a:pPr>
            <a:r>
              <a:rPr lang="en-US">
                <a:solidFill>
                  <a:schemeClr val="dk1"/>
                </a:solidFill>
              </a:rPr>
              <a:t>In this research, we define these risk levels as follows:</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rPr lang="en-US">
                <a:solidFill>
                  <a:schemeClr val="dk1"/>
                </a:solidFill>
              </a:rPr>
              <a:t>High Risk: Decisions with life-altering consequences.  Medium Risk: Decisions that influence livelihood but are not dangerous. Low Risk: Decisions with limited impact on personal well-being.</a:t>
            </a:r>
            <a:endParaRPr>
              <a:solidFill>
                <a:schemeClr val="dk1"/>
              </a:solidFill>
            </a:endParaRPr>
          </a:p>
          <a:p>
            <a:pPr indent="0" lvl="0" marL="0" rtl="0" algn="l">
              <a:spcBef>
                <a:spcPts val="1200"/>
              </a:spcBef>
              <a:spcAft>
                <a:spcPts val="0"/>
              </a:spcAft>
              <a:buNone/>
            </a:pPr>
            <a:r>
              <a:t/>
            </a:r>
            <a:endParaRPr/>
          </a:p>
        </p:txBody>
      </p:sp>
      <p:sp>
        <p:nvSpPr>
          <p:cNvPr id="148" name="Google Shape;148;g39265c46135_2_1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b8af369fb9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381000" rtl="0" algn="l">
              <a:lnSpc>
                <a:spcPct val="115000"/>
              </a:lnSpc>
              <a:spcBef>
                <a:spcPts val="1200"/>
              </a:spcBef>
              <a:spcAft>
                <a:spcPts val="1200"/>
              </a:spcAft>
              <a:buNone/>
            </a:pPr>
            <a:r>
              <a:rPr lang="en-US">
                <a:solidFill>
                  <a:schemeClr val="dk1"/>
                </a:solidFill>
              </a:rPr>
              <a:t>This leads us to a key point: </a:t>
            </a:r>
            <a:r>
              <a:rPr b="1" lang="en-US">
                <a:solidFill>
                  <a:schemeClr val="dk1"/>
                </a:solidFill>
              </a:rPr>
              <a:t>Context matters</a:t>
            </a:r>
            <a:r>
              <a:rPr lang="en-US">
                <a:solidFill>
                  <a:schemeClr val="dk1"/>
                </a:solidFill>
              </a:rPr>
              <a:t>. An error in one field is </a:t>
            </a:r>
            <a:r>
              <a:rPr b="1" lang="en-US">
                <a:solidFill>
                  <a:schemeClr val="dk1"/>
                </a:solidFill>
              </a:rPr>
              <a:t>not the same</a:t>
            </a:r>
            <a:r>
              <a:rPr lang="en-US">
                <a:solidFill>
                  <a:schemeClr val="dk1"/>
                </a:solidFill>
              </a:rPr>
              <a:t> as an error in another field. The consequences can be very different. </a:t>
            </a:r>
            <a:r>
              <a:rPr b="1" lang="en-US">
                <a:solidFill>
                  <a:schemeClr val="dk1"/>
                </a:solidFill>
              </a:rPr>
              <a:t>Therefore, different risk levels require different levels of trust.</a:t>
            </a:r>
            <a:endParaRPr>
              <a:solidFill>
                <a:schemeClr val="dk1"/>
              </a:solidFill>
            </a:endParaRPr>
          </a:p>
        </p:txBody>
      </p:sp>
      <p:sp>
        <p:nvSpPr>
          <p:cNvPr id="164" name="Google Shape;164;g3b8af369fb9_0_9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b8af369fb9_0_5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b8af369fb9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8-14 adan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b8af369fb9_0_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b8af369fb9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9265c46135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g39265c46135_0_2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9272deacb3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g39272deacb3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9265c46135_0_3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9265c46135_0_3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9265c46135_2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g39265c46135_2_20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9265c46135_2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g39265c46135_2_2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9265c46135_2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US">
                <a:solidFill>
                  <a:schemeClr val="dk1"/>
                </a:solidFill>
              </a:rPr>
              <a:t>The </a:t>
            </a:r>
            <a:r>
              <a:rPr b="1" lang="en-US">
                <a:solidFill>
                  <a:schemeClr val="dk1"/>
                </a:solidFill>
              </a:rPr>
              <a:t>Research Flow</a:t>
            </a:r>
            <a:r>
              <a:rPr lang="en-US">
                <a:solidFill>
                  <a:schemeClr val="dk1"/>
                </a:solidFill>
              </a:rPr>
              <a:t> consists of four main steps:</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1. </a:t>
            </a:r>
            <a:r>
              <a:rPr b="1" lang="en-US">
                <a:solidFill>
                  <a:schemeClr val="dk1"/>
                </a:solidFill>
              </a:rPr>
              <a:t>First</a:t>
            </a:r>
            <a:r>
              <a:rPr lang="en-US">
                <a:solidFill>
                  <a:schemeClr val="dk1"/>
                </a:solidFill>
              </a:rPr>
              <a:t>, the system presents the </a:t>
            </a:r>
            <a:r>
              <a:rPr lang="en-US">
                <a:solidFill>
                  <a:schemeClr val="dk1"/>
                </a:solidFill>
              </a:rPr>
              <a:t>explanations</a:t>
            </a:r>
            <a:r>
              <a:rPr lang="en-US">
                <a:solidFill>
                  <a:schemeClr val="dk1"/>
                </a:solidFill>
              </a:rPr>
              <a:t> for a specific domain and the AI's </a:t>
            </a:r>
            <a:r>
              <a:rPr b="1" lang="en-US">
                <a:solidFill>
                  <a:schemeClr val="dk1"/>
                </a:solidFill>
              </a:rPr>
              <a:t>prediction</a:t>
            </a:r>
            <a:r>
              <a:rPr lang="en-US">
                <a:solidFill>
                  <a:schemeClr val="dk1"/>
                </a:solidFill>
              </a:rPr>
              <a:t>.</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2. </a:t>
            </a:r>
            <a:r>
              <a:rPr b="1" lang="en-US">
                <a:solidFill>
                  <a:schemeClr val="dk1"/>
                </a:solidFill>
              </a:rPr>
              <a:t>Second</a:t>
            </a:r>
            <a:r>
              <a:rPr lang="en-US">
                <a:solidFill>
                  <a:schemeClr val="dk1"/>
                </a:solidFill>
              </a:rPr>
              <a:t>, the user reviews the explanations generated by SHAP, LIME, and DICE. </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3. </a:t>
            </a:r>
            <a:r>
              <a:rPr b="1" lang="en-US">
                <a:solidFill>
                  <a:schemeClr val="dk1"/>
                </a:solidFill>
              </a:rPr>
              <a:t>Third</a:t>
            </a:r>
            <a:r>
              <a:rPr lang="en-US">
                <a:solidFill>
                  <a:schemeClr val="dk1"/>
                </a:solidFill>
              </a:rPr>
              <a:t>, the user rates the </a:t>
            </a:r>
            <a:r>
              <a:rPr b="1" lang="en-US">
                <a:solidFill>
                  <a:schemeClr val="dk1"/>
                </a:solidFill>
              </a:rPr>
              <a:t>Trust</a:t>
            </a:r>
            <a:r>
              <a:rPr lang="en-US">
                <a:solidFill>
                  <a:schemeClr val="dk1"/>
                </a:solidFill>
              </a:rPr>
              <a:t> and </a:t>
            </a:r>
            <a:r>
              <a:rPr b="1" lang="en-US">
                <a:solidFill>
                  <a:schemeClr val="dk1"/>
                </a:solidFill>
              </a:rPr>
              <a:t>Clarity</a:t>
            </a:r>
            <a:r>
              <a:rPr lang="en-US">
                <a:solidFill>
                  <a:schemeClr val="dk1"/>
                </a:solidFill>
              </a:rPr>
              <a:t> of the explanations using our questionnaires. </a:t>
            </a:r>
            <a:endParaRPr>
              <a:solidFill>
                <a:schemeClr val="dk1"/>
              </a:solidFill>
            </a:endParaRPr>
          </a:p>
          <a:p>
            <a:pPr indent="0" lvl="0" marL="0" rtl="0" algn="l">
              <a:lnSpc>
                <a:spcPct val="115000"/>
              </a:lnSpc>
              <a:spcBef>
                <a:spcPts val="1200"/>
              </a:spcBef>
              <a:spcAft>
                <a:spcPts val="1200"/>
              </a:spcAft>
              <a:buNone/>
            </a:pPr>
            <a:r>
              <a:rPr lang="en-US">
                <a:solidFill>
                  <a:schemeClr val="dk1"/>
                </a:solidFill>
              </a:rPr>
              <a:t>4. </a:t>
            </a:r>
            <a:r>
              <a:rPr b="1" lang="en-US">
                <a:solidFill>
                  <a:schemeClr val="dk1"/>
                </a:solidFill>
              </a:rPr>
              <a:t>Finally</a:t>
            </a:r>
            <a:r>
              <a:rPr lang="en-US">
                <a:solidFill>
                  <a:schemeClr val="dk1"/>
                </a:solidFill>
              </a:rPr>
              <a:t>, the system saves the feedback, and the user moves on to the next domain.</a:t>
            </a:r>
            <a:endParaRPr/>
          </a:p>
        </p:txBody>
      </p:sp>
      <p:sp>
        <p:nvSpPr>
          <p:cNvPr id="284" name="Google Shape;284;g39265c46135_2_2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US">
                <a:solidFill>
                  <a:schemeClr val="dk1"/>
                </a:solidFill>
              </a:rPr>
              <a:t>The research logic is divided into two phases: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First, the </a:t>
            </a:r>
            <a:r>
              <a:rPr b="1" lang="en-US">
                <a:solidFill>
                  <a:schemeClr val="dk1"/>
                </a:solidFill>
              </a:rPr>
              <a:t>Offline Phase</a:t>
            </a:r>
            <a:r>
              <a:rPr lang="en-US">
                <a:solidFill>
                  <a:schemeClr val="dk1"/>
                </a:solidFill>
              </a:rPr>
              <a:t>: This happens beforehand. We train the models and pre-generate all the explanations – SHAP, LIME, and DiCE – and store them in our database.</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Second, the </a:t>
            </a:r>
            <a:r>
              <a:rPr b="1" lang="en-US">
                <a:solidFill>
                  <a:schemeClr val="dk1"/>
                </a:solidFill>
              </a:rPr>
              <a:t>Online Phase</a:t>
            </a:r>
            <a:r>
              <a:rPr lang="en-US">
                <a:solidFill>
                  <a:schemeClr val="dk1"/>
                </a:solidFill>
              </a:rPr>
              <a:t>: This happens in real-time during the experiment. The system retrieves a prepared scenario, shows it to the user, and then the user fills out the evaluation questionnaire.</a:t>
            </a:r>
            <a:endParaRPr>
              <a:solidFill>
                <a:schemeClr val="dk1"/>
              </a:solidFill>
            </a:endParaRPr>
          </a:p>
          <a:p>
            <a:pPr indent="0" lvl="0" marL="0" rtl="0" algn="l">
              <a:spcBef>
                <a:spcPts val="1200"/>
              </a:spcBef>
              <a:spcAft>
                <a:spcPts val="0"/>
              </a:spcAft>
              <a:buNone/>
            </a:pPr>
            <a:r>
              <a:t/>
            </a:r>
            <a:endParaRPr/>
          </a:p>
        </p:txBody>
      </p:sp>
      <p:sp>
        <p:nvSpPr>
          <p:cNvPr id="303" name="Google Shape;30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9265c46135_2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Let's look at our GUI.</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At the top, you can see the </a:t>
            </a:r>
            <a:r>
              <a:rPr b="1" lang="en-US">
                <a:solidFill>
                  <a:schemeClr val="dk1"/>
                </a:solidFill>
              </a:rPr>
              <a:t>AI's prediction</a:t>
            </a:r>
            <a:r>
              <a:rPr lang="en-US">
                <a:solidFill>
                  <a:schemeClr val="dk1"/>
                </a:solidFill>
              </a:rPr>
              <a:t>. Below it, we present the three explanations – SHAP, LIME, and DiCE – </a:t>
            </a:r>
            <a:r>
              <a:rPr b="1" lang="en-US">
                <a:solidFill>
                  <a:schemeClr val="dk1"/>
                </a:solidFill>
              </a:rPr>
              <a:t>side-by-side</a:t>
            </a:r>
            <a:r>
              <a:rPr lang="en-US">
                <a:solidFill>
                  <a:schemeClr val="dk1"/>
                </a:solidFill>
              </a:rPr>
              <a:t>. </a:t>
            </a:r>
            <a:endParaRPr>
              <a:solidFill>
                <a:schemeClr val="dk1"/>
              </a:solidFill>
            </a:endParaRPr>
          </a:p>
          <a:p>
            <a:pPr indent="0" lvl="0" marL="0" rtl="0" algn="l">
              <a:lnSpc>
                <a:spcPct val="115000"/>
              </a:lnSpc>
              <a:spcBef>
                <a:spcPts val="1200"/>
              </a:spcBef>
              <a:spcAft>
                <a:spcPts val="1200"/>
              </a:spcAft>
              <a:buNone/>
            </a:pPr>
            <a:r>
              <a:rPr lang="en-US">
                <a:solidFill>
                  <a:schemeClr val="dk1"/>
                </a:solidFill>
              </a:rPr>
              <a:t>This allows the user to easily </a:t>
            </a:r>
            <a:r>
              <a:rPr b="1" lang="en-US">
                <a:solidFill>
                  <a:schemeClr val="dk1"/>
                </a:solidFill>
              </a:rPr>
              <a:t>compare</a:t>
            </a:r>
            <a:r>
              <a:rPr lang="en-US">
                <a:solidFill>
                  <a:schemeClr val="dk1"/>
                </a:solidFill>
              </a:rPr>
              <a:t> the insights. Finally, at the bottom, there is a section for user </a:t>
            </a:r>
            <a:r>
              <a:rPr b="1" lang="en-US">
                <a:solidFill>
                  <a:schemeClr val="dk1"/>
                </a:solidFill>
              </a:rPr>
              <a:t>feedback</a:t>
            </a:r>
            <a:r>
              <a:rPr lang="en-US">
                <a:solidFill>
                  <a:schemeClr val="dk1"/>
                </a:solidFill>
              </a:rPr>
              <a:t> and evaluation.</a:t>
            </a:r>
            <a:endParaRPr/>
          </a:p>
        </p:txBody>
      </p:sp>
      <p:sp>
        <p:nvSpPr>
          <p:cNvPr id="316" name="Google Shape;316;g39265c46135_2_2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9265c46135_2_3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Clr>
                <a:schemeClr val="dk1"/>
              </a:buClr>
              <a:buSzPts val="1100"/>
              <a:buFont typeface="Arial"/>
              <a:buNone/>
            </a:pPr>
            <a:r>
              <a:rPr lang="en-US">
                <a:solidFill>
                  <a:schemeClr val="dk1"/>
                </a:solidFill>
              </a:rPr>
              <a:t>During Phase A of the project, we faced two main challenges: First, we had to </a:t>
            </a:r>
            <a:r>
              <a:rPr b="1" lang="en-US">
                <a:solidFill>
                  <a:schemeClr val="dk1"/>
                </a:solidFill>
              </a:rPr>
              <a:t>carefully select datasets</a:t>
            </a:r>
            <a:r>
              <a:rPr lang="en-US">
                <a:solidFill>
                  <a:schemeClr val="dk1"/>
                </a:solidFill>
              </a:rPr>
              <a:t> that accurately reflected the different risk levels we defined. Second, we put a lot of effort into maintaining a </a:t>
            </a:r>
            <a:r>
              <a:rPr b="1" lang="en-US">
                <a:solidFill>
                  <a:schemeClr val="dk1"/>
                </a:solidFill>
              </a:rPr>
              <a:t>clear and well-structured report</a:t>
            </a:r>
            <a:r>
              <a:rPr lang="en-US">
                <a:solidFill>
                  <a:schemeClr val="dk1"/>
                </a:solidFill>
              </a:rPr>
              <a:t>.</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b="1" lang="en-US">
                <a:solidFill>
                  <a:schemeClr val="dk1"/>
                </a:solidFill>
              </a:rPr>
              <a:t>Looking ahead to Phase B</a:t>
            </a:r>
            <a:r>
              <a:rPr lang="en-US">
                <a:solidFill>
                  <a:schemeClr val="dk1"/>
                </a:solidFill>
              </a:rPr>
              <a:t>, we anticipate two new challenges:</a:t>
            </a:r>
            <a:endParaRPr>
              <a:solidFill>
                <a:schemeClr val="dk1"/>
              </a:solidFill>
            </a:endParaRPr>
          </a:p>
          <a:p>
            <a:pPr indent="-298450" lvl="0" marL="838200" marR="381000" rtl="0" algn="l">
              <a:lnSpc>
                <a:spcPct val="115000"/>
              </a:lnSpc>
              <a:spcBef>
                <a:spcPts val="1200"/>
              </a:spcBef>
              <a:spcAft>
                <a:spcPts val="0"/>
              </a:spcAft>
              <a:buClr>
                <a:schemeClr val="dk1"/>
              </a:buClr>
              <a:buSzPts val="1100"/>
              <a:buAutoNum type="arabicPeriod"/>
            </a:pPr>
            <a:r>
              <a:rPr b="1" lang="en-US">
                <a:solidFill>
                  <a:schemeClr val="dk1"/>
                </a:solidFill>
              </a:rPr>
              <a:t>Recruiting enough participants</a:t>
            </a:r>
            <a:r>
              <a:rPr lang="en-US">
                <a:solidFill>
                  <a:schemeClr val="dk1"/>
                </a:solidFill>
              </a:rPr>
              <a:t> for the user study.</a:t>
            </a:r>
            <a:endParaRPr>
              <a:solidFill>
                <a:schemeClr val="dk1"/>
              </a:solidFill>
            </a:endParaRPr>
          </a:p>
          <a:p>
            <a:pPr indent="-298450" lvl="0" marL="838200" marR="381000" rtl="0" algn="l">
              <a:lnSpc>
                <a:spcPct val="115000"/>
              </a:lnSpc>
              <a:spcBef>
                <a:spcPts val="0"/>
              </a:spcBef>
              <a:spcAft>
                <a:spcPts val="0"/>
              </a:spcAft>
              <a:buClr>
                <a:schemeClr val="dk1"/>
              </a:buClr>
              <a:buSzPts val="1100"/>
              <a:buAutoNum type="arabicPeriod"/>
            </a:pPr>
            <a:r>
              <a:rPr lang="en-US">
                <a:solidFill>
                  <a:schemeClr val="dk1"/>
                </a:solidFill>
              </a:rPr>
              <a:t>And </a:t>
            </a:r>
            <a:r>
              <a:rPr b="1" lang="en-US">
                <a:solidFill>
                  <a:schemeClr val="dk1"/>
                </a:solidFill>
              </a:rPr>
              <a:t>Ensuring the the models </a:t>
            </a:r>
            <a:r>
              <a:rPr b="1" lang="en-US">
                <a:solidFill>
                  <a:schemeClr val="dk1"/>
                </a:solidFill>
              </a:rPr>
              <a:t>generate</a:t>
            </a:r>
            <a:r>
              <a:rPr b="1" lang="en-US">
                <a:solidFill>
                  <a:schemeClr val="dk1"/>
                </a:solidFill>
              </a:rPr>
              <a:t> meaningful and clear </a:t>
            </a:r>
            <a:r>
              <a:rPr b="1" lang="en-US">
                <a:solidFill>
                  <a:schemeClr val="dk1"/>
                </a:solidFill>
              </a:rPr>
              <a:t>explanations</a:t>
            </a:r>
            <a:r>
              <a:rPr b="1" lang="en-US">
                <a:solidFill>
                  <a:schemeClr val="dk1"/>
                </a:solidFill>
              </a:rPr>
              <a:t>.</a:t>
            </a:r>
            <a:endParaRPr>
              <a:solidFill>
                <a:schemeClr val="dk1"/>
              </a:solidFill>
            </a:endParaRPr>
          </a:p>
          <a:p>
            <a:pPr indent="0" lvl="0" marL="0" rtl="0" algn="l">
              <a:spcBef>
                <a:spcPts val="1200"/>
              </a:spcBef>
              <a:spcAft>
                <a:spcPts val="0"/>
              </a:spcAft>
              <a:buNone/>
            </a:pPr>
            <a:r>
              <a:t/>
            </a:r>
            <a:endParaRPr>
              <a:solidFill>
                <a:schemeClr val="dk1"/>
              </a:solidFill>
            </a:endParaRPr>
          </a:p>
        </p:txBody>
      </p:sp>
      <p:sp>
        <p:nvSpPr>
          <p:cNvPr id="323" name="Google Shape;323;g39265c46135_2_3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9265c46135_17_1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39265c46135_17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381000" rtl="0" algn="l">
              <a:lnSpc>
                <a:spcPct val="115000"/>
              </a:lnSpc>
              <a:spcBef>
                <a:spcPts val="1200"/>
              </a:spcBef>
              <a:spcAft>
                <a:spcPts val="0"/>
              </a:spcAft>
              <a:buClr>
                <a:schemeClr val="dk1"/>
              </a:buClr>
              <a:buSzPts val="1100"/>
              <a:buFont typeface="Arial"/>
              <a:buNone/>
            </a:pPr>
            <a:r>
              <a:rPr lang="en-US">
                <a:solidFill>
                  <a:schemeClr val="dk1"/>
                </a:solidFill>
              </a:rPr>
              <a:t>Now, let's move on to our </a:t>
            </a:r>
            <a:r>
              <a:rPr b="1" lang="en-US">
                <a:solidFill>
                  <a:schemeClr val="dk1"/>
                </a:solidFill>
              </a:rPr>
              <a:t>Evaluation Plan</a:t>
            </a:r>
            <a:r>
              <a:rPr lang="en-US">
                <a:solidFill>
                  <a:schemeClr val="dk1"/>
                </a:solidFill>
              </a:rPr>
              <a:t>. In this section, we will explain how we measure user trust and the quality of the explanations.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9272deacb3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381000" rtl="0" algn="l">
              <a:lnSpc>
                <a:spcPct val="115000"/>
              </a:lnSpc>
              <a:spcBef>
                <a:spcPts val="1200"/>
              </a:spcBef>
              <a:spcAft>
                <a:spcPts val="0"/>
              </a:spcAft>
              <a:buNone/>
            </a:pPr>
            <a:r>
              <a:rPr lang="en-US">
                <a:solidFill>
                  <a:schemeClr val="dk1"/>
                </a:solidFill>
              </a:rPr>
              <a:t>The first tool we used is the </a:t>
            </a:r>
            <a:r>
              <a:rPr b="1" lang="en-US">
                <a:solidFill>
                  <a:schemeClr val="dk1"/>
                </a:solidFill>
              </a:rPr>
              <a:t>System Causability Scale</a:t>
            </a:r>
            <a:r>
              <a:rPr lang="en-US">
                <a:solidFill>
                  <a:schemeClr val="dk1"/>
                </a:solidFill>
              </a:rPr>
              <a:t>, or SCS. </a:t>
            </a:r>
            <a:endParaRPr>
              <a:solidFill>
                <a:schemeClr val="dk1"/>
              </a:solidFill>
            </a:endParaRPr>
          </a:p>
          <a:p>
            <a:pPr indent="0" lvl="0" marL="0" marR="381000" rtl="0" algn="l">
              <a:lnSpc>
                <a:spcPct val="115000"/>
              </a:lnSpc>
              <a:spcBef>
                <a:spcPts val="1200"/>
              </a:spcBef>
              <a:spcAft>
                <a:spcPts val="0"/>
              </a:spcAft>
              <a:buNone/>
            </a:pPr>
            <a:r>
              <a:rPr lang="en-US">
                <a:solidFill>
                  <a:schemeClr val="dk1"/>
                </a:solidFill>
              </a:rPr>
              <a:t>This scale measures if the explanation actually helps the user understand the </a:t>
            </a:r>
            <a:r>
              <a:rPr b="1" lang="en-US">
                <a:solidFill>
                  <a:schemeClr val="dk1"/>
                </a:solidFill>
              </a:rPr>
              <a:t>cause</a:t>
            </a:r>
            <a:r>
              <a:rPr lang="en-US">
                <a:solidFill>
                  <a:schemeClr val="dk1"/>
                </a:solidFill>
              </a:rPr>
              <a:t> of the AI's decision. We will ask participants to rate statements on a scale from 1 to 5, we chose to focus on six factors.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for example:</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a:solidFill>
                  <a:schemeClr val="dk1"/>
                </a:solidFill>
              </a:rPr>
              <a:t>Causal Factors</a:t>
            </a:r>
            <a:r>
              <a:rPr lang="en-US">
                <a:solidFill>
                  <a:schemeClr val="dk1"/>
                </a:solidFill>
              </a:rPr>
              <a:t>: to check if the data was detailed enough.</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a:solidFill>
                  <a:schemeClr val="dk1"/>
                </a:solidFill>
              </a:rPr>
              <a:t>Context</a:t>
            </a:r>
            <a:r>
              <a:rPr lang="en-US">
                <a:solidFill>
                  <a:schemeClr val="dk1"/>
                </a:solidFill>
              </a:rPr>
              <a:t>: to ensure the explanation made sense within the specific domain.</a:t>
            </a:r>
            <a:br>
              <a:rPr lang="en-US">
                <a:solidFill>
                  <a:schemeClr val="dk1"/>
                </a:solidFill>
              </a:rPr>
            </a:br>
            <a:endParaRPr>
              <a:solidFill>
                <a:schemeClr val="dk1"/>
              </a:solidFill>
            </a:endParaRPr>
          </a:p>
          <a:p>
            <a:pPr indent="0" lvl="0" marL="0" rtl="0" algn="l">
              <a:lnSpc>
                <a:spcPct val="115000"/>
              </a:lnSpc>
              <a:spcBef>
                <a:spcPts val="1200"/>
              </a:spcBef>
              <a:spcAft>
                <a:spcPts val="0"/>
              </a:spcAft>
              <a:buNone/>
            </a:pPr>
            <a:r>
              <a:rPr lang="en-US">
                <a:solidFill>
                  <a:schemeClr val="dk1"/>
                </a:solidFill>
              </a:rPr>
              <a:t>The </a:t>
            </a:r>
            <a:r>
              <a:rPr lang="en-US">
                <a:solidFill>
                  <a:schemeClr val="dk1"/>
                </a:solidFill>
              </a:rPr>
              <a:t>other</a:t>
            </a:r>
            <a:r>
              <a:rPr lang="en-US">
                <a:solidFill>
                  <a:schemeClr val="dk1"/>
                </a:solidFill>
              </a:rPr>
              <a:t> factors are </a:t>
            </a:r>
            <a:r>
              <a:rPr lang="en-US">
                <a:solidFill>
                  <a:schemeClr val="dk1"/>
                </a:solidFill>
              </a:rPr>
              <a:t>casualty</a:t>
            </a:r>
            <a:r>
              <a:rPr lang="en-US">
                <a:solidFill>
                  <a:schemeClr val="dk1"/>
                </a:solidFill>
              </a:rPr>
              <a:t> support learnability and efficency</a:t>
            </a:r>
            <a:endParaRPr>
              <a:solidFill>
                <a:schemeClr val="dk1"/>
              </a:solidFill>
            </a:endParaRPr>
          </a:p>
          <a:p>
            <a:pPr indent="0" lvl="0" marL="0" marR="381000" rtl="0" algn="l">
              <a:lnSpc>
                <a:spcPct val="115000"/>
              </a:lnSpc>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0"/>
              </a:spcAft>
              <a:buNone/>
            </a:pPr>
            <a:br>
              <a:rPr lang="en-US">
                <a:solidFill>
                  <a:schemeClr val="dk1"/>
                </a:solidFill>
              </a:rPr>
            </a:br>
            <a:r>
              <a:rPr lang="en-US">
                <a:solidFill>
                  <a:schemeClr val="dk1"/>
                </a:solidFill>
              </a:rPr>
              <a:t>1. </a:t>
            </a:r>
            <a:r>
              <a:rPr b="1" lang="en-US">
                <a:solidFill>
                  <a:schemeClr val="dk1"/>
                </a:solidFill>
              </a:rPr>
              <a:t>Causal Factors</a:t>
            </a:r>
            <a:r>
              <a:rPr lang="en-US">
                <a:solidFill>
                  <a:schemeClr val="dk1"/>
                </a:solidFill>
              </a:rPr>
              <a:t>: We wanted to check if the users felt the data was </a:t>
            </a:r>
            <a:r>
              <a:rPr b="1" lang="en-US">
                <a:solidFill>
                  <a:schemeClr val="dk1"/>
                </a:solidFill>
              </a:rPr>
              <a:t>detailed enough</a:t>
            </a:r>
            <a:r>
              <a:rPr lang="en-US">
                <a:solidFill>
                  <a:schemeClr val="dk1"/>
                </a:solidFill>
              </a:rPr>
              <a:t>. </a:t>
            </a:r>
            <a:endParaRPr>
              <a:solidFill>
                <a:schemeClr val="dk1"/>
              </a:solidFill>
            </a:endParaRPr>
          </a:p>
          <a:p>
            <a:pPr indent="0" lvl="0" marL="0" marR="381000" rtl="0" algn="l">
              <a:lnSpc>
                <a:spcPct val="115000"/>
              </a:lnSpc>
              <a:spcBef>
                <a:spcPts val="1200"/>
              </a:spcBef>
              <a:spcAft>
                <a:spcPts val="0"/>
              </a:spcAft>
              <a:buNone/>
            </a:pPr>
            <a:r>
              <a:rPr lang="en-US">
                <a:solidFill>
                  <a:schemeClr val="dk1"/>
                </a:solidFill>
              </a:rPr>
              <a:t>2. </a:t>
            </a:r>
            <a:r>
              <a:rPr b="1" lang="en-US">
                <a:solidFill>
                  <a:schemeClr val="dk1"/>
                </a:solidFill>
              </a:rPr>
              <a:t>Causality</a:t>
            </a:r>
            <a:r>
              <a:rPr lang="en-US">
                <a:solidFill>
                  <a:schemeClr val="dk1"/>
                </a:solidFill>
              </a:rPr>
              <a:t>: did the explanation actually show the </a:t>
            </a:r>
            <a:r>
              <a:rPr b="1" lang="en-US">
                <a:solidFill>
                  <a:schemeClr val="dk1"/>
                </a:solidFill>
              </a:rPr>
              <a:t>cause-and-effect</a:t>
            </a:r>
            <a:r>
              <a:rPr lang="en-US">
                <a:solidFill>
                  <a:schemeClr val="dk1"/>
                </a:solidFill>
              </a:rPr>
              <a:t>? </a:t>
            </a:r>
            <a:endParaRPr>
              <a:solidFill>
                <a:schemeClr val="dk1"/>
              </a:solidFill>
            </a:endParaRPr>
          </a:p>
          <a:p>
            <a:pPr indent="0" lvl="0" marL="0" marR="381000" rtl="0" algn="l">
              <a:lnSpc>
                <a:spcPct val="115000"/>
              </a:lnSpc>
              <a:spcBef>
                <a:spcPts val="1200"/>
              </a:spcBef>
              <a:spcAft>
                <a:spcPts val="0"/>
              </a:spcAft>
              <a:buNone/>
            </a:pPr>
            <a:r>
              <a:rPr lang="en-US">
                <a:solidFill>
                  <a:schemeClr val="dk1"/>
                </a:solidFill>
              </a:rPr>
              <a:t>3. </a:t>
            </a:r>
            <a:r>
              <a:rPr b="1" lang="en-US">
                <a:solidFill>
                  <a:schemeClr val="dk1"/>
                </a:solidFill>
              </a:rPr>
              <a:t>Context</a:t>
            </a:r>
            <a:r>
              <a:rPr lang="en-US">
                <a:solidFill>
                  <a:schemeClr val="dk1"/>
                </a:solidFill>
              </a:rPr>
              <a:t>: We needed to know if the explanation makes sense </a:t>
            </a:r>
            <a:r>
              <a:rPr b="1" lang="en-US">
                <a:solidFill>
                  <a:schemeClr val="dk1"/>
                </a:solidFill>
              </a:rPr>
              <a:t>within the specific domain</a:t>
            </a:r>
            <a:r>
              <a:rPr lang="en-US">
                <a:solidFill>
                  <a:schemeClr val="dk1"/>
                </a:solidFill>
              </a:rPr>
              <a:t>, like healthcare or HR. </a:t>
            </a:r>
            <a:endParaRPr>
              <a:solidFill>
                <a:schemeClr val="dk1"/>
              </a:solidFill>
            </a:endParaRPr>
          </a:p>
          <a:p>
            <a:pPr indent="0" lvl="0" marL="0" marR="381000" rtl="0" algn="l">
              <a:lnSpc>
                <a:spcPct val="115000"/>
              </a:lnSpc>
              <a:spcBef>
                <a:spcPts val="1200"/>
              </a:spcBef>
              <a:spcAft>
                <a:spcPts val="0"/>
              </a:spcAft>
              <a:buNone/>
            </a:pPr>
            <a:r>
              <a:rPr lang="en-US">
                <a:solidFill>
                  <a:schemeClr val="dk1"/>
                </a:solidFill>
              </a:rPr>
              <a:t>4. </a:t>
            </a:r>
            <a:r>
              <a:rPr b="1" lang="en-US">
                <a:solidFill>
                  <a:schemeClr val="dk1"/>
                </a:solidFill>
              </a:rPr>
              <a:t>Support</a:t>
            </a:r>
            <a:r>
              <a:rPr lang="en-US">
                <a:solidFill>
                  <a:schemeClr val="dk1"/>
                </a:solidFill>
              </a:rPr>
              <a:t>:  checked if users could understand the </a:t>
            </a:r>
            <a:r>
              <a:rPr lang="en-US">
                <a:solidFill>
                  <a:schemeClr val="dk1"/>
                </a:solidFill>
              </a:rPr>
              <a:t>explanations</a:t>
            </a:r>
            <a:r>
              <a:rPr lang="en-US">
                <a:solidFill>
                  <a:schemeClr val="dk1"/>
                </a:solidFill>
              </a:rPr>
              <a:t> </a:t>
            </a:r>
            <a:r>
              <a:rPr b="1" lang="en-US">
                <a:solidFill>
                  <a:schemeClr val="dk1"/>
                </a:solidFill>
              </a:rPr>
              <a:t>without external help</a:t>
            </a:r>
            <a:r>
              <a:rPr lang="en-US">
                <a:solidFill>
                  <a:schemeClr val="dk1"/>
                </a:solidFill>
              </a:rPr>
              <a:t>.</a:t>
            </a:r>
            <a:endParaRPr>
              <a:solidFill>
                <a:schemeClr val="dk1"/>
              </a:solidFill>
            </a:endParaRPr>
          </a:p>
          <a:p>
            <a:pPr indent="0" lvl="0" marL="0" marR="381000" rtl="0" algn="l">
              <a:lnSpc>
                <a:spcPct val="115000"/>
              </a:lnSpc>
              <a:spcBef>
                <a:spcPts val="1200"/>
              </a:spcBef>
              <a:spcAft>
                <a:spcPts val="0"/>
              </a:spcAft>
              <a:buNone/>
            </a:pPr>
            <a:r>
              <a:rPr lang="en-US">
                <a:solidFill>
                  <a:schemeClr val="dk1"/>
                </a:solidFill>
              </a:rPr>
              <a:t> 5. </a:t>
            </a:r>
            <a:r>
              <a:rPr b="1" lang="en-US">
                <a:solidFill>
                  <a:schemeClr val="dk1"/>
                </a:solidFill>
              </a:rPr>
              <a:t>Learnability</a:t>
            </a:r>
            <a:r>
              <a:rPr lang="en-US">
                <a:solidFill>
                  <a:schemeClr val="dk1"/>
                </a:solidFill>
              </a:rPr>
              <a:t>: We asked if new users could understand the </a:t>
            </a:r>
            <a:r>
              <a:rPr lang="en-US">
                <a:solidFill>
                  <a:schemeClr val="dk1"/>
                </a:solidFill>
              </a:rPr>
              <a:t>explanations</a:t>
            </a:r>
            <a:r>
              <a:rPr lang="en-US">
                <a:solidFill>
                  <a:schemeClr val="dk1"/>
                </a:solidFill>
              </a:rPr>
              <a:t> </a:t>
            </a:r>
            <a:r>
              <a:rPr b="1" lang="en-US">
                <a:solidFill>
                  <a:schemeClr val="dk1"/>
                </a:solidFill>
              </a:rPr>
              <a:t>quickly</a:t>
            </a:r>
            <a:r>
              <a:rPr lang="en-US">
                <a:solidFill>
                  <a:schemeClr val="dk1"/>
                </a:solidFill>
              </a:rPr>
              <a:t>. </a:t>
            </a:r>
            <a:endParaRPr>
              <a:solidFill>
                <a:schemeClr val="dk1"/>
              </a:solidFill>
            </a:endParaRPr>
          </a:p>
          <a:p>
            <a:pPr indent="0" lvl="0" marL="0" marR="381000" rtl="0" algn="l">
              <a:lnSpc>
                <a:spcPct val="115000"/>
              </a:lnSpc>
              <a:spcBef>
                <a:spcPts val="1200"/>
              </a:spcBef>
              <a:spcAft>
                <a:spcPts val="1200"/>
              </a:spcAft>
              <a:buNone/>
            </a:pPr>
            <a:r>
              <a:rPr lang="en-US">
                <a:solidFill>
                  <a:schemeClr val="dk1"/>
                </a:solidFill>
              </a:rPr>
              <a:t>6. </a:t>
            </a:r>
            <a:r>
              <a:rPr b="1" lang="en-US">
                <a:solidFill>
                  <a:schemeClr val="dk1"/>
                </a:solidFill>
              </a:rPr>
              <a:t>Efficiency</a:t>
            </a:r>
            <a:r>
              <a:rPr lang="en-US">
                <a:solidFill>
                  <a:schemeClr val="dk1"/>
                </a:solidFill>
              </a:rPr>
              <a:t>: Finally, we wanted to ensure the explanation was understood in a </a:t>
            </a:r>
            <a:r>
              <a:rPr b="1" lang="en-US">
                <a:solidFill>
                  <a:schemeClr val="dk1"/>
                </a:solidFill>
              </a:rPr>
              <a:t>timely manner</a:t>
            </a:r>
            <a:r>
              <a:rPr lang="en-US">
                <a:solidFill>
                  <a:schemeClr val="dk1"/>
                </a:solidFill>
              </a:rPr>
              <a:t>.</a:t>
            </a:r>
            <a:endParaRPr/>
          </a:p>
        </p:txBody>
      </p:sp>
      <p:sp>
        <p:nvSpPr>
          <p:cNvPr id="347" name="Google Shape;347;g39272deacb3_0_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b8af369fb9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21-25 adan </a:t>
            </a:r>
            <a:endParaRPr/>
          </a:p>
          <a:p>
            <a:pPr indent="0" lvl="0" marL="0" rtl="0" algn="l">
              <a:spcBef>
                <a:spcPts val="0"/>
              </a:spcBef>
              <a:spcAft>
                <a:spcPts val="0"/>
              </a:spcAft>
              <a:buNone/>
            </a:pPr>
            <a:r>
              <a:t/>
            </a:r>
            <a:endParaRPr/>
          </a:p>
        </p:txBody>
      </p:sp>
      <p:sp>
        <p:nvSpPr>
          <p:cNvPr id="402" name="Google Shape;402;g3b8af369fb9_0_1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b8af369fb9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g3b8af369fb9_0_20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b8cc980cbb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g3b8cc980cbb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b8cc980cb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g3b8cc980cbb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b97d83fb8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g3b97d83fb85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b97d83fb85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g3b97d83fb85_1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9272deacb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381000" rtl="0" algn="l">
              <a:lnSpc>
                <a:spcPct val="115000"/>
              </a:lnSpc>
              <a:spcBef>
                <a:spcPts val="1200"/>
              </a:spcBef>
              <a:spcAft>
                <a:spcPts val="0"/>
              </a:spcAft>
              <a:buClr>
                <a:schemeClr val="dk1"/>
              </a:buClr>
              <a:buSzPts val="1100"/>
              <a:buFont typeface="Arial"/>
              <a:buNone/>
            </a:pPr>
            <a:r>
              <a:rPr lang="en-US">
                <a:solidFill>
                  <a:schemeClr val="dk1"/>
                </a:solidFill>
              </a:rPr>
              <a:t>So, what are the next steps for Phase B?</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rPr lang="en-US">
                <a:solidFill>
                  <a:schemeClr val="dk1"/>
                </a:solidFill>
              </a:rPr>
              <a:t>First, we will train the models and pre-generate the SHAP, LIME, and DiCE explanations. We do this to ensure that every user sees the exact same decision instance, allowing for a fair comparison.</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rPr lang="en-US">
                <a:solidFill>
                  <a:schemeClr val="dk1"/>
                </a:solidFill>
              </a:rPr>
              <a:t>Once the system is ready, users will review these explanations across all three domains: Healthcare, HR, and Text Analysis.</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rPr lang="en-US">
                <a:solidFill>
                  <a:schemeClr val="dk1"/>
                </a:solidFill>
              </a:rPr>
              <a:t>We will then collect their feedback using the SCS and FATE questionnaires. And finally, we will analyze the results to understand how different risk levels impact the user’s </a:t>
            </a:r>
            <a:r>
              <a:rPr lang="en-US">
                <a:solidFill>
                  <a:schemeClr val="dk1"/>
                </a:solidFill>
              </a:rPr>
              <a:t>preference</a:t>
            </a:r>
            <a:r>
              <a:rPr lang="en-US">
                <a:solidFill>
                  <a:schemeClr val="dk1"/>
                </a:solidFill>
              </a:rPr>
              <a:t>.</a:t>
            </a:r>
            <a:endParaRPr>
              <a:solidFill>
                <a:schemeClr val="dk1"/>
              </a:solidFill>
            </a:endParaRPr>
          </a:p>
          <a:p>
            <a:pPr indent="0" lvl="0" marL="0" rtl="0" algn="l">
              <a:spcBef>
                <a:spcPts val="1200"/>
              </a:spcBef>
              <a:spcAft>
                <a:spcPts val="0"/>
              </a:spcAft>
              <a:buNone/>
            </a:pPr>
            <a:r>
              <a:t/>
            </a:r>
            <a:endParaRPr/>
          </a:p>
        </p:txBody>
      </p:sp>
      <p:sp>
        <p:nvSpPr>
          <p:cNvPr id="482" name="Google Shape;482;g39272deacb3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39272deacb3_1_8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39272deacb3_1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To summarize our project: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We started with the challenge of the 'Black Box' and the lack of user trust. Our key insight is that </a:t>
            </a:r>
            <a:r>
              <a:rPr b="1" lang="en-US">
                <a:solidFill>
                  <a:schemeClr val="dk1"/>
                </a:solidFill>
              </a:rPr>
              <a:t>context matters</a:t>
            </a:r>
            <a:r>
              <a:rPr lang="en-US">
                <a:solidFill>
                  <a:schemeClr val="dk1"/>
                </a:solidFill>
              </a:rPr>
              <a:t> – a high-risk decision needs a different explanation than a low-risk one.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To test this, we will build a system that compares SHAP, LIME, and DiCE across three different domains.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Ultimately, our goal is to find the </a:t>
            </a:r>
            <a:r>
              <a:rPr b="1" lang="en-US">
                <a:solidFill>
                  <a:schemeClr val="dk1"/>
                </a:solidFill>
              </a:rPr>
              <a:t>best explanation method</a:t>
            </a:r>
            <a:r>
              <a:rPr lang="en-US">
                <a:solidFill>
                  <a:schemeClr val="dk1"/>
                </a:solidFill>
              </a:rPr>
              <a:t> for each level of risk.</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שקופית ריקה" type="blank">
  <p:cSld name="BLANK">
    <p:bg>
      <p:bgPr>
        <a:blipFill>
          <a:blip r:embed="rId2">
            <a:alphaModFix/>
          </a:blip>
          <a:stretch>
            <a:fillRect/>
          </a:stretch>
        </a:blipFill>
      </p:bgPr>
    </p:bg>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9858926" y="6375026"/>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chemeClr val="dk2"/>
                </a:solidFill>
              </a:defRPr>
            </a:lvl1pPr>
            <a:lvl2pPr indent="0" lvl="1" marL="0" algn="r">
              <a:spcBef>
                <a:spcPts val="0"/>
              </a:spcBef>
              <a:buNone/>
              <a:defRPr>
                <a:solidFill>
                  <a:schemeClr val="dk2"/>
                </a:solidFill>
              </a:defRPr>
            </a:lvl2pPr>
            <a:lvl3pPr indent="0" lvl="2" marL="0" algn="r">
              <a:spcBef>
                <a:spcPts val="0"/>
              </a:spcBef>
              <a:buNone/>
              <a:defRPr>
                <a:solidFill>
                  <a:schemeClr val="dk2"/>
                </a:solidFill>
              </a:defRPr>
            </a:lvl3pPr>
            <a:lvl4pPr indent="0" lvl="3" marL="0" algn="r">
              <a:spcBef>
                <a:spcPts val="0"/>
              </a:spcBef>
              <a:buNone/>
              <a:defRPr>
                <a:solidFill>
                  <a:schemeClr val="dk2"/>
                </a:solidFill>
              </a:defRPr>
            </a:lvl4pPr>
            <a:lvl5pPr indent="0" lvl="4" marL="0" algn="r">
              <a:spcBef>
                <a:spcPts val="0"/>
              </a:spcBef>
              <a:buNone/>
              <a:defRPr>
                <a:solidFill>
                  <a:schemeClr val="dk2"/>
                </a:solidFill>
              </a:defRPr>
            </a:lvl5pPr>
            <a:lvl6pPr indent="0" lvl="5" marL="0" algn="r">
              <a:spcBef>
                <a:spcPts val="0"/>
              </a:spcBef>
              <a:buNone/>
              <a:defRPr>
                <a:solidFill>
                  <a:schemeClr val="dk2"/>
                </a:solidFill>
              </a:defRPr>
            </a:lvl6pPr>
            <a:lvl7pPr indent="0" lvl="6" marL="0" algn="r">
              <a:spcBef>
                <a:spcPts val="0"/>
              </a:spcBef>
              <a:buNone/>
              <a:defRPr>
                <a:solidFill>
                  <a:schemeClr val="dk2"/>
                </a:solidFill>
              </a:defRPr>
            </a:lvl7pPr>
            <a:lvl8pPr indent="0" lvl="7" marL="0" algn="r">
              <a:spcBef>
                <a:spcPts val="0"/>
              </a:spcBef>
              <a:buNone/>
              <a:defRPr>
                <a:solidFill>
                  <a:schemeClr val="dk2"/>
                </a:solidFill>
              </a:defRPr>
            </a:lvl8pPr>
            <a:lvl9pPr indent="0" lvl="8" marL="0" algn="r">
              <a:spcBef>
                <a:spcPts val="0"/>
              </a:spcBef>
              <a:buNone/>
              <a:defRPr>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שקופית מעבר">
  <p:cSld name="BLANK_1_1">
    <p:bg>
      <p:bgPr>
        <a:blipFill>
          <a:blip r:embed="rId2">
            <a:alphaModFix/>
          </a:blip>
          <a:stretch>
            <a:fillRect/>
          </a:stretch>
        </a:blipFill>
      </p:bgPr>
    </p:bg>
    <p:spTree>
      <p:nvGrpSpPr>
        <p:cNvPr id="15" name="Shape 15"/>
        <p:cNvGrpSpPr/>
        <p:nvPr/>
      </p:nvGrpSpPr>
      <p:grpSpPr>
        <a:xfrm>
          <a:off x="0" y="0"/>
          <a:ext cx="0" cy="0"/>
          <a:chOff x="0" y="0"/>
          <a:chExt cx="0" cy="0"/>
        </a:xfrm>
      </p:grpSpPr>
      <p:sp>
        <p:nvSpPr>
          <p:cNvPr id="16" name="Google Shape;16;p3"/>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3"/>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3"/>
          <p:cNvSpPr txBox="1"/>
          <p:nvPr>
            <p:ph idx="12" type="sldNum"/>
          </p:nvPr>
        </p:nvSpPr>
        <p:spPr>
          <a:xfrm>
            <a:off x="984025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1E3A8A"/>
                </a:solidFill>
              </a:defRPr>
            </a:lvl1pPr>
            <a:lvl2pPr indent="0" lvl="1" marL="0" algn="r">
              <a:spcBef>
                <a:spcPts val="0"/>
              </a:spcBef>
              <a:buNone/>
              <a:defRPr>
                <a:solidFill>
                  <a:srgbClr val="1E3A8A"/>
                </a:solidFill>
              </a:defRPr>
            </a:lvl2pPr>
            <a:lvl3pPr indent="0" lvl="2" marL="0" algn="r">
              <a:spcBef>
                <a:spcPts val="0"/>
              </a:spcBef>
              <a:buNone/>
              <a:defRPr>
                <a:solidFill>
                  <a:srgbClr val="1E3A8A"/>
                </a:solidFill>
              </a:defRPr>
            </a:lvl3pPr>
            <a:lvl4pPr indent="0" lvl="3" marL="0" algn="r">
              <a:spcBef>
                <a:spcPts val="0"/>
              </a:spcBef>
              <a:buNone/>
              <a:defRPr>
                <a:solidFill>
                  <a:srgbClr val="1E3A8A"/>
                </a:solidFill>
              </a:defRPr>
            </a:lvl4pPr>
            <a:lvl5pPr indent="0" lvl="4" marL="0" algn="r">
              <a:spcBef>
                <a:spcPts val="0"/>
              </a:spcBef>
              <a:buNone/>
              <a:defRPr>
                <a:solidFill>
                  <a:srgbClr val="1E3A8A"/>
                </a:solidFill>
              </a:defRPr>
            </a:lvl5pPr>
            <a:lvl6pPr indent="0" lvl="5" marL="0" algn="r">
              <a:spcBef>
                <a:spcPts val="0"/>
              </a:spcBef>
              <a:buNone/>
              <a:defRPr>
                <a:solidFill>
                  <a:srgbClr val="1E3A8A"/>
                </a:solidFill>
              </a:defRPr>
            </a:lvl6pPr>
            <a:lvl7pPr indent="0" lvl="6" marL="0" algn="r">
              <a:spcBef>
                <a:spcPts val="0"/>
              </a:spcBef>
              <a:buNone/>
              <a:defRPr>
                <a:solidFill>
                  <a:srgbClr val="1E3A8A"/>
                </a:solidFill>
              </a:defRPr>
            </a:lvl7pPr>
            <a:lvl8pPr indent="0" lvl="7" marL="0" algn="r">
              <a:spcBef>
                <a:spcPts val="0"/>
              </a:spcBef>
              <a:buNone/>
              <a:defRPr>
                <a:solidFill>
                  <a:srgbClr val="1E3A8A"/>
                </a:solidFill>
              </a:defRPr>
            </a:lvl8pPr>
            <a:lvl9pPr indent="0" lvl="8" marL="0" algn="r">
              <a:spcBef>
                <a:spcPts val="0"/>
              </a:spcBef>
              <a:buNone/>
              <a:defRPr>
                <a:solidFill>
                  <a:srgbClr val="1E3A8A"/>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4"/>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1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1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1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1"/>
          <p:cNvSpPr/>
          <p:nvPr>
            <p:ph idx="2" type="pic"/>
          </p:nvPr>
        </p:nvSpPr>
        <p:spPr>
          <a:xfrm>
            <a:off x="1792288" y="612775"/>
            <a:ext cx="5486400" cy="4114800"/>
          </a:xfrm>
          <a:prstGeom prst="rect">
            <a:avLst/>
          </a:prstGeom>
          <a:noFill/>
          <a:ln>
            <a:noFill/>
          </a:ln>
        </p:spPr>
      </p:sp>
      <p:sp>
        <p:nvSpPr>
          <p:cNvPr id="68" name="Google Shape;68;p1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2"/>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3"/>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3"/>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Slide 1_1_1_TITLEANDBULLETS_E">
  <p:cSld name="TITLE_AND_BODY_2_1_1_1_1_1_1">
    <p:spTree>
      <p:nvGrpSpPr>
        <p:cNvPr id="84" name="Shape 84"/>
        <p:cNvGrpSpPr/>
        <p:nvPr/>
      </p:nvGrpSpPr>
      <p:grpSpPr>
        <a:xfrm>
          <a:off x="0" y="0"/>
          <a:ext cx="0" cy="0"/>
          <a:chOff x="0" y="0"/>
          <a:chExt cx="0" cy="0"/>
        </a:xfrm>
      </p:grpSpPr>
      <p:sp>
        <p:nvSpPr>
          <p:cNvPr id="85" name="Google Shape;85;p14"/>
          <p:cNvSpPr txBox="1"/>
          <p:nvPr>
            <p:ph type="title"/>
          </p:nvPr>
        </p:nvSpPr>
        <p:spPr>
          <a:xfrm>
            <a:off x="5145700" y="226400"/>
            <a:ext cx="3651900" cy="1094400"/>
          </a:xfrm>
          <a:prstGeom prst="rect">
            <a:avLst/>
          </a:prstGeom>
        </p:spPr>
        <p:txBody>
          <a:bodyPr anchorCtr="0" anchor="t" bIns="0" lIns="0" spcFirstLastPara="1" rIns="0" wrap="square" tIns="0">
            <a:normAutofit/>
          </a:bodyPr>
          <a:lstStyle>
            <a:lvl1pPr lvl="0">
              <a:spcBef>
                <a:spcPts val="0"/>
              </a:spcBef>
              <a:spcAft>
                <a:spcPts val="0"/>
              </a:spcAft>
              <a:buSzPts val="4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14"/>
          <p:cNvSpPr txBox="1"/>
          <p:nvPr>
            <p:ph idx="1" type="body"/>
          </p:nvPr>
        </p:nvSpPr>
        <p:spPr>
          <a:xfrm>
            <a:off x="5145700" y="1598500"/>
            <a:ext cx="3651900" cy="3318600"/>
          </a:xfrm>
          <a:prstGeom prst="rect">
            <a:avLst/>
          </a:prstGeom>
          <a:ln>
            <a:noFill/>
          </a:ln>
        </p:spPr>
        <p:txBody>
          <a:bodyPr anchorCtr="0" anchor="t" bIns="0" lIns="0" spcFirstLastPara="1" rIns="0" wrap="square" tIns="0">
            <a:normAutofit/>
          </a:bodyPr>
          <a:lstStyle>
            <a:lvl1pPr indent="-431800" lvl="0" marL="457200">
              <a:spcBef>
                <a:spcPts val="640"/>
              </a:spcBef>
              <a:spcAft>
                <a:spcPts val="0"/>
              </a:spcAft>
              <a:buSzPts val="3200"/>
              <a:buChar char="•"/>
              <a:defRPr/>
            </a:lvl1pPr>
            <a:lvl2pPr indent="-406400" lvl="1" marL="914400">
              <a:spcBef>
                <a:spcPts val="560"/>
              </a:spcBef>
              <a:spcAft>
                <a:spcPts val="0"/>
              </a:spcAft>
              <a:buSzPts val="2800"/>
              <a:buChar char="–"/>
              <a:defRPr/>
            </a:lvl2pPr>
            <a:lvl3pPr indent="-381000" lvl="2" marL="1371600">
              <a:spcBef>
                <a:spcPts val="480"/>
              </a:spcBef>
              <a:spcAft>
                <a:spcPts val="0"/>
              </a:spcAft>
              <a:buSzPts val="2400"/>
              <a:buChar char="•"/>
              <a:defRPr/>
            </a:lvl3pPr>
            <a:lvl4pPr indent="-355600" lvl="3" marL="1828800">
              <a:spcBef>
                <a:spcPts val="400"/>
              </a:spcBef>
              <a:spcAft>
                <a:spcPts val="0"/>
              </a:spcAft>
              <a:buSzPts val="2000"/>
              <a:buChar char="–"/>
              <a:defRPr/>
            </a:lvl4pPr>
            <a:lvl5pPr indent="-355600" lvl="4" marL="2286000">
              <a:spcBef>
                <a:spcPts val="400"/>
              </a:spcBef>
              <a:spcAft>
                <a:spcPts val="0"/>
              </a:spcAft>
              <a:buSzPts val="2000"/>
              <a:buChar char="»"/>
              <a:defRPr/>
            </a:lvl5pPr>
            <a:lvl6pPr indent="-355600" lvl="5" marL="2743200">
              <a:spcBef>
                <a:spcPts val="400"/>
              </a:spcBef>
              <a:spcAft>
                <a:spcPts val="0"/>
              </a:spcAft>
              <a:buSzPts val="2000"/>
              <a:buChar char="•"/>
              <a:defRPr/>
            </a:lvl6pPr>
            <a:lvl7pPr indent="-355600" lvl="6" marL="3200400">
              <a:spcBef>
                <a:spcPts val="400"/>
              </a:spcBef>
              <a:spcAft>
                <a:spcPts val="0"/>
              </a:spcAft>
              <a:buSzPts val="2000"/>
              <a:buChar char="•"/>
              <a:defRPr/>
            </a:lvl7pPr>
            <a:lvl8pPr indent="-355600" lvl="7" marL="3657600">
              <a:spcBef>
                <a:spcPts val="400"/>
              </a:spcBef>
              <a:spcAft>
                <a:spcPts val="0"/>
              </a:spcAft>
              <a:buSzPts val="2000"/>
              <a:buChar char="•"/>
              <a:defRPr/>
            </a:lvl8pPr>
            <a:lvl9pPr indent="-355600" lvl="8" marL="4114800">
              <a:spcBef>
                <a:spcPts val="400"/>
              </a:spcBef>
              <a:spcAft>
                <a:spcPts val="0"/>
              </a:spcAft>
              <a:buSzPts val="2000"/>
              <a:buChar char="•"/>
              <a:defRPr/>
            </a:lvl9pPr>
          </a:lstStyle>
          <a:p/>
        </p:txBody>
      </p:sp>
      <p:sp>
        <p:nvSpPr>
          <p:cNvPr id="87" name="Google Shape;87;p14"/>
          <p:cNvSpPr/>
          <p:nvPr>
            <p:ph idx="2" type="pic"/>
          </p:nvPr>
        </p:nvSpPr>
        <p:spPr>
          <a:xfrm>
            <a:off x="204047" y="226350"/>
            <a:ext cx="4690800" cy="4690800"/>
          </a:xfrm>
          <a:prstGeom prst="rect">
            <a:avLst/>
          </a:prstGeom>
          <a:noFill/>
          <a:ln>
            <a:noFill/>
          </a:ln>
        </p:spPr>
      </p:sp>
      <p:sp>
        <p:nvSpPr>
          <p:cNvPr id="88" name="Google Shape;88;p14"/>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1620">
          <p15:clr>
            <a:srgbClr val="E46962"/>
          </p15:clr>
        </p15:guide>
        <p15:guide id="2" pos="3083">
          <p15:clr>
            <a:srgbClr val="E46962"/>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jpg"/><Relationship Id="rId4" Type="http://schemas.openxmlformats.org/officeDocument/2006/relationships/image" Target="../media/image12.png"/><Relationship Id="rId5" Type="http://schemas.openxmlformats.org/officeDocument/2006/relationships/hyperlink" Target="https://github.com/YardenNahum/FinalProjectXAI" TargetMode="External"/></Relationships>
</file>

<file path=ppt/slides/_rels/slide2.xml.rels><?xml version="1.0" encoding="UTF-8" standalone="yes"?><Relationships xmlns="http://schemas.openxmlformats.org/package/2006/relationships"><Relationship Id="rId11" Type="http://schemas.openxmlformats.org/officeDocument/2006/relationships/image" Target="../media/image9.png"/><Relationship Id="rId10" Type="http://schemas.openxmlformats.org/officeDocument/2006/relationships/image" Target="../media/image2.png"/><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jpg"/><Relationship Id="rId4" Type="http://schemas.openxmlformats.org/officeDocument/2006/relationships/image" Target="../media/image24.png"/><Relationship Id="rId9" Type="http://schemas.openxmlformats.org/officeDocument/2006/relationships/image" Target="../media/image4.png"/><Relationship Id="rId5" Type="http://schemas.openxmlformats.org/officeDocument/2006/relationships/image" Target="../media/image30.png"/><Relationship Id="rId6" Type="http://schemas.openxmlformats.org/officeDocument/2006/relationships/image" Target="../media/image6.png"/><Relationship Id="rId7" Type="http://schemas.openxmlformats.org/officeDocument/2006/relationships/image" Target="../media/image3.png"/><Relationship Id="rId8"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jpg"/><Relationship Id="rId4" Type="http://schemas.openxmlformats.org/officeDocument/2006/relationships/image" Target="../media/image17.png"/><Relationship Id="rId9" Type="http://schemas.openxmlformats.org/officeDocument/2006/relationships/image" Target="../media/image13.png"/><Relationship Id="rId5" Type="http://schemas.openxmlformats.org/officeDocument/2006/relationships/image" Target="../media/image1.png"/><Relationship Id="rId6" Type="http://schemas.openxmlformats.org/officeDocument/2006/relationships/image" Target="../media/image5.png"/><Relationship Id="rId7" Type="http://schemas.openxmlformats.org/officeDocument/2006/relationships/image" Target="../media/image22.png"/><Relationship Id="rId8" Type="http://schemas.openxmlformats.org/officeDocument/2006/relationships/image" Target="../media/image2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jpg"/><Relationship Id="rId4" Type="http://schemas.openxmlformats.org/officeDocument/2006/relationships/image" Target="../media/image14.png"/><Relationship Id="rId5" Type="http://schemas.openxmlformats.org/officeDocument/2006/relationships/image" Target="../media/image11.png"/><Relationship Id="rId6" Type="http://schemas.openxmlformats.org/officeDocument/2006/relationships/image" Target="../media/image2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jpg"/><Relationship Id="rId4" Type="http://schemas.openxmlformats.org/officeDocument/2006/relationships/image" Target="../media/image18.png"/><Relationship Id="rId5"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7.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10" Type="http://schemas.openxmlformats.org/officeDocument/2006/relationships/image" Target="../media/image32.png"/><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jpg"/><Relationship Id="rId4" Type="http://schemas.openxmlformats.org/officeDocument/2006/relationships/image" Target="../media/image25.png"/><Relationship Id="rId9" Type="http://schemas.openxmlformats.org/officeDocument/2006/relationships/image" Target="../media/image21.png"/><Relationship Id="rId5" Type="http://schemas.openxmlformats.org/officeDocument/2006/relationships/image" Target="../media/image17.png"/><Relationship Id="rId6" Type="http://schemas.openxmlformats.org/officeDocument/2006/relationships/image" Target="../media/image34.png"/><Relationship Id="rId7" Type="http://schemas.openxmlformats.org/officeDocument/2006/relationships/image" Target="../media/image5.png"/><Relationship Id="rId8" Type="http://schemas.openxmlformats.org/officeDocument/2006/relationships/image" Target="../media/image2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jpg"/><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7.jpg"/><Relationship Id="rId4" Type="http://schemas.openxmlformats.org/officeDocument/2006/relationships/image" Target="../media/image31.png"/><Relationship Id="rId9" Type="http://schemas.openxmlformats.org/officeDocument/2006/relationships/image" Target="../media/image35.png"/><Relationship Id="rId5" Type="http://schemas.openxmlformats.org/officeDocument/2006/relationships/image" Target="../media/image33.png"/><Relationship Id="rId6" Type="http://schemas.openxmlformats.org/officeDocument/2006/relationships/image" Target="../media/image59.png"/><Relationship Id="rId7" Type="http://schemas.openxmlformats.org/officeDocument/2006/relationships/image" Target="../media/image29.png"/><Relationship Id="rId8" Type="http://schemas.openxmlformats.org/officeDocument/2006/relationships/image" Target="../media/image6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jpg"/><Relationship Id="rId4" Type="http://schemas.openxmlformats.org/officeDocument/2006/relationships/image" Target="../media/image14.png"/><Relationship Id="rId9" Type="http://schemas.openxmlformats.org/officeDocument/2006/relationships/image" Target="../media/image39.png"/><Relationship Id="rId5" Type="http://schemas.openxmlformats.org/officeDocument/2006/relationships/image" Target="../media/image11.png"/><Relationship Id="rId6" Type="http://schemas.openxmlformats.org/officeDocument/2006/relationships/image" Target="../media/image26.png"/><Relationship Id="rId7" Type="http://schemas.openxmlformats.org/officeDocument/2006/relationships/image" Target="../media/image36.png"/><Relationship Id="rId8" Type="http://schemas.openxmlformats.org/officeDocument/2006/relationships/image" Target="../media/image4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7.jp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8.png"/><Relationship Id="rId4" Type="http://schemas.openxmlformats.org/officeDocument/2006/relationships/image" Target="../media/image57.png"/><Relationship Id="rId5" Type="http://schemas.openxmlformats.org/officeDocument/2006/relationships/image" Target="../media/image3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7.jpg"/><Relationship Id="rId4" Type="http://schemas.openxmlformats.org/officeDocument/2006/relationships/image" Target="../media/image51.png"/></Relationships>
</file>

<file path=ppt/slides/_rels/slide18.xml.rels><?xml version="1.0" encoding="UTF-8" standalone="yes"?><Relationships xmlns="http://schemas.openxmlformats.org/package/2006/relationships"><Relationship Id="rId11" Type="http://schemas.openxmlformats.org/officeDocument/2006/relationships/image" Target="../media/image62.png"/><Relationship Id="rId10" Type="http://schemas.openxmlformats.org/officeDocument/2006/relationships/image" Target="../media/image2.png"/><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7.jpg"/><Relationship Id="rId4" Type="http://schemas.openxmlformats.org/officeDocument/2006/relationships/image" Target="../media/image33.png"/><Relationship Id="rId9" Type="http://schemas.openxmlformats.org/officeDocument/2006/relationships/image" Target="../media/image45.png"/><Relationship Id="rId5" Type="http://schemas.openxmlformats.org/officeDocument/2006/relationships/image" Target="../media/image43.png"/><Relationship Id="rId6" Type="http://schemas.openxmlformats.org/officeDocument/2006/relationships/image" Target="../media/image49.png"/><Relationship Id="rId7" Type="http://schemas.openxmlformats.org/officeDocument/2006/relationships/image" Target="../media/image46.png"/><Relationship Id="rId8" Type="http://schemas.openxmlformats.org/officeDocument/2006/relationships/image" Target="../media/image4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7.jpg"/><Relationship Id="rId4" Type="http://schemas.openxmlformats.org/officeDocument/2006/relationships/hyperlink" Target="https://link.springer.com/article/10.1007/s13218-020-00636-z"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7.jpg"/><Relationship Id="rId4" Type="http://schemas.openxmlformats.org/officeDocument/2006/relationships/image" Target="../media/image54.png"/><Relationship Id="rId5" Type="http://schemas.openxmlformats.org/officeDocument/2006/relationships/hyperlink" Target="https://www.sciencedirect.com/science/article/pii/S1071581920301531"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7.jpg"/><Relationship Id="rId4" Type="http://schemas.openxmlformats.org/officeDocument/2006/relationships/image" Target="../media/image54.png"/><Relationship Id="rId5" Type="http://schemas.openxmlformats.org/officeDocument/2006/relationships/hyperlink" Target="https://www.sciencedirect.com/science/article/pii/S1071581920301531"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7.jpg"/><Relationship Id="rId4" Type="http://schemas.openxmlformats.org/officeDocument/2006/relationships/image" Target="../media/image54.png"/><Relationship Id="rId5" Type="http://schemas.openxmlformats.org/officeDocument/2006/relationships/hyperlink" Target="https://www.sciencedirect.com/science/article/pii/S1071581920301531"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7.jpg"/><Relationship Id="rId4" Type="http://schemas.openxmlformats.org/officeDocument/2006/relationships/image" Target="../media/image54.png"/><Relationship Id="rId5" Type="http://schemas.openxmlformats.org/officeDocument/2006/relationships/hyperlink" Target="https://www.sciencedirect.com/science/article/pii/S1071581920301531"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7.jpg"/><Relationship Id="rId4" Type="http://schemas.openxmlformats.org/officeDocument/2006/relationships/image" Target="../media/image17.png"/><Relationship Id="rId9" Type="http://schemas.openxmlformats.org/officeDocument/2006/relationships/image" Target="../media/image55.png"/><Relationship Id="rId5" Type="http://schemas.openxmlformats.org/officeDocument/2006/relationships/image" Target="../media/image63.png"/><Relationship Id="rId6" Type="http://schemas.openxmlformats.org/officeDocument/2006/relationships/image" Target="../media/image5.png"/><Relationship Id="rId7" Type="http://schemas.openxmlformats.org/officeDocument/2006/relationships/image" Target="../media/image68.png"/><Relationship Id="rId8"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7.jpg"/><Relationship Id="rId4" Type="http://schemas.openxmlformats.org/officeDocument/2006/relationships/image" Target="../media/image49.png"/><Relationship Id="rId5" Type="http://schemas.openxmlformats.org/officeDocument/2006/relationships/image" Target="../media/image46.png"/><Relationship Id="rId6" Type="http://schemas.openxmlformats.org/officeDocument/2006/relationships/image" Target="../media/image17.png"/><Relationship Id="rId7" Type="http://schemas.openxmlformats.org/officeDocument/2006/relationships/image" Target="../media/image69.png"/><Relationship Id="rId8" Type="http://schemas.openxmlformats.org/officeDocument/2006/relationships/image" Target="../media/image65.png"/></Relationships>
</file>

<file path=ppt/slides/_rels/slide27.xml.rels><?xml version="1.0" encoding="UTF-8" standalone="yes"?><Relationships xmlns="http://schemas.openxmlformats.org/package/2006/relationships"><Relationship Id="rId11" Type="http://schemas.openxmlformats.org/officeDocument/2006/relationships/image" Target="../media/image62.png"/><Relationship Id="rId10" Type="http://schemas.openxmlformats.org/officeDocument/2006/relationships/image" Target="../media/image2.png"/><Relationship Id="rId13" Type="http://schemas.openxmlformats.org/officeDocument/2006/relationships/image" Target="../media/image70.png"/><Relationship Id="rId12" Type="http://schemas.openxmlformats.org/officeDocument/2006/relationships/image" Target="../media/image33.png"/><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7.jpg"/><Relationship Id="rId4" Type="http://schemas.openxmlformats.org/officeDocument/2006/relationships/image" Target="../media/image66.png"/><Relationship Id="rId9" Type="http://schemas.openxmlformats.org/officeDocument/2006/relationships/image" Target="../media/image16.png"/><Relationship Id="rId5" Type="http://schemas.openxmlformats.org/officeDocument/2006/relationships/image" Target="../media/image67.png"/><Relationship Id="rId6" Type="http://schemas.openxmlformats.org/officeDocument/2006/relationships/image" Target="../media/image71.png"/><Relationship Id="rId7" Type="http://schemas.openxmlformats.org/officeDocument/2006/relationships/image" Target="../media/image72.png"/><Relationship Id="rId8"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2" name="Shape 92"/>
        <p:cNvGrpSpPr/>
        <p:nvPr/>
      </p:nvGrpSpPr>
      <p:grpSpPr>
        <a:xfrm>
          <a:off x="0" y="0"/>
          <a:ext cx="0" cy="0"/>
          <a:chOff x="0" y="0"/>
          <a:chExt cx="0" cy="0"/>
        </a:xfrm>
      </p:grpSpPr>
      <p:sp>
        <p:nvSpPr>
          <p:cNvPr id="93" name="Google Shape;93;p15"/>
          <p:cNvSpPr txBox="1"/>
          <p:nvPr/>
        </p:nvSpPr>
        <p:spPr>
          <a:xfrm>
            <a:off x="295275" y="2421754"/>
            <a:ext cx="11601600" cy="738900"/>
          </a:xfrm>
          <a:prstGeom prst="rect">
            <a:avLst/>
          </a:prstGeom>
          <a:noFill/>
          <a:ln>
            <a:noFill/>
          </a:ln>
        </p:spPr>
        <p:txBody>
          <a:bodyPr anchorCtr="0" anchor="t" bIns="0" lIns="0" spcFirstLastPara="1" rIns="0" wrap="square" tIns="0">
            <a:spAutoFit/>
          </a:bodyPr>
          <a:lstStyle/>
          <a:p>
            <a:pPr indent="0" lvl="0" marL="0" marR="0" rtl="0" algn="ctr">
              <a:lnSpc>
                <a:spcPct val="119979"/>
              </a:lnSpc>
              <a:spcBef>
                <a:spcPts val="0"/>
              </a:spcBef>
              <a:spcAft>
                <a:spcPts val="0"/>
              </a:spcAft>
              <a:buNone/>
            </a:pPr>
            <a:r>
              <a:rPr b="1" i="0" lang="en-US" sz="4800" u="none" cap="none" strike="noStrike">
                <a:solidFill>
                  <a:srgbClr val="1E3A8A"/>
                </a:solidFill>
                <a:latin typeface="Rubik"/>
                <a:ea typeface="Rubik"/>
                <a:cs typeface="Rubik"/>
                <a:sym typeface="Rubik"/>
              </a:rPr>
              <a:t>Evaluating Explainable AI Methods</a:t>
            </a:r>
            <a:endParaRPr/>
          </a:p>
        </p:txBody>
      </p:sp>
      <p:sp>
        <p:nvSpPr>
          <p:cNvPr id="94" name="Google Shape;94;p15"/>
          <p:cNvSpPr txBox="1"/>
          <p:nvPr/>
        </p:nvSpPr>
        <p:spPr>
          <a:xfrm>
            <a:off x="295275" y="3343744"/>
            <a:ext cx="11601600" cy="3693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i="0" lang="en-US" sz="2400" u="none" cap="none" strike="noStrike">
                <a:solidFill>
                  <a:srgbClr val="475569"/>
                </a:solidFill>
                <a:latin typeface="Heebo"/>
                <a:ea typeface="Heebo"/>
                <a:cs typeface="Heebo"/>
                <a:sym typeface="Heebo"/>
              </a:rPr>
              <a:t>In Domains of Varying Human Impact</a:t>
            </a:r>
            <a:endParaRPr sz="2400">
              <a:latin typeface="Heebo"/>
              <a:ea typeface="Heebo"/>
              <a:cs typeface="Heebo"/>
              <a:sym typeface="Heebo"/>
            </a:endParaRPr>
          </a:p>
        </p:txBody>
      </p:sp>
      <p:sp>
        <p:nvSpPr>
          <p:cNvPr id="95" name="Google Shape;95;p15"/>
          <p:cNvSpPr/>
          <p:nvPr/>
        </p:nvSpPr>
        <p:spPr>
          <a:xfrm>
            <a:off x="5619750" y="3999035"/>
            <a:ext cx="952500" cy="38100"/>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6" name="Google Shape;96;p15"/>
          <p:cNvSpPr txBox="1"/>
          <p:nvPr/>
        </p:nvSpPr>
        <p:spPr>
          <a:xfrm>
            <a:off x="571500" y="4384935"/>
            <a:ext cx="11049000" cy="96030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i="0" lang="en-US" sz="2400" u="none" cap="none" strike="noStrike">
                <a:solidFill>
                  <a:srgbClr val="64748B"/>
                </a:solidFill>
                <a:latin typeface="Heebo"/>
                <a:ea typeface="Heebo"/>
                <a:cs typeface="Heebo"/>
                <a:sym typeface="Heebo"/>
              </a:rPr>
              <a:t>Students:</a:t>
            </a:r>
            <a:r>
              <a:rPr i="0" lang="en-US" sz="2400" u="none" cap="none" strike="noStrike">
                <a:solidFill>
                  <a:srgbClr val="64748B"/>
                </a:solidFill>
                <a:latin typeface="Heebo Light"/>
                <a:ea typeface="Heebo Light"/>
                <a:cs typeface="Heebo Light"/>
                <a:sym typeface="Heebo Light"/>
              </a:rPr>
              <a:t> Adan Ibrahim, Yarden Nahum</a:t>
            </a:r>
            <a:br>
              <a:rPr i="0" lang="en-US" sz="2400" u="none" cap="none" strike="noStrike">
                <a:solidFill>
                  <a:schemeClr val="dk1"/>
                </a:solidFill>
                <a:latin typeface="Heebo"/>
                <a:ea typeface="Heebo"/>
                <a:cs typeface="Heebo"/>
                <a:sym typeface="Heebo"/>
              </a:rPr>
            </a:br>
            <a:r>
              <a:rPr i="0" lang="en-US" sz="2400" u="none" cap="none" strike="noStrike">
                <a:solidFill>
                  <a:srgbClr val="64748B"/>
                </a:solidFill>
                <a:latin typeface="Heebo"/>
                <a:ea typeface="Heebo"/>
                <a:cs typeface="Heebo"/>
                <a:sym typeface="Heebo"/>
              </a:rPr>
              <a:t>Supervisors:</a:t>
            </a:r>
            <a:r>
              <a:rPr i="0" lang="en-US" sz="2400" u="none" cap="none" strike="noStrike">
                <a:solidFill>
                  <a:srgbClr val="64748B"/>
                </a:solidFill>
                <a:latin typeface="Heebo Light"/>
                <a:ea typeface="Heebo Light"/>
                <a:cs typeface="Heebo Light"/>
                <a:sym typeface="Heebo Light"/>
              </a:rPr>
              <a:t> Dr. Julia Sheidin, Dr. Avital Shulner Tal</a:t>
            </a:r>
            <a:endParaRPr sz="2400">
              <a:latin typeface="Heebo"/>
              <a:ea typeface="Heebo"/>
              <a:cs typeface="Heebo"/>
              <a:sym typeface="Heebo"/>
            </a:endParaRPr>
          </a:p>
        </p:txBody>
      </p:sp>
      <p:sp>
        <p:nvSpPr>
          <p:cNvPr id="97" name="Google Shape;97;p15"/>
          <p:cNvSpPr txBox="1"/>
          <p:nvPr/>
        </p:nvSpPr>
        <p:spPr>
          <a:xfrm>
            <a:off x="571500" y="6095198"/>
            <a:ext cx="11049000" cy="3693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i="0" lang="en-US" sz="2400" u="none" cap="none" strike="noStrike">
                <a:solidFill>
                  <a:srgbClr val="94A3B8"/>
                </a:solidFill>
                <a:latin typeface="Heebo"/>
                <a:ea typeface="Heebo"/>
                <a:cs typeface="Heebo"/>
                <a:sym typeface="Heebo"/>
              </a:rPr>
              <a:t>Capstone Project Phase A | 26-1-R-3</a:t>
            </a:r>
            <a:endParaRPr sz="2400">
              <a:latin typeface="Heebo"/>
              <a:ea typeface="Heebo"/>
              <a:cs typeface="Heebo"/>
              <a:sym typeface="Heebo"/>
            </a:endParaRPr>
          </a:p>
        </p:txBody>
      </p:sp>
      <p:pic>
        <p:nvPicPr>
          <p:cNvPr id="98" name="Google Shape;98;p15"/>
          <p:cNvPicPr preferRelativeResize="0"/>
          <p:nvPr/>
        </p:nvPicPr>
        <p:blipFill>
          <a:blip r:embed="rId4">
            <a:alphaModFix/>
          </a:blip>
          <a:stretch>
            <a:fillRect/>
          </a:stretch>
        </p:blipFill>
        <p:spPr>
          <a:xfrm>
            <a:off x="3157012" y="560000"/>
            <a:ext cx="5877975" cy="1390950"/>
          </a:xfrm>
          <a:prstGeom prst="rect">
            <a:avLst/>
          </a:prstGeom>
          <a:noFill/>
          <a:ln>
            <a:noFill/>
          </a:ln>
        </p:spPr>
      </p:pic>
      <p:sp>
        <p:nvSpPr>
          <p:cNvPr id="99" name="Google Shape;99;p15"/>
          <p:cNvSpPr txBox="1"/>
          <p:nvPr>
            <p:ph idx="12" type="sldNum"/>
          </p:nvPr>
        </p:nvSpPr>
        <p:spPr>
          <a:xfrm>
            <a:off x="9858926" y="6375026"/>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100" name="Google Shape;100;p15"/>
          <p:cNvSpPr txBox="1"/>
          <p:nvPr/>
        </p:nvSpPr>
        <p:spPr>
          <a:xfrm>
            <a:off x="295275" y="5496162"/>
            <a:ext cx="11601600" cy="3693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lang="en-US" sz="2400" u="sng">
                <a:solidFill>
                  <a:schemeClr val="hlink"/>
                </a:solidFill>
                <a:latin typeface="Heebo"/>
                <a:ea typeface="Heebo"/>
                <a:cs typeface="Heebo"/>
                <a:sym typeface="Heebo"/>
                <a:hlinkClick r:id="rId5"/>
              </a:rPr>
              <a:t>GITHUB</a:t>
            </a:r>
            <a:endParaRPr sz="2400">
              <a:latin typeface="Heebo"/>
              <a:ea typeface="Heebo"/>
              <a:cs typeface="Heebo"/>
              <a:sym typeface="Heeb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4" name="Shape 104"/>
        <p:cNvGrpSpPr/>
        <p:nvPr/>
      </p:nvGrpSpPr>
      <p:grpSpPr>
        <a:xfrm>
          <a:off x="0" y="0"/>
          <a:ext cx="0" cy="0"/>
          <a:chOff x="0" y="0"/>
          <a:chExt cx="0" cy="0"/>
        </a:xfrm>
      </p:grpSpPr>
      <p:sp>
        <p:nvSpPr>
          <p:cNvPr id="105" name="Google Shape;105;p16"/>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rtl="0" algn="l">
              <a:lnSpc>
                <a:spcPct val="120000"/>
              </a:lnSpc>
              <a:spcBef>
                <a:spcPts val="0"/>
              </a:spcBef>
              <a:spcAft>
                <a:spcPts val="0"/>
              </a:spcAft>
              <a:buNone/>
            </a:pPr>
            <a:r>
              <a:rPr b="1" lang="en-US" sz="3600">
                <a:solidFill>
                  <a:srgbClr val="1E3A8A"/>
                </a:solidFill>
                <a:latin typeface="Rubik"/>
                <a:ea typeface="Rubik"/>
                <a:cs typeface="Rubik"/>
                <a:sym typeface="Rubik"/>
              </a:rPr>
              <a:t>Project Motivation</a:t>
            </a:r>
            <a:endParaRPr b="1" sz="3600">
              <a:solidFill>
                <a:srgbClr val="1E3A8A"/>
              </a:solidFill>
              <a:latin typeface="Rubik"/>
              <a:ea typeface="Rubik"/>
              <a:cs typeface="Rubik"/>
              <a:sym typeface="Rubik"/>
            </a:endParaRPr>
          </a:p>
        </p:txBody>
      </p:sp>
      <p:sp>
        <p:nvSpPr>
          <p:cNvPr id="106" name="Google Shape;106;p16"/>
          <p:cNvSpPr txBox="1"/>
          <p:nvPr>
            <p:ph idx="12" type="sldNum"/>
          </p:nvPr>
        </p:nvSpPr>
        <p:spPr>
          <a:xfrm>
            <a:off x="9858926" y="6375026"/>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07" name="Google Shape;107;p16"/>
          <p:cNvSpPr txBox="1"/>
          <p:nvPr/>
        </p:nvSpPr>
        <p:spPr>
          <a:xfrm>
            <a:off x="1356950" y="1817350"/>
            <a:ext cx="9030600" cy="9267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lang="en-US" sz="2800">
                <a:solidFill>
                  <a:srgbClr val="475569"/>
                </a:solidFill>
                <a:latin typeface="Heebo"/>
                <a:ea typeface="Heebo"/>
                <a:cs typeface="Heebo"/>
                <a:sym typeface="Heebo"/>
              </a:rPr>
              <a:t>AI supports decisions across domains with varying human impact.</a:t>
            </a:r>
            <a:endParaRPr sz="2800">
              <a:solidFill>
                <a:srgbClr val="475569"/>
              </a:solidFill>
              <a:latin typeface="Heebo"/>
              <a:ea typeface="Heebo"/>
              <a:cs typeface="Heebo"/>
              <a:sym typeface="Heebo"/>
            </a:endParaRPr>
          </a:p>
        </p:txBody>
      </p:sp>
      <p:sp>
        <p:nvSpPr>
          <p:cNvPr id="108" name="Google Shape;108;p16"/>
          <p:cNvSpPr txBox="1"/>
          <p:nvPr/>
        </p:nvSpPr>
        <p:spPr>
          <a:xfrm>
            <a:off x="1356953" y="3206475"/>
            <a:ext cx="9289200" cy="431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lang="en-US" sz="2800">
                <a:solidFill>
                  <a:srgbClr val="475569"/>
                </a:solidFill>
                <a:latin typeface="Heebo"/>
                <a:ea typeface="Heebo"/>
                <a:cs typeface="Heebo"/>
                <a:sym typeface="Heebo"/>
              </a:rPr>
              <a:t>Many AI systems lack transparency and clear reasoning.</a:t>
            </a:r>
            <a:endParaRPr sz="2800">
              <a:solidFill>
                <a:srgbClr val="475569"/>
              </a:solidFill>
              <a:latin typeface="Heebo"/>
              <a:ea typeface="Heebo"/>
              <a:cs typeface="Heebo"/>
              <a:sym typeface="Heebo"/>
            </a:endParaRPr>
          </a:p>
        </p:txBody>
      </p:sp>
      <p:sp>
        <p:nvSpPr>
          <p:cNvPr id="109" name="Google Shape;109;p16"/>
          <p:cNvSpPr txBox="1"/>
          <p:nvPr/>
        </p:nvSpPr>
        <p:spPr>
          <a:xfrm>
            <a:off x="1356954" y="4170063"/>
            <a:ext cx="9030600" cy="431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lang="en-US" sz="2800">
                <a:solidFill>
                  <a:srgbClr val="475569"/>
                </a:solidFill>
                <a:latin typeface="Heebo"/>
                <a:ea typeface="Heebo"/>
                <a:cs typeface="Heebo"/>
                <a:sym typeface="Heebo"/>
              </a:rPr>
              <a:t>Trust requirements differ between different risk levels. </a:t>
            </a:r>
            <a:endParaRPr sz="2800">
              <a:solidFill>
                <a:srgbClr val="475569"/>
              </a:solidFill>
              <a:latin typeface="Heebo"/>
              <a:ea typeface="Heebo"/>
              <a:cs typeface="Heebo"/>
              <a:sym typeface="Heebo"/>
            </a:endParaRPr>
          </a:p>
        </p:txBody>
      </p:sp>
      <p:sp>
        <p:nvSpPr>
          <p:cNvPr id="110" name="Google Shape;110;p16"/>
          <p:cNvSpPr txBox="1"/>
          <p:nvPr/>
        </p:nvSpPr>
        <p:spPr>
          <a:xfrm>
            <a:off x="1356938" y="5133650"/>
            <a:ext cx="9811500" cy="431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lang="en-US" sz="2800">
                <a:solidFill>
                  <a:srgbClr val="475569"/>
                </a:solidFill>
                <a:latin typeface="Heebo"/>
                <a:ea typeface="Heebo"/>
                <a:cs typeface="Heebo"/>
                <a:sym typeface="Heebo"/>
              </a:rPr>
              <a:t>The suitability of XAI methods varies across domains.</a:t>
            </a:r>
            <a:endParaRPr sz="2800">
              <a:solidFill>
                <a:srgbClr val="475569"/>
              </a:solidFill>
              <a:latin typeface="Heebo"/>
              <a:ea typeface="Heebo"/>
              <a:cs typeface="Heebo"/>
              <a:sym typeface="Heebo"/>
            </a:endParaRPr>
          </a:p>
        </p:txBody>
      </p:sp>
      <p:pic>
        <p:nvPicPr>
          <p:cNvPr descr="image.png" id="111" name="Google Shape;111;p16"/>
          <p:cNvPicPr preferRelativeResize="0"/>
          <p:nvPr/>
        </p:nvPicPr>
        <p:blipFill rotWithShape="1">
          <a:blip r:embed="rId4">
            <a:alphaModFix/>
          </a:blip>
          <a:srcRect b="0" l="0" r="0" t="0"/>
          <a:stretch/>
        </p:blipFill>
        <p:spPr>
          <a:xfrm>
            <a:off x="571508" y="1968371"/>
            <a:ext cx="427706" cy="427706"/>
          </a:xfrm>
          <a:prstGeom prst="rect">
            <a:avLst/>
          </a:prstGeom>
          <a:noFill/>
          <a:ln>
            <a:noFill/>
          </a:ln>
        </p:spPr>
      </p:pic>
      <p:pic>
        <p:nvPicPr>
          <p:cNvPr descr="image.png" id="112" name="Google Shape;112;p16"/>
          <p:cNvPicPr preferRelativeResize="0"/>
          <p:nvPr/>
        </p:nvPicPr>
        <p:blipFill rotWithShape="1">
          <a:blip r:embed="rId5">
            <a:alphaModFix/>
          </a:blip>
          <a:srcRect b="0" l="0" r="0" t="0"/>
          <a:stretch/>
        </p:blipFill>
        <p:spPr>
          <a:xfrm>
            <a:off x="699823" y="2096682"/>
            <a:ext cx="171083" cy="171083"/>
          </a:xfrm>
          <a:prstGeom prst="rect">
            <a:avLst/>
          </a:prstGeom>
          <a:noFill/>
          <a:ln>
            <a:noFill/>
          </a:ln>
        </p:spPr>
      </p:pic>
      <p:pic>
        <p:nvPicPr>
          <p:cNvPr descr="image.png" id="113" name="Google Shape;113;p16"/>
          <p:cNvPicPr preferRelativeResize="0"/>
          <p:nvPr/>
        </p:nvPicPr>
        <p:blipFill rotWithShape="1">
          <a:blip r:embed="rId6">
            <a:alphaModFix/>
          </a:blip>
          <a:srcRect b="0" l="0" r="0" t="0"/>
          <a:stretch/>
        </p:blipFill>
        <p:spPr>
          <a:xfrm>
            <a:off x="571496" y="3238839"/>
            <a:ext cx="427706" cy="427706"/>
          </a:xfrm>
          <a:prstGeom prst="rect">
            <a:avLst/>
          </a:prstGeom>
          <a:noFill/>
          <a:ln>
            <a:noFill/>
          </a:ln>
        </p:spPr>
      </p:pic>
      <p:pic>
        <p:nvPicPr>
          <p:cNvPr descr="image.png" id="114" name="Google Shape;114;p16"/>
          <p:cNvPicPr preferRelativeResize="0"/>
          <p:nvPr/>
        </p:nvPicPr>
        <p:blipFill rotWithShape="1">
          <a:blip r:embed="rId7">
            <a:alphaModFix/>
          </a:blip>
          <a:srcRect b="0" l="0" r="0" t="0"/>
          <a:stretch/>
        </p:blipFill>
        <p:spPr>
          <a:xfrm>
            <a:off x="678424" y="3367151"/>
            <a:ext cx="213859" cy="171083"/>
          </a:xfrm>
          <a:prstGeom prst="rect">
            <a:avLst/>
          </a:prstGeom>
          <a:noFill/>
          <a:ln>
            <a:noFill/>
          </a:ln>
        </p:spPr>
      </p:pic>
      <p:pic>
        <p:nvPicPr>
          <p:cNvPr descr="image.png" id="115" name="Google Shape;115;p16"/>
          <p:cNvPicPr preferRelativeResize="0"/>
          <p:nvPr/>
        </p:nvPicPr>
        <p:blipFill rotWithShape="1">
          <a:blip r:embed="rId8">
            <a:alphaModFix/>
          </a:blip>
          <a:srcRect b="0" l="0" r="0" t="0"/>
          <a:stretch/>
        </p:blipFill>
        <p:spPr>
          <a:xfrm>
            <a:off x="571500" y="4171772"/>
            <a:ext cx="427706" cy="427706"/>
          </a:xfrm>
          <a:prstGeom prst="rect">
            <a:avLst/>
          </a:prstGeom>
          <a:noFill/>
          <a:ln>
            <a:noFill/>
          </a:ln>
        </p:spPr>
      </p:pic>
      <p:pic>
        <p:nvPicPr>
          <p:cNvPr descr="image.png" id="116" name="Google Shape;116;p16"/>
          <p:cNvPicPr preferRelativeResize="0"/>
          <p:nvPr/>
        </p:nvPicPr>
        <p:blipFill rotWithShape="1">
          <a:blip r:embed="rId9">
            <a:alphaModFix/>
          </a:blip>
          <a:srcRect b="0" l="0" r="0" t="0"/>
          <a:stretch/>
        </p:blipFill>
        <p:spPr>
          <a:xfrm>
            <a:off x="699815" y="4300084"/>
            <a:ext cx="171087" cy="171083"/>
          </a:xfrm>
          <a:prstGeom prst="rect">
            <a:avLst/>
          </a:prstGeom>
          <a:noFill/>
          <a:ln>
            <a:noFill/>
          </a:ln>
        </p:spPr>
      </p:pic>
      <p:pic>
        <p:nvPicPr>
          <p:cNvPr descr="image.png" id="117" name="Google Shape;117;p16"/>
          <p:cNvPicPr preferRelativeResize="0"/>
          <p:nvPr/>
        </p:nvPicPr>
        <p:blipFill rotWithShape="1">
          <a:blip r:embed="rId10">
            <a:alphaModFix/>
          </a:blip>
          <a:srcRect b="0" l="0" r="0" t="0"/>
          <a:stretch/>
        </p:blipFill>
        <p:spPr>
          <a:xfrm>
            <a:off x="571500" y="5135339"/>
            <a:ext cx="427706" cy="427706"/>
          </a:xfrm>
          <a:prstGeom prst="rect">
            <a:avLst/>
          </a:prstGeom>
          <a:noFill/>
          <a:ln>
            <a:noFill/>
          </a:ln>
        </p:spPr>
      </p:pic>
      <p:pic>
        <p:nvPicPr>
          <p:cNvPr descr="image.png" id="118" name="Google Shape;118;p16"/>
          <p:cNvPicPr preferRelativeResize="0"/>
          <p:nvPr/>
        </p:nvPicPr>
        <p:blipFill rotWithShape="1">
          <a:blip r:embed="rId11">
            <a:alphaModFix/>
          </a:blip>
          <a:srcRect b="0" l="0" r="0" t="0"/>
          <a:stretch/>
        </p:blipFill>
        <p:spPr>
          <a:xfrm>
            <a:off x="699815" y="5263651"/>
            <a:ext cx="171087" cy="17108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7"/>
          <p:cNvSpPr txBox="1"/>
          <p:nvPr/>
        </p:nvSpPr>
        <p:spPr>
          <a:xfrm>
            <a:off x="768450" y="3044250"/>
            <a:ext cx="10655100" cy="7695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lang="en-US" sz="5000">
                <a:solidFill>
                  <a:srgbClr val="1E3A8A"/>
                </a:solidFill>
                <a:latin typeface="Rubik ExtraBold"/>
                <a:ea typeface="Rubik ExtraBold"/>
                <a:cs typeface="Rubik ExtraBold"/>
                <a:sym typeface="Rubik ExtraBold"/>
              </a:rPr>
              <a:t>Background and Related work</a:t>
            </a:r>
            <a:endParaRPr sz="5000">
              <a:latin typeface="Rubik ExtraBold"/>
              <a:ea typeface="Rubik ExtraBold"/>
              <a:cs typeface="Rubik ExtraBold"/>
              <a:sym typeface="Rubik ExtraBold"/>
            </a:endParaRPr>
          </a:p>
        </p:txBody>
      </p:sp>
      <p:sp>
        <p:nvSpPr>
          <p:cNvPr id="124" name="Google Shape;124;p17"/>
          <p:cNvSpPr txBox="1"/>
          <p:nvPr>
            <p:ph idx="12" type="sldNum"/>
          </p:nvPr>
        </p:nvSpPr>
        <p:spPr>
          <a:xfrm>
            <a:off x="984025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8" name="Shape 128"/>
        <p:cNvGrpSpPr/>
        <p:nvPr/>
      </p:nvGrpSpPr>
      <p:grpSpPr>
        <a:xfrm>
          <a:off x="0" y="0"/>
          <a:ext cx="0" cy="0"/>
          <a:chOff x="0" y="0"/>
          <a:chExt cx="0" cy="0"/>
        </a:xfrm>
      </p:grpSpPr>
      <p:sp>
        <p:nvSpPr>
          <p:cNvPr id="129" name="Google Shape;129;p18"/>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3600">
                <a:solidFill>
                  <a:srgbClr val="1E3A8A"/>
                </a:solidFill>
                <a:latin typeface="Rubik"/>
                <a:ea typeface="Rubik"/>
                <a:cs typeface="Rubik"/>
                <a:sym typeface="Rubik"/>
              </a:rPr>
              <a:t>AI Evolution &amp; Adoption Across Domains</a:t>
            </a:r>
            <a:endParaRPr/>
          </a:p>
        </p:txBody>
      </p:sp>
      <p:sp>
        <p:nvSpPr>
          <p:cNvPr id="130" name="Google Shape;130;p18"/>
          <p:cNvSpPr txBox="1"/>
          <p:nvPr>
            <p:ph idx="12" type="sldNum"/>
          </p:nvPr>
        </p:nvSpPr>
        <p:spPr>
          <a:xfrm>
            <a:off x="9858926" y="6375026"/>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131" name="Google Shape;131;p18"/>
          <p:cNvSpPr txBox="1"/>
          <p:nvPr/>
        </p:nvSpPr>
        <p:spPr>
          <a:xfrm>
            <a:off x="571500" y="1642225"/>
            <a:ext cx="11323800" cy="5097900"/>
          </a:xfrm>
          <a:prstGeom prst="rect">
            <a:avLst/>
          </a:prstGeom>
          <a:noFill/>
          <a:ln>
            <a:noFill/>
          </a:ln>
        </p:spPr>
        <p:txBody>
          <a:bodyPr anchorCtr="0" anchor="t" bIns="0" lIns="0" spcFirstLastPara="1" rIns="0" wrap="square" tIns="0">
            <a:spAutoFit/>
          </a:bodyPr>
          <a:lstStyle/>
          <a:p>
            <a:pPr indent="0" lvl="0" marL="0" rtl="0" algn="l">
              <a:lnSpc>
                <a:spcPct val="160000"/>
              </a:lnSpc>
              <a:spcBef>
                <a:spcPts val="0"/>
              </a:spcBef>
              <a:spcAft>
                <a:spcPts val="0"/>
              </a:spcAft>
              <a:buSzPts val="1100"/>
              <a:buNone/>
            </a:pPr>
            <a:r>
              <a:rPr lang="en-US" sz="2400">
                <a:solidFill>
                  <a:srgbClr val="475569"/>
                </a:solidFill>
                <a:latin typeface="Heebo"/>
                <a:ea typeface="Heebo"/>
                <a:cs typeface="Heebo"/>
                <a:sym typeface="Heebo"/>
              </a:rPr>
              <a:t>AI has evolved significantly over the years, transitioning from rule-based systems to a central component in decision-making processes across multiple domains.</a:t>
            </a:r>
            <a:endParaRPr sz="2400">
              <a:solidFill>
                <a:srgbClr val="475569"/>
              </a:solidFill>
              <a:latin typeface="Heebo"/>
              <a:ea typeface="Heebo"/>
              <a:cs typeface="Heebo"/>
              <a:sym typeface="Heebo"/>
            </a:endParaRPr>
          </a:p>
          <a:p>
            <a:pPr indent="0" lvl="0" marL="0" rtl="0" algn="l">
              <a:lnSpc>
                <a:spcPct val="160000"/>
              </a:lnSpc>
              <a:spcBef>
                <a:spcPts val="0"/>
              </a:spcBef>
              <a:spcAft>
                <a:spcPts val="0"/>
              </a:spcAft>
              <a:buSzPts val="1100"/>
              <a:buNone/>
            </a:pPr>
            <a:r>
              <a:t/>
            </a:r>
            <a:endParaRPr sz="2400">
              <a:solidFill>
                <a:schemeClr val="dk2"/>
              </a:solidFill>
              <a:latin typeface="Heebo"/>
              <a:ea typeface="Heebo"/>
              <a:cs typeface="Heebo"/>
              <a:sym typeface="Heebo"/>
            </a:endParaRPr>
          </a:p>
          <a:p>
            <a:pPr indent="0" lvl="0" marL="0" rtl="0" algn="l">
              <a:lnSpc>
                <a:spcPct val="160000"/>
              </a:lnSpc>
              <a:spcBef>
                <a:spcPts val="0"/>
              </a:spcBef>
              <a:spcAft>
                <a:spcPts val="0"/>
              </a:spcAft>
              <a:buSzPts val="1100"/>
              <a:buNone/>
            </a:pPr>
            <a:r>
              <a:rPr b="1" lang="en-US" sz="2400">
                <a:solidFill>
                  <a:schemeClr val="dk2"/>
                </a:solidFill>
                <a:latin typeface="Heebo"/>
                <a:ea typeface="Heebo"/>
                <a:cs typeface="Heebo"/>
                <a:sym typeface="Heebo"/>
              </a:rPr>
              <a:t>For Example:</a:t>
            </a:r>
            <a:endParaRPr b="1" sz="2400">
              <a:solidFill>
                <a:schemeClr val="dk2"/>
              </a:solidFill>
              <a:latin typeface="Heebo"/>
              <a:ea typeface="Heebo"/>
              <a:cs typeface="Heebo"/>
              <a:sym typeface="Heebo"/>
            </a:endParaRPr>
          </a:p>
          <a:p>
            <a:pPr indent="0" lvl="0" marL="457200" marR="0" rtl="0" algn="l">
              <a:lnSpc>
                <a:spcPct val="160000"/>
              </a:lnSpc>
              <a:spcBef>
                <a:spcPts val="0"/>
              </a:spcBef>
              <a:spcAft>
                <a:spcPts val="0"/>
              </a:spcAft>
              <a:buNone/>
            </a:pPr>
            <a:r>
              <a:rPr b="1" lang="en-US" sz="2400">
                <a:solidFill>
                  <a:srgbClr val="475569"/>
                </a:solidFill>
                <a:latin typeface="Heebo"/>
                <a:ea typeface="Heebo"/>
                <a:cs typeface="Heebo"/>
                <a:sym typeface="Heebo"/>
              </a:rPr>
              <a:t>In Healthcare,</a:t>
            </a:r>
            <a:r>
              <a:rPr lang="en-US" sz="2400">
                <a:solidFill>
                  <a:srgbClr val="475569"/>
                </a:solidFill>
                <a:latin typeface="Heebo"/>
                <a:ea typeface="Heebo"/>
                <a:cs typeface="Heebo"/>
                <a:sym typeface="Heebo"/>
              </a:rPr>
              <a:t> systems now analyze medical images to support diagnosis</a:t>
            </a:r>
            <a:r>
              <a:rPr lang="en-US" sz="2400">
                <a:solidFill>
                  <a:srgbClr val="475569"/>
                </a:solidFill>
                <a:latin typeface="Heebo"/>
                <a:ea typeface="Heebo"/>
                <a:cs typeface="Heebo"/>
                <a:sym typeface="Heebo"/>
              </a:rPr>
              <a:t> </a:t>
            </a:r>
            <a:r>
              <a:rPr lang="en-US" sz="2400">
                <a:solidFill>
                  <a:srgbClr val="475569"/>
                </a:solidFill>
                <a:latin typeface="Heebo"/>
                <a:ea typeface="Heebo"/>
                <a:cs typeface="Heebo"/>
                <a:sym typeface="Heebo"/>
              </a:rPr>
              <a:t>.</a:t>
            </a:r>
            <a:endParaRPr sz="2400">
              <a:solidFill>
                <a:srgbClr val="475569"/>
              </a:solidFill>
              <a:latin typeface="Heebo"/>
              <a:ea typeface="Heebo"/>
              <a:cs typeface="Heebo"/>
              <a:sym typeface="Heebo"/>
            </a:endParaRPr>
          </a:p>
          <a:p>
            <a:pPr indent="0" lvl="0" marL="457200" marR="0" rtl="0" algn="l">
              <a:lnSpc>
                <a:spcPct val="160000"/>
              </a:lnSpc>
              <a:spcBef>
                <a:spcPts val="0"/>
              </a:spcBef>
              <a:spcAft>
                <a:spcPts val="0"/>
              </a:spcAft>
              <a:buNone/>
            </a:pPr>
            <a:r>
              <a:rPr b="1" lang="en-US" sz="2400">
                <a:solidFill>
                  <a:srgbClr val="475569"/>
                </a:solidFill>
                <a:latin typeface="Heebo"/>
                <a:ea typeface="Heebo"/>
                <a:cs typeface="Heebo"/>
                <a:sym typeface="Heebo"/>
              </a:rPr>
              <a:t>In Finance,</a:t>
            </a:r>
            <a:r>
              <a:rPr lang="en-US" sz="2400">
                <a:solidFill>
                  <a:srgbClr val="475569"/>
                </a:solidFill>
                <a:latin typeface="Heebo"/>
                <a:ea typeface="Heebo"/>
                <a:cs typeface="Heebo"/>
                <a:sym typeface="Heebo"/>
              </a:rPr>
              <a:t> algorithms drive credit scoring and investment strategies. </a:t>
            </a:r>
            <a:endParaRPr sz="2400">
              <a:solidFill>
                <a:srgbClr val="475569"/>
              </a:solidFill>
              <a:latin typeface="Heebo"/>
              <a:ea typeface="Heebo"/>
              <a:cs typeface="Heebo"/>
              <a:sym typeface="Heebo"/>
            </a:endParaRPr>
          </a:p>
          <a:p>
            <a:pPr indent="0" lvl="0" marL="457200" marR="0" rtl="0" algn="l">
              <a:lnSpc>
                <a:spcPct val="160000"/>
              </a:lnSpc>
              <a:spcBef>
                <a:spcPts val="0"/>
              </a:spcBef>
              <a:spcAft>
                <a:spcPts val="0"/>
              </a:spcAft>
              <a:buNone/>
            </a:pPr>
            <a:r>
              <a:rPr b="1" lang="en-US" sz="2400">
                <a:solidFill>
                  <a:srgbClr val="475569"/>
                </a:solidFill>
                <a:latin typeface="Heebo"/>
                <a:ea typeface="Heebo"/>
                <a:cs typeface="Heebo"/>
                <a:sym typeface="Heebo"/>
              </a:rPr>
              <a:t>In Logistics,</a:t>
            </a:r>
            <a:r>
              <a:rPr lang="en-US" sz="2400">
                <a:solidFill>
                  <a:srgbClr val="475569"/>
                </a:solidFill>
                <a:latin typeface="Heebo"/>
                <a:ea typeface="Heebo"/>
                <a:cs typeface="Heebo"/>
                <a:sym typeface="Heebo"/>
              </a:rPr>
              <a:t> AI models are essential for route planning and inventory management.</a:t>
            </a:r>
            <a:endParaRPr sz="2400">
              <a:solidFill>
                <a:srgbClr val="475569"/>
              </a:solidFill>
              <a:latin typeface="Heebo"/>
              <a:ea typeface="Heebo"/>
              <a:cs typeface="Heebo"/>
              <a:sym typeface="Heebo"/>
            </a:endParaRPr>
          </a:p>
          <a:p>
            <a:pPr indent="0" lvl="0" marL="0" marR="0" rtl="0" algn="l">
              <a:lnSpc>
                <a:spcPct val="160000"/>
              </a:lnSpc>
              <a:spcBef>
                <a:spcPts val="0"/>
              </a:spcBef>
              <a:spcAft>
                <a:spcPts val="0"/>
              </a:spcAft>
              <a:buNone/>
            </a:pPr>
            <a:r>
              <a:t/>
            </a:r>
            <a:endParaRPr sz="2400">
              <a:solidFill>
                <a:srgbClr val="475569"/>
              </a:solidFill>
              <a:latin typeface="Heebo"/>
              <a:ea typeface="Heebo"/>
              <a:cs typeface="Heebo"/>
              <a:sym typeface="Heebo"/>
            </a:endParaRPr>
          </a:p>
        </p:txBody>
      </p:sp>
      <p:pic>
        <p:nvPicPr>
          <p:cNvPr descr="image.png" id="132" name="Google Shape;132;p18"/>
          <p:cNvPicPr preferRelativeResize="0"/>
          <p:nvPr/>
        </p:nvPicPr>
        <p:blipFill rotWithShape="1">
          <a:blip r:embed="rId4">
            <a:alphaModFix/>
          </a:blip>
          <a:srcRect b="0" l="0" r="0" t="0"/>
          <a:stretch/>
        </p:blipFill>
        <p:spPr>
          <a:xfrm>
            <a:off x="571500" y="4030125"/>
            <a:ext cx="322100" cy="322100"/>
          </a:xfrm>
          <a:prstGeom prst="rect">
            <a:avLst/>
          </a:prstGeom>
          <a:noFill/>
          <a:ln>
            <a:noFill/>
          </a:ln>
        </p:spPr>
      </p:pic>
      <p:pic>
        <p:nvPicPr>
          <p:cNvPr descr="image.png" id="133" name="Google Shape;133;p18"/>
          <p:cNvPicPr preferRelativeResize="0"/>
          <p:nvPr/>
        </p:nvPicPr>
        <p:blipFill rotWithShape="1">
          <a:blip r:embed="rId5">
            <a:alphaModFix/>
          </a:blip>
          <a:srcRect b="0" l="0" r="0" t="0"/>
          <a:stretch/>
        </p:blipFill>
        <p:spPr>
          <a:xfrm>
            <a:off x="668137" y="4126757"/>
            <a:ext cx="128849" cy="128842"/>
          </a:xfrm>
          <a:prstGeom prst="rect">
            <a:avLst/>
          </a:prstGeom>
          <a:noFill/>
          <a:ln>
            <a:noFill/>
          </a:ln>
        </p:spPr>
      </p:pic>
      <p:pic>
        <p:nvPicPr>
          <p:cNvPr descr="image.png" id="134" name="Google Shape;134;p18"/>
          <p:cNvPicPr preferRelativeResize="0"/>
          <p:nvPr/>
        </p:nvPicPr>
        <p:blipFill rotWithShape="1">
          <a:blip r:embed="rId6">
            <a:alphaModFix/>
          </a:blip>
          <a:srcRect b="0" l="0" r="0" t="0"/>
          <a:stretch/>
        </p:blipFill>
        <p:spPr>
          <a:xfrm>
            <a:off x="571500" y="4617574"/>
            <a:ext cx="322100" cy="322100"/>
          </a:xfrm>
          <a:prstGeom prst="rect">
            <a:avLst/>
          </a:prstGeom>
          <a:noFill/>
          <a:ln>
            <a:noFill/>
          </a:ln>
        </p:spPr>
      </p:pic>
      <p:pic>
        <p:nvPicPr>
          <p:cNvPr descr="image.png" id="135" name="Google Shape;135;p18"/>
          <p:cNvPicPr preferRelativeResize="0"/>
          <p:nvPr/>
        </p:nvPicPr>
        <p:blipFill rotWithShape="1">
          <a:blip r:embed="rId7">
            <a:alphaModFix/>
          </a:blip>
          <a:srcRect b="0" l="0" r="0" t="0"/>
          <a:stretch/>
        </p:blipFill>
        <p:spPr>
          <a:xfrm>
            <a:off x="668137" y="4714206"/>
            <a:ext cx="128840" cy="128840"/>
          </a:xfrm>
          <a:prstGeom prst="rect">
            <a:avLst/>
          </a:prstGeom>
          <a:noFill/>
          <a:ln>
            <a:noFill/>
          </a:ln>
        </p:spPr>
      </p:pic>
      <p:pic>
        <p:nvPicPr>
          <p:cNvPr descr="image.png" id="136" name="Google Shape;136;p18"/>
          <p:cNvPicPr preferRelativeResize="0"/>
          <p:nvPr/>
        </p:nvPicPr>
        <p:blipFill rotWithShape="1">
          <a:blip r:embed="rId8">
            <a:alphaModFix/>
          </a:blip>
          <a:srcRect b="0" l="0" r="0" t="0"/>
          <a:stretch/>
        </p:blipFill>
        <p:spPr>
          <a:xfrm>
            <a:off x="571500" y="5205027"/>
            <a:ext cx="322100" cy="322100"/>
          </a:xfrm>
          <a:prstGeom prst="rect">
            <a:avLst/>
          </a:prstGeom>
          <a:noFill/>
          <a:ln>
            <a:noFill/>
          </a:ln>
        </p:spPr>
      </p:pic>
      <p:pic>
        <p:nvPicPr>
          <p:cNvPr descr="image.png" id="137" name="Google Shape;137;p18"/>
          <p:cNvPicPr preferRelativeResize="0"/>
          <p:nvPr/>
        </p:nvPicPr>
        <p:blipFill rotWithShape="1">
          <a:blip r:embed="rId9">
            <a:alphaModFix/>
          </a:blip>
          <a:srcRect b="0" l="0" r="0" t="0"/>
          <a:stretch/>
        </p:blipFill>
        <p:spPr>
          <a:xfrm>
            <a:off x="652031" y="5301659"/>
            <a:ext cx="161050" cy="12884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9"/>
          <p:cNvSpPr txBox="1"/>
          <p:nvPr>
            <p:ph idx="12" type="sldNum"/>
          </p:nvPr>
        </p:nvSpPr>
        <p:spPr>
          <a:xfrm>
            <a:off x="9858926" y="6375026"/>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143" name="Google Shape;143;p19"/>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3600">
                <a:solidFill>
                  <a:srgbClr val="1E3A8A"/>
                </a:solidFill>
                <a:latin typeface="Rubik"/>
                <a:ea typeface="Rubik"/>
                <a:cs typeface="Rubik"/>
                <a:sym typeface="Rubik"/>
              </a:rPr>
              <a:t>The Black Box Problem</a:t>
            </a:r>
            <a:endParaRPr/>
          </a:p>
        </p:txBody>
      </p:sp>
      <p:sp>
        <p:nvSpPr>
          <p:cNvPr id="144" name="Google Shape;144;p19"/>
          <p:cNvSpPr txBox="1"/>
          <p:nvPr/>
        </p:nvSpPr>
        <p:spPr>
          <a:xfrm>
            <a:off x="571500" y="1369350"/>
            <a:ext cx="11144400" cy="3324900"/>
          </a:xfrm>
          <a:prstGeom prst="rect">
            <a:avLst/>
          </a:prstGeom>
          <a:noFill/>
          <a:ln>
            <a:noFill/>
          </a:ln>
        </p:spPr>
        <p:txBody>
          <a:bodyPr anchorCtr="0" anchor="t" bIns="0" lIns="0" spcFirstLastPara="1" rIns="0" wrap="square" tIns="0">
            <a:spAutoFit/>
          </a:bodyPr>
          <a:lstStyle/>
          <a:p>
            <a:pPr indent="0" lvl="0" marL="0" rtl="0" algn="l">
              <a:lnSpc>
                <a:spcPct val="160000"/>
              </a:lnSpc>
              <a:spcBef>
                <a:spcPts val="0"/>
              </a:spcBef>
              <a:spcAft>
                <a:spcPts val="0"/>
              </a:spcAft>
              <a:buSzPts val="1100"/>
              <a:buNone/>
            </a:pPr>
            <a:r>
              <a:rPr b="1" lang="en-US" sz="2400">
                <a:solidFill>
                  <a:srgbClr val="475569"/>
                </a:solidFill>
                <a:latin typeface="Heebo"/>
                <a:ea typeface="Heebo"/>
                <a:cs typeface="Heebo"/>
                <a:sym typeface="Heebo"/>
              </a:rPr>
              <a:t>The main challenge with modern AI is the Black Box problem.</a:t>
            </a:r>
            <a:endParaRPr b="1" sz="2400">
              <a:solidFill>
                <a:srgbClr val="475569"/>
              </a:solidFill>
              <a:latin typeface="Heebo"/>
              <a:ea typeface="Heebo"/>
              <a:cs typeface="Heebo"/>
              <a:sym typeface="Heebo"/>
            </a:endParaRPr>
          </a:p>
          <a:p>
            <a:pPr indent="0" lvl="0" marL="0" rtl="0" algn="l">
              <a:lnSpc>
                <a:spcPct val="160000"/>
              </a:lnSpc>
              <a:spcBef>
                <a:spcPts val="0"/>
              </a:spcBef>
              <a:spcAft>
                <a:spcPts val="0"/>
              </a:spcAft>
              <a:buSzPts val="1100"/>
              <a:buNone/>
            </a:pPr>
            <a:r>
              <a:rPr lang="en-US" sz="2400">
                <a:solidFill>
                  <a:srgbClr val="475569"/>
                </a:solidFill>
                <a:latin typeface="Heebo"/>
                <a:ea typeface="Heebo"/>
                <a:cs typeface="Heebo"/>
                <a:sym typeface="Heebo"/>
              </a:rPr>
              <a:t>While the input and output of AI systems are observable, the internal decision-making logic remains hidden.</a:t>
            </a:r>
            <a:endParaRPr sz="2400">
              <a:solidFill>
                <a:srgbClr val="475569"/>
              </a:solidFill>
              <a:latin typeface="Heebo"/>
              <a:ea typeface="Heebo"/>
              <a:cs typeface="Heebo"/>
              <a:sym typeface="Heebo"/>
            </a:endParaRPr>
          </a:p>
          <a:p>
            <a:pPr indent="0" lvl="0" marL="0" rtl="0" algn="l">
              <a:lnSpc>
                <a:spcPct val="160000"/>
              </a:lnSpc>
              <a:spcBef>
                <a:spcPts val="0"/>
              </a:spcBef>
              <a:spcAft>
                <a:spcPts val="0"/>
              </a:spcAft>
              <a:buSzPts val="1100"/>
              <a:buNone/>
            </a:pPr>
            <a:r>
              <a:rPr b="1" lang="en-US" sz="2400">
                <a:solidFill>
                  <a:srgbClr val="475569"/>
                </a:solidFill>
                <a:latin typeface="Heebo"/>
                <a:ea typeface="Heebo"/>
                <a:cs typeface="Heebo"/>
                <a:sym typeface="Heebo"/>
              </a:rPr>
              <a:t>As a result, users are unable to understand how decisions are made, which directly affects their trust in the system.</a:t>
            </a:r>
            <a:endParaRPr b="1" sz="2400">
              <a:solidFill>
                <a:srgbClr val="475569"/>
              </a:solidFill>
              <a:latin typeface="Heebo"/>
              <a:ea typeface="Heebo"/>
              <a:cs typeface="Heebo"/>
              <a:sym typeface="Heebo"/>
            </a:endParaRPr>
          </a:p>
          <a:p>
            <a:pPr indent="0" lvl="0" marL="0" rtl="0" algn="l">
              <a:lnSpc>
                <a:spcPct val="160000"/>
              </a:lnSpc>
              <a:spcBef>
                <a:spcPts val="0"/>
              </a:spcBef>
              <a:spcAft>
                <a:spcPts val="0"/>
              </a:spcAft>
              <a:buSzPts val="1100"/>
              <a:buNone/>
            </a:pPr>
            <a:r>
              <a:t/>
            </a:r>
            <a:endParaRPr b="1" sz="2400">
              <a:solidFill>
                <a:srgbClr val="475569"/>
              </a:solidFill>
              <a:latin typeface="Heebo"/>
              <a:ea typeface="Heebo"/>
              <a:cs typeface="Heebo"/>
              <a:sym typeface="Heebo"/>
            </a:endParaRPr>
          </a:p>
        </p:txBody>
      </p:sp>
      <p:pic>
        <p:nvPicPr>
          <p:cNvPr descr="image.png" id="145" name="Google Shape;145;p19"/>
          <p:cNvPicPr preferRelativeResize="0"/>
          <p:nvPr/>
        </p:nvPicPr>
        <p:blipFill rotWithShape="1">
          <a:blip r:embed="rId3">
            <a:alphaModFix/>
          </a:blip>
          <a:srcRect b="22563" l="6367" r="0" t="14197"/>
          <a:stretch/>
        </p:blipFill>
        <p:spPr>
          <a:xfrm>
            <a:off x="6627675" y="3845800"/>
            <a:ext cx="4905425" cy="24092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9" name="Shape 149"/>
        <p:cNvGrpSpPr/>
        <p:nvPr/>
      </p:nvGrpSpPr>
      <p:grpSpPr>
        <a:xfrm>
          <a:off x="0" y="0"/>
          <a:ext cx="0" cy="0"/>
          <a:chOff x="0" y="0"/>
          <a:chExt cx="0" cy="0"/>
        </a:xfrm>
      </p:grpSpPr>
      <p:sp>
        <p:nvSpPr>
          <p:cNvPr id="150" name="Google Shape;150;p20"/>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3600">
                <a:solidFill>
                  <a:srgbClr val="1E3A8A"/>
                </a:solidFill>
                <a:latin typeface="Rubik"/>
                <a:ea typeface="Rubik"/>
                <a:cs typeface="Rubik"/>
                <a:sym typeface="Rubik"/>
              </a:rPr>
              <a:t>The Impact of Risk on AI Decision-Making</a:t>
            </a:r>
            <a:endParaRPr/>
          </a:p>
        </p:txBody>
      </p:sp>
      <p:sp>
        <p:nvSpPr>
          <p:cNvPr id="151" name="Google Shape;151;p20"/>
          <p:cNvSpPr txBox="1"/>
          <p:nvPr>
            <p:ph idx="12" type="sldNum"/>
          </p:nvPr>
        </p:nvSpPr>
        <p:spPr>
          <a:xfrm>
            <a:off x="9858926" y="6375026"/>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152" name="Google Shape;152;p20"/>
          <p:cNvSpPr txBox="1"/>
          <p:nvPr/>
        </p:nvSpPr>
        <p:spPr>
          <a:xfrm>
            <a:off x="571500" y="1423734"/>
            <a:ext cx="10537200" cy="1551600"/>
          </a:xfrm>
          <a:prstGeom prst="rect">
            <a:avLst/>
          </a:prstGeom>
          <a:noFill/>
          <a:ln>
            <a:noFill/>
          </a:ln>
        </p:spPr>
        <p:txBody>
          <a:bodyPr anchorCtr="0" anchor="t" bIns="0" lIns="0" spcFirstLastPara="1" rIns="0" wrap="square" tIns="0">
            <a:spAutoFit/>
          </a:bodyPr>
          <a:lstStyle/>
          <a:p>
            <a:pPr indent="0" lvl="0" marL="0" rtl="0" algn="l">
              <a:lnSpc>
                <a:spcPct val="160000"/>
              </a:lnSpc>
              <a:spcBef>
                <a:spcPts val="0"/>
              </a:spcBef>
              <a:spcAft>
                <a:spcPts val="0"/>
              </a:spcAft>
              <a:buSzPts val="1100"/>
              <a:buNone/>
            </a:pPr>
            <a:r>
              <a:rPr lang="en-US" sz="2400">
                <a:solidFill>
                  <a:srgbClr val="475569"/>
                </a:solidFill>
                <a:latin typeface="Heebo"/>
                <a:ea typeface="Heebo"/>
                <a:cs typeface="Heebo"/>
                <a:sym typeface="Heebo"/>
              </a:rPr>
              <a:t>AI's impact on decision-making varies across domains with different risk levels, each presenting unique challenges and opportunities.</a:t>
            </a:r>
            <a:endParaRPr sz="2400">
              <a:solidFill>
                <a:srgbClr val="475569"/>
              </a:solidFill>
              <a:latin typeface="Heebo"/>
              <a:ea typeface="Heebo"/>
              <a:cs typeface="Heebo"/>
              <a:sym typeface="Heebo"/>
            </a:endParaRPr>
          </a:p>
          <a:p>
            <a:pPr indent="0" lvl="0" marL="0" rtl="0" algn="l">
              <a:lnSpc>
                <a:spcPct val="160000"/>
              </a:lnSpc>
              <a:spcBef>
                <a:spcPts val="0"/>
              </a:spcBef>
              <a:spcAft>
                <a:spcPts val="0"/>
              </a:spcAft>
              <a:buSzPts val="1100"/>
              <a:buNone/>
            </a:pPr>
            <a:r>
              <a:rPr b="1" lang="en-US" sz="2400">
                <a:solidFill>
                  <a:srgbClr val="475569"/>
                </a:solidFill>
                <a:latin typeface="Heebo"/>
                <a:ea typeface="Heebo"/>
                <a:cs typeface="Heebo"/>
                <a:sym typeface="Heebo"/>
              </a:rPr>
              <a:t>In this research, we define these risk levels as follows:</a:t>
            </a:r>
            <a:endParaRPr sz="2400">
              <a:solidFill>
                <a:srgbClr val="475569"/>
              </a:solidFill>
              <a:latin typeface="Heebo"/>
              <a:ea typeface="Heebo"/>
              <a:cs typeface="Heebo"/>
              <a:sym typeface="Heebo"/>
            </a:endParaRPr>
          </a:p>
        </p:txBody>
      </p:sp>
      <p:pic>
        <p:nvPicPr>
          <p:cNvPr descr="image.png" id="153" name="Google Shape;153;p20"/>
          <p:cNvPicPr preferRelativeResize="0"/>
          <p:nvPr/>
        </p:nvPicPr>
        <p:blipFill rotWithShape="1">
          <a:blip r:embed="rId4">
            <a:alphaModFix/>
          </a:blip>
          <a:srcRect b="0" l="0" r="0" t="0"/>
          <a:stretch/>
        </p:blipFill>
        <p:spPr>
          <a:xfrm>
            <a:off x="571500" y="3668050"/>
            <a:ext cx="3555950" cy="2857500"/>
          </a:xfrm>
          <a:prstGeom prst="rect">
            <a:avLst/>
          </a:prstGeom>
          <a:noFill/>
          <a:ln>
            <a:noFill/>
          </a:ln>
        </p:spPr>
      </p:pic>
      <p:pic>
        <p:nvPicPr>
          <p:cNvPr descr="image.png" id="154" name="Google Shape;154;p20"/>
          <p:cNvPicPr preferRelativeResize="0"/>
          <p:nvPr/>
        </p:nvPicPr>
        <p:blipFill rotWithShape="1">
          <a:blip r:embed="rId5">
            <a:alphaModFix/>
          </a:blip>
          <a:srcRect b="0" l="0" r="0" t="0"/>
          <a:stretch/>
        </p:blipFill>
        <p:spPr>
          <a:xfrm>
            <a:off x="4317950" y="3668050"/>
            <a:ext cx="3555950" cy="2857500"/>
          </a:xfrm>
          <a:prstGeom prst="rect">
            <a:avLst/>
          </a:prstGeom>
          <a:noFill/>
          <a:ln>
            <a:noFill/>
          </a:ln>
        </p:spPr>
      </p:pic>
      <p:pic>
        <p:nvPicPr>
          <p:cNvPr descr="image.png" id="155" name="Google Shape;155;p20"/>
          <p:cNvPicPr preferRelativeResize="0"/>
          <p:nvPr/>
        </p:nvPicPr>
        <p:blipFill rotWithShape="1">
          <a:blip r:embed="rId6">
            <a:alphaModFix/>
          </a:blip>
          <a:srcRect b="0" l="0" r="0" t="0"/>
          <a:stretch/>
        </p:blipFill>
        <p:spPr>
          <a:xfrm>
            <a:off x="8064400" y="3668050"/>
            <a:ext cx="3555950" cy="2857500"/>
          </a:xfrm>
          <a:prstGeom prst="rect">
            <a:avLst/>
          </a:prstGeom>
          <a:noFill/>
          <a:ln>
            <a:noFill/>
          </a:ln>
        </p:spPr>
      </p:pic>
      <p:sp>
        <p:nvSpPr>
          <p:cNvPr id="156" name="Google Shape;156;p20"/>
          <p:cNvSpPr txBox="1"/>
          <p:nvPr/>
        </p:nvSpPr>
        <p:spPr>
          <a:xfrm>
            <a:off x="668450" y="4139043"/>
            <a:ext cx="3459000" cy="2142600"/>
          </a:xfrm>
          <a:prstGeom prst="rect">
            <a:avLst/>
          </a:prstGeom>
          <a:noFill/>
          <a:ln>
            <a:noFill/>
          </a:ln>
        </p:spPr>
        <p:txBody>
          <a:bodyPr anchorCtr="0" anchor="t" bIns="0" lIns="0" spcFirstLastPara="1" rIns="0" wrap="square" tIns="0">
            <a:spAutoFit/>
          </a:bodyPr>
          <a:lstStyle/>
          <a:p>
            <a:pPr indent="0" lvl="0" marL="0" rtl="0" algn="ctr">
              <a:lnSpc>
                <a:spcPct val="160000"/>
              </a:lnSpc>
              <a:spcBef>
                <a:spcPts val="0"/>
              </a:spcBef>
              <a:spcAft>
                <a:spcPts val="0"/>
              </a:spcAft>
              <a:buNone/>
            </a:pPr>
            <a:r>
              <a:rPr lang="en-US" sz="2400">
                <a:solidFill>
                  <a:srgbClr val="475569"/>
                </a:solidFill>
                <a:latin typeface="Heebo"/>
                <a:ea typeface="Heebo"/>
                <a:cs typeface="Heebo"/>
                <a:sym typeface="Heebo"/>
              </a:rPr>
              <a:t>Decisions with significant, potentially life-altering consequences.</a:t>
            </a:r>
            <a:endParaRPr sz="2400">
              <a:solidFill>
                <a:srgbClr val="475569"/>
              </a:solidFill>
              <a:latin typeface="Heebo"/>
              <a:ea typeface="Heebo"/>
              <a:cs typeface="Heebo"/>
              <a:sym typeface="Heebo"/>
            </a:endParaRPr>
          </a:p>
        </p:txBody>
      </p:sp>
      <p:sp>
        <p:nvSpPr>
          <p:cNvPr id="157" name="Google Shape;157;p20"/>
          <p:cNvSpPr/>
          <p:nvPr/>
        </p:nvSpPr>
        <p:spPr>
          <a:xfrm>
            <a:off x="4873575" y="3317325"/>
            <a:ext cx="2444700" cy="663000"/>
          </a:xfrm>
          <a:prstGeom prst="roundRect">
            <a:avLst>
              <a:gd fmla="val 50000" name="adj"/>
            </a:avLst>
          </a:prstGeom>
          <a:solidFill>
            <a:srgbClr val="FEEBD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400">
                <a:solidFill>
                  <a:srgbClr val="DE7E1E"/>
                </a:solidFill>
                <a:latin typeface="Heebo"/>
                <a:ea typeface="Heebo"/>
                <a:cs typeface="Heebo"/>
                <a:sym typeface="Heebo"/>
              </a:rPr>
              <a:t>Medium Risk</a:t>
            </a:r>
            <a:endParaRPr b="1" sz="2400">
              <a:solidFill>
                <a:srgbClr val="DE7E1E"/>
              </a:solidFill>
              <a:latin typeface="Heebo"/>
              <a:ea typeface="Heebo"/>
              <a:cs typeface="Heebo"/>
              <a:sym typeface="Heebo"/>
            </a:endParaRPr>
          </a:p>
        </p:txBody>
      </p:sp>
      <p:sp>
        <p:nvSpPr>
          <p:cNvPr id="158" name="Google Shape;158;p20"/>
          <p:cNvSpPr/>
          <p:nvPr/>
        </p:nvSpPr>
        <p:spPr>
          <a:xfrm>
            <a:off x="1175600" y="3317325"/>
            <a:ext cx="2444700" cy="663000"/>
          </a:xfrm>
          <a:prstGeom prst="roundRect">
            <a:avLst>
              <a:gd fmla="val 50000" name="adj"/>
            </a:avLst>
          </a:prstGeom>
          <a:solidFill>
            <a:srgbClr val="FEE2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400">
                <a:solidFill>
                  <a:srgbClr val="E24744"/>
                </a:solidFill>
                <a:latin typeface="Heebo"/>
                <a:ea typeface="Heebo"/>
                <a:cs typeface="Heebo"/>
                <a:sym typeface="Heebo"/>
              </a:rPr>
              <a:t>High </a:t>
            </a:r>
            <a:r>
              <a:rPr b="1" lang="en-US" sz="2400">
                <a:solidFill>
                  <a:srgbClr val="E24744"/>
                </a:solidFill>
                <a:latin typeface="Heebo"/>
                <a:ea typeface="Heebo"/>
                <a:cs typeface="Heebo"/>
                <a:sym typeface="Heebo"/>
              </a:rPr>
              <a:t>Risk</a:t>
            </a:r>
            <a:endParaRPr b="1" sz="2400">
              <a:solidFill>
                <a:srgbClr val="E24744"/>
              </a:solidFill>
              <a:latin typeface="Heebo"/>
              <a:ea typeface="Heebo"/>
              <a:cs typeface="Heebo"/>
              <a:sym typeface="Heebo"/>
            </a:endParaRPr>
          </a:p>
        </p:txBody>
      </p:sp>
      <p:sp>
        <p:nvSpPr>
          <p:cNvPr id="159" name="Google Shape;159;p20"/>
          <p:cNvSpPr txBox="1"/>
          <p:nvPr/>
        </p:nvSpPr>
        <p:spPr>
          <a:xfrm>
            <a:off x="4318050" y="4139043"/>
            <a:ext cx="3555900" cy="2327400"/>
          </a:xfrm>
          <a:prstGeom prst="rect">
            <a:avLst/>
          </a:prstGeom>
          <a:noFill/>
          <a:ln>
            <a:noFill/>
          </a:ln>
        </p:spPr>
        <p:txBody>
          <a:bodyPr anchorCtr="0" anchor="t" bIns="91425" lIns="91425" spcFirstLastPara="1" rIns="91425" wrap="square" tIns="91425">
            <a:spAutoFit/>
          </a:bodyPr>
          <a:lstStyle/>
          <a:p>
            <a:pPr indent="0" lvl="0" marL="0" rtl="0" algn="ctr">
              <a:lnSpc>
                <a:spcPct val="160000"/>
              </a:lnSpc>
              <a:spcBef>
                <a:spcPts val="0"/>
              </a:spcBef>
              <a:spcAft>
                <a:spcPts val="0"/>
              </a:spcAft>
              <a:buNone/>
            </a:pPr>
            <a:r>
              <a:rPr lang="en-US" sz="2400">
                <a:solidFill>
                  <a:srgbClr val="475569"/>
                </a:solidFill>
                <a:latin typeface="Heebo"/>
                <a:ea typeface="Heebo"/>
                <a:cs typeface="Heebo"/>
                <a:sym typeface="Heebo"/>
              </a:rPr>
              <a:t>Decisions that influence individuals’ livelihoods but do not pose direct danger.</a:t>
            </a:r>
            <a:endParaRPr sz="2400">
              <a:latin typeface="Heebo"/>
              <a:ea typeface="Heebo"/>
              <a:cs typeface="Heebo"/>
              <a:sym typeface="Heebo"/>
            </a:endParaRPr>
          </a:p>
        </p:txBody>
      </p:sp>
      <p:sp>
        <p:nvSpPr>
          <p:cNvPr id="160" name="Google Shape;160;p20"/>
          <p:cNvSpPr/>
          <p:nvPr/>
        </p:nvSpPr>
        <p:spPr>
          <a:xfrm>
            <a:off x="8571550" y="3317325"/>
            <a:ext cx="2444700" cy="663000"/>
          </a:xfrm>
          <a:prstGeom prst="roundRect">
            <a:avLst>
              <a:gd fmla="val 50000" name="adj"/>
            </a:avLst>
          </a:prstGeom>
          <a:solidFill>
            <a:srgbClr val="DAFA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400">
                <a:solidFill>
                  <a:srgbClr val="20A64E"/>
                </a:solidFill>
                <a:latin typeface="Heebo"/>
                <a:ea typeface="Heebo"/>
                <a:cs typeface="Heebo"/>
                <a:sym typeface="Heebo"/>
              </a:rPr>
              <a:t>Low </a:t>
            </a:r>
            <a:r>
              <a:rPr b="1" lang="en-US" sz="2400">
                <a:solidFill>
                  <a:srgbClr val="20A64E"/>
                </a:solidFill>
                <a:latin typeface="Heebo"/>
                <a:ea typeface="Heebo"/>
                <a:cs typeface="Heebo"/>
                <a:sym typeface="Heebo"/>
              </a:rPr>
              <a:t>Risk</a:t>
            </a:r>
            <a:endParaRPr b="1" sz="2400">
              <a:solidFill>
                <a:srgbClr val="20A64E"/>
              </a:solidFill>
              <a:latin typeface="Heebo"/>
              <a:ea typeface="Heebo"/>
              <a:cs typeface="Heebo"/>
              <a:sym typeface="Heebo"/>
            </a:endParaRPr>
          </a:p>
        </p:txBody>
      </p:sp>
      <p:sp>
        <p:nvSpPr>
          <p:cNvPr id="161" name="Google Shape;161;p20"/>
          <p:cNvSpPr txBox="1"/>
          <p:nvPr/>
        </p:nvSpPr>
        <p:spPr>
          <a:xfrm>
            <a:off x="8064550" y="4139043"/>
            <a:ext cx="3555900" cy="1736100"/>
          </a:xfrm>
          <a:prstGeom prst="rect">
            <a:avLst/>
          </a:prstGeom>
          <a:noFill/>
          <a:ln>
            <a:noFill/>
          </a:ln>
        </p:spPr>
        <p:txBody>
          <a:bodyPr anchorCtr="0" anchor="t" bIns="91425" lIns="91425" spcFirstLastPara="1" rIns="91425" wrap="square" tIns="91425">
            <a:spAutoFit/>
          </a:bodyPr>
          <a:lstStyle/>
          <a:p>
            <a:pPr indent="0" lvl="0" marL="0" rtl="0" algn="ctr">
              <a:lnSpc>
                <a:spcPct val="160000"/>
              </a:lnSpc>
              <a:spcBef>
                <a:spcPts val="0"/>
              </a:spcBef>
              <a:spcAft>
                <a:spcPts val="0"/>
              </a:spcAft>
              <a:buNone/>
            </a:pPr>
            <a:r>
              <a:rPr lang="en-US" sz="2400">
                <a:solidFill>
                  <a:srgbClr val="475569"/>
                </a:solidFill>
                <a:latin typeface="Heebo"/>
                <a:ea typeface="Heebo"/>
                <a:cs typeface="Heebo"/>
                <a:sym typeface="Heebo"/>
              </a:rPr>
              <a:t>Decisions with limited direct impact on personal well-being</a:t>
            </a:r>
            <a:endParaRPr sz="2400">
              <a:latin typeface="Heebo"/>
              <a:ea typeface="Heebo"/>
              <a:cs typeface="Heebo"/>
              <a:sym typeface="Heeb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5" name="Shape 165"/>
        <p:cNvGrpSpPr/>
        <p:nvPr/>
      </p:nvGrpSpPr>
      <p:grpSpPr>
        <a:xfrm>
          <a:off x="0" y="0"/>
          <a:ext cx="0" cy="0"/>
          <a:chOff x="0" y="0"/>
          <a:chExt cx="0" cy="0"/>
        </a:xfrm>
      </p:grpSpPr>
      <p:sp>
        <p:nvSpPr>
          <p:cNvPr id="166" name="Google Shape;166;p21"/>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3600">
                <a:solidFill>
                  <a:srgbClr val="1E3A8A"/>
                </a:solidFill>
                <a:latin typeface="Rubik"/>
                <a:ea typeface="Rubik"/>
                <a:cs typeface="Rubik"/>
                <a:sym typeface="Rubik"/>
              </a:rPr>
              <a:t>The Impact of Risk on AI Decision-Making</a:t>
            </a:r>
            <a:endParaRPr/>
          </a:p>
        </p:txBody>
      </p:sp>
      <p:sp>
        <p:nvSpPr>
          <p:cNvPr id="167" name="Google Shape;167;p21"/>
          <p:cNvSpPr txBox="1"/>
          <p:nvPr/>
        </p:nvSpPr>
        <p:spPr>
          <a:xfrm>
            <a:off x="2494688" y="2523900"/>
            <a:ext cx="8408400" cy="1810200"/>
          </a:xfrm>
          <a:prstGeom prst="rect">
            <a:avLst/>
          </a:prstGeom>
          <a:noFill/>
          <a:ln>
            <a:noFill/>
          </a:ln>
        </p:spPr>
        <p:txBody>
          <a:bodyPr anchorCtr="0" anchor="t" bIns="0" lIns="0" spcFirstLastPara="1" rIns="0" wrap="square" tIns="0">
            <a:spAutoFit/>
          </a:bodyPr>
          <a:lstStyle/>
          <a:p>
            <a:pPr indent="0" lvl="0" marL="0" rtl="0" algn="l">
              <a:lnSpc>
                <a:spcPct val="160000"/>
              </a:lnSpc>
              <a:spcBef>
                <a:spcPts val="0"/>
              </a:spcBef>
              <a:spcAft>
                <a:spcPts val="0"/>
              </a:spcAft>
              <a:buSzPts val="1100"/>
              <a:buNone/>
            </a:pPr>
            <a:r>
              <a:rPr b="1" lang="en-US" sz="2800">
                <a:solidFill>
                  <a:srgbClr val="475569"/>
                </a:solidFill>
                <a:latin typeface="Heebo"/>
                <a:ea typeface="Heebo"/>
                <a:cs typeface="Heebo"/>
                <a:sym typeface="Heebo"/>
              </a:rPr>
              <a:t>Each domain is characterized by distinct decision-making contexts, where errors may lead to different consequences.</a:t>
            </a:r>
            <a:endParaRPr b="1" sz="2800">
              <a:solidFill>
                <a:srgbClr val="475569"/>
              </a:solidFill>
              <a:latin typeface="Heebo"/>
              <a:ea typeface="Heebo"/>
              <a:cs typeface="Heebo"/>
              <a:sym typeface="Heebo"/>
            </a:endParaRPr>
          </a:p>
        </p:txBody>
      </p:sp>
      <p:sp>
        <p:nvSpPr>
          <p:cNvPr id="168" name="Google Shape;168;p21"/>
          <p:cNvSpPr txBox="1"/>
          <p:nvPr>
            <p:ph idx="12" type="sldNum"/>
          </p:nvPr>
        </p:nvSpPr>
        <p:spPr>
          <a:xfrm>
            <a:off x="9858926" y="6375026"/>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descr="image.png" id="169" name="Google Shape;169;p21"/>
          <p:cNvPicPr preferRelativeResize="0"/>
          <p:nvPr/>
        </p:nvPicPr>
        <p:blipFill rotWithShape="1">
          <a:blip r:embed="rId4">
            <a:alphaModFix/>
          </a:blip>
          <a:srcRect b="0" l="0" r="0" t="0"/>
          <a:stretch/>
        </p:blipFill>
        <p:spPr>
          <a:xfrm>
            <a:off x="872925" y="2809763"/>
            <a:ext cx="1238475" cy="1238475"/>
          </a:xfrm>
          <a:prstGeom prst="rect">
            <a:avLst/>
          </a:prstGeom>
          <a:noFill/>
          <a:ln>
            <a:noFill/>
          </a:ln>
        </p:spPr>
      </p:pic>
      <p:pic>
        <p:nvPicPr>
          <p:cNvPr descr="image.png" id="170" name="Google Shape;170;p21"/>
          <p:cNvPicPr preferRelativeResize="0"/>
          <p:nvPr/>
        </p:nvPicPr>
        <p:blipFill rotWithShape="1">
          <a:blip r:embed="rId5">
            <a:alphaModFix/>
          </a:blip>
          <a:srcRect b="0" l="0" r="0" t="0"/>
          <a:stretch/>
        </p:blipFill>
        <p:spPr>
          <a:xfrm>
            <a:off x="1209083" y="3181305"/>
            <a:ext cx="566160" cy="49539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2"/>
          <p:cNvSpPr txBox="1"/>
          <p:nvPr>
            <p:ph idx="12" type="sldNum"/>
          </p:nvPr>
        </p:nvSpPr>
        <p:spPr>
          <a:xfrm>
            <a:off x="9858926" y="6375026"/>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176" name="Google Shape;176;p22"/>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3600">
                <a:solidFill>
                  <a:srgbClr val="1E3A8A"/>
                </a:solidFill>
                <a:latin typeface="Rubik"/>
                <a:ea typeface="Rubik"/>
                <a:cs typeface="Rubik"/>
                <a:sym typeface="Rubik"/>
              </a:rPr>
              <a:t>User Trust</a:t>
            </a:r>
            <a:endParaRPr/>
          </a:p>
        </p:txBody>
      </p:sp>
      <p:sp>
        <p:nvSpPr>
          <p:cNvPr id="177" name="Google Shape;177;p22"/>
          <p:cNvSpPr txBox="1"/>
          <p:nvPr/>
        </p:nvSpPr>
        <p:spPr>
          <a:xfrm>
            <a:off x="571500" y="1313321"/>
            <a:ext cx="10593300" cy="960600"/>
          </a:xfrm>
          <a:prstGeom prst="rect">
            <a:avLst/>
          </a:prstGeom>
          <a:noFill/>
          <a:ln>
            <a:noFill/>
          </a:ln>
        </p:spPr>
        <p:txBody>
          <a:bodyPr anchorCtr="0" anchor="t" bIns="0" lIns="0" spcFirstLastPara="1" rIns="0" wrap="square" tIns="0">
            <a:spAutoFit/>
          </a:bodyPr>
          <a:lstStyle/>
          <a:p>
            <a:pPr indent="0" lvl="0" marL="0" rtl="0" algn="l">
              <a:lnSpc>
                <a:spcPct val="160000"/>
              </a:lnSpc>
              <a:spcBef>
                <a:spcPts val="0"/>
              </a:spcBef>
              <a:spcAft>
                <a:spcPts val="0"/>
              </a:spcAft>
              <a:buSzPts val="1100"/>
              <a:buNone/>
            </a:pPr>
            <a:r>
              <a:rPr b="1" lang="en-US" sz="2400">
                <a:solidFill>
                  <a:srgbClr val="475569"/>
                </a:solidFill>
                <a:latin typeface="Heebo"/>
                <a:ea typeface="Heebo"/>
                <a:cs typeface="Heebo"/>
                <a:sym typeface="Heebo"/>
              </a:rPr>
              <a:t>Trust is a central value in AI decision-making, but its nature changes depending on the context.</a:t>
            </a:r>
            <a:endParaRPr b="1" sz="2400">
              <a:solidFill>
                <a:srgbClr val="475569"/>
              </a:solidFill>
              <a:latin typeface="Heebo"/>
              <a:ea typeface="Heebo"/>
              <a:cs typeface="Heebo"/>
              <a:sym typeface="Heebo"/>
            </a:endParaRPr>
          </a:p>
        </p:txBody>
      </p:sp>
      <p:sp>
        <p:nvSpPr>
          <p:cNvPr id="178" name="Google Shape;178;p22"/>
          <p:cNvSpPr txBox="1"/>
          <p:nvPr>
            <p:ph idx="12" type="sldNum"/>
          </p:nvPr>
        </p:nvSpPr>
        <p:spPr>
          <a:xfrm>
            <a:off x="9858926" y="6375026"/>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descr="image.png" id="179" name="Google Shape;179;p22"/>
          <p:cNvPicPr preferRelativeResize="0"/>
          <p:nvPr/>
        </p:nvPicPr>
        <p:blipFill rotWithShape="1">
          <a:blip r:embed="rId3">
            <a:alphaModFix/>
          </a:blip>
          <a:srcRect b="0" l="0" r="0" t="0"/>
          <a:stretch/>
        </p:blipFill>
        <p:spPr>
          <a:xfrm>
            <a:off x="6709612" y="2924425"/>
            <a:ext cx="4881738" cy="3450600"/>
          </a:xfrm>
          <a:prstGeom prst="rect">
            <a:avLst/>
          </a:prstGeom>
          <a:noFill/>
          <a:ln>
            <a:noFill/>
          </a:ln>
        </p:spPr>
      </p:pic>
      <p:sp>
        <p:nvSpPr>
          <p:cNvPr id="180" name="Google Shape;180;p22"/>
          <p:cNvSpPr/>
          <p:nvPr/>
        </p:nvSpPr>
        <p:spPr>
          <a:xfrm>
            <a:off x="7372525" y="2573699"/>
            <a:ext cx="3555900" cy="663000"/>
          </a:xfrm>
          <a:prstGeom prst="roundRect">
            <a:avLst>
              <a:gd fmla="val 50000" name="adj"/>
            </a:avLst>
          </a:prstGeom>
          <a:solidFill>
            <a:srgbClr val="DAFA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400">
                <a:solidFill>
                  <a:srgbClr val="20A64E"/>
                </a:solidFill>
                <a:latin typeface="Heebo"/>
                <a:ea typeface="Heebo"/>
                <a:cs typeface="Heebo"/>
                <a:sym typeface="Heebo"/>
              </a:rPr>
              <a:t>Low-Risk Decisions</a:t>
            </a:r>
            <a:endParaRPr b="1" sz="2400">
              <a:solidFill>
                <a:srgbClr val="20A64E"/>
              </a:solidFill>
              <a:latin typeface="Heebo"/>
              <a:ea typeface="Heebo"/>
              <a:cs typeface="Heebo"/>
              <a:sym typeface="Heebo"/>
            </a:endParaRPr>
          </a:p>
        </p:txBody>
      </p:sp>
      <p:sp>
        <p:nvSpPr>
          <p:cNvPr id="181" name="Google Shape;181;p22"/>
          <p:cNvSpPr txBox="1"/>
          <p:nvPr/>
        </p:nvSpPr>
        <p:spPr>
          <a:xfrm>
            <a:off x="6874825" y="3368391"/>
            <a:ext cx="4551300" cy="1736100"/>
          </a:xfrm>
          <a:prstGeom prst="rect">
            <a:avLst/>
          </a:prstGeom>
          <a:noFill/>
          <a:ln>
            <a:noFill/>
          </a:ln>
        </p:spPr>
        <p:txBody>
          <a:bodyPr anchorCtr="0" anchor="t" bIns="91425" lIns="91425" spcFirstLastPara="1" rIns="91425" wrap="square" tIns="91425">
            <a:spAutoFit/>
          </a:bodyPr>
          <a:lstStyle/>
          <a:p>
            <a:pPr indent="0" lvl="0" marL="0" rtl="0" algn="ctr">
              <a:lnSpc>
                <a:spcPct val="160000"/>
              </a:lnSpc>
              <a:spcBef>
                <a:spcPts val="0"/>
              </a:spcBef>
              <a:spcAft>
                <a:spcPts val="0"/>
              </a:spcAft>
              <a:buNone/>
            </a:pPr>
            <a:r>
              <a:rPr lang="en-US" sz="2400">
                <a:solidFill>
                  <a:srgbClr val="475569"/>
                </a:solidFill>
                <a:latin typeface="Heebo"/>
                <a:ea typeface="Heebo"/>
                <a:cs typeface="Heebo"/>
                <a:sym typeface="Heebo"/>
              </a:rPr>
              <a:t>Users often rely on Emotional Trust, based on intuition or a general feeling.</a:t>
            </a:r>
            <a:endParaRPr sz="2400">
              <a:solidFill>
                <a:srgbClr val="475569"/>
              </a:solidFill>
              <a:latin typeface="Heebo"/>
              <a:ea typeface="Heebo"/>
              <a:cs typeface="Heebo"/>
              <a:sym typeface="Heebo"/>
            </a:endParaRPr>
          </a:p>
        </p:txBody>
      </p:sp>
      <p:pic>
        <p:nvPicPr>
          <p:cNvPr descr="image.png" id="182" name="Google Shape;182;p22"/>
          <p:cNvPicPr preferRelativeResize="0"/>
          <p:nvPr/>
        </p:nvPicPr>
        <p:blipFill rotWithShape="1">
          <a:blip r:embed="rId3">
            <a:alphaModFix/>
          </a:blip>
          <a:srcRect b="0" l="0" r="0" t="0"/>
          <a:stretch/>
        </p:blipFill>
        <p:spPr>
          <a:xfrm>
            <a:off x="571500" y="2924425"/>
            <a:ext cx="5731029" cy="3450600"/>
          </a:xfrm>
          <a:prstGeom prst="rect">
            <a:avLst/>
          </a:prstGeom>
          <a:noFill/>
          <a:ln>
            <a:noFill/>
          </a:ln>
        </p:spPr>
      </p:pic>
      <p:sp>
        <p:nvSpPr>
          <p:cNvPr id="183" name="Google Shape;183;p22"/>
          <p:cNvSpPr/>
          <p:nvPr/>
        </p:nvSpPr>
        <p:spPr>
          <a:xfrm>
            <a:off x="1659063" y="2573699"/>
            <a:ext cx="3555900" cy="663000"/>
          </a:xfrm>
          <a:prstGeom prst="roundRect">
            <a:avLst>
              <a:gd fmla="val 50000" name="adj"/>
            </a:avLst>
          </a:prstGeom>
          <a:solidFill>
            <a:srgbClr val="FEE2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400">
                <a:solidFill>
                  <a:srgbClr val="E24744"/>
                </a:solidFill>
                <a:latin typeface="Heebo"/>
                <a:ea typeface="Heebo"/>
                <a:cs typeface="Heebo"/>
                <a:sym typeface="Heebo"/>
              </a:rPr>
              <a:t>High</a:t>
            </a:r>
            <a:r>
              <a:rPr b="1" lang="en-US" sz="2400">
                <a:solidFill>
                  <a:srgbClr val="E24744"/>
                </a:solidFill>
                <a:latin typeface="Heebo"/>
                <a:ea typeface="Heebo"/>
                <a:cs typeface="Heebo"/>
                <a:sym typeface="Heebo"/>
              </a:rPr>
              <a:t>-Risk Decisions</a:t>
            </a:r>
            <a:endParaRPr b="1" sz="2400">
              <a:solidFill>
                <a:srgbClr val="E24744"/>
              </a:solidFill>
              <a:latin typeface="Heebo"/>
              <a:ea typeface="Heebo"/>
              <a:cs typeface="Heebo"/>
              <a:sym typeface="Heebo"/>
            </a:endParaRPr>
          </a:p>
        </p:txBody>
      </p:sp>
      <p:sp>
        <p:nvSpPr>
          <p:cNvPr id="184" name="Google Shape;184;p22"/>
          <p:cNvSpPr txBox="1"/>
          <p:nvPr/>
        </p:nvSpPr>
        <p:spPr>
          <a:xfrm>
            <a:off x="883625" y="3368391"/>
            <a:ext cx="5418900" cy="2918400"/>
          </a:xfrm>
          <a:prstGeom prst="rect">
            <a:avLst/>
          </a:prstGeom>
          <a:noFill/>
          <a:ln>
            <a:noFill/>
          </a:ln>
        </p:spPr>
        <p:txBody>
          <a:bodyPr anchorCtr="0" anchor="t" bIns="91425" lIns="91425" spcFirstLastPara="1" rIns="91425" wrap="square" tIns="91425">
            <a:spAutoFit/>
          </a:bodyPr>
          <a:lstStyle/>
          <a:p>
            <a:pPr indent="0" lvl="0" marL="0" rtl="0" algn="ctr">
              <a:lnSpc>
                <a:spcPct val="160000"/>
              </a:lnSpc>
              <a:spcBef>
                <a:spcPts val="0"/>
              </a:spcBef>
              <a:spcAft>
                <a:spcPts val="0"/>
              </a:spcAft>
              <a:buNone/>
            </a:pPr>
            <a:r>
              <a:rPr b="1" lang="en-US" sz="2400">
                <a:solidFill>
                  <a:srgbClr val="475569"/>
                </a:solidFill>
                <a:latin typeface="Heebo"/>
                <a:ea typeface="Heebo"/>
                <a:cs typeface="Heebo"/>
                <a:sym typeface="Heebo"/>
              </a:rPr>
              <a:t>Users require Cognitive Trust, based on understanding and evidence.</a:t>
            </a:r>
            <a:endParaRPr b="1" sz="2400">
              <a:solidFill>
                <a:srgbClr val="475569"/>
              </a:solidFill>
              <a:latin typeface="Heebo"/>
              <a:ea typeface="Heebo"/>
              <a:cs typeface="Heebo"/>
              <a:sym typeface="Heebo"/>
            </a:endParaRPr>
          </a:p>
          <a:p>
            <a:pPr indent="0" lvl="0" marL="0" rtl="0" algn="ctr">
              <a:lnSpc>
                <a:spcPct val="160000"/>
              </a:lnSpc>
              <a:spcBef>
                <a:spcPts val="0"/>
              </a:spcBef>
              <a:spcAft>
                <a:spcPts val="0"/>
              </a:spcAft>
              <a:buNone/>
            </a:pPr>
            <a:r>
              <a:rPr lang="en-US" sz="2400">
                <a:solidFill>
                  <a:srgbClr val="475569"/>
                </a:solidFill>
                <a:latin typeface="Heebo"/>
                <a:ea typeface="Heebo"/>
                <a:cs typeface="Heebo"/>
                <a:sym typeface="Heebo"/>
              </a:rPr>
              <a:t>High accuracy alone is not enough, users must understand the reasoning behind a decision to truly trust it.</a:t>
            </a:r>
            <a:endParaRPr sz="2400">
              <a:solidFill>
                <a:srgbClr val="475569"/>
              </a:solidFill>
              <a:latin typeface="Heebo"/>
              <a:ea typeface="Heebo"/>
              <a:cs typeface="Heebo"/>
              <a:sym typeface="Heeb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3"/>
          <p:cNvSpPr txBox="1"/>
          <p:nvPr>
            <p:ph idx="12" type="sldNum"/>
          </p:nvPr>
        </p:nvSpPr>
        <p:spPr>
          <a:xfrm>
            <a:off x="9858926" y="6375026"/>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190" name="Google Shape;190;p23"/>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3600">
                <a:solidFill>
                  <a:srgbClr val="1E3A8A"/>
                </a:solidFill>
                <a:latin typeface="Rubik"/>
                <a:ea typeface="Rubik"/>
                <a:cs typeface="Rubik"/>
                <a:sym typeface="Rubik"/>
              </a:rPr>
              <a:t>User Trust</a:t>
            </a:r>
            <a:endParaRPr/>
          </a:p>
        </p:txBody>
      </p:sp>
      <p:sp>
        <p:nvSpPr>
          <p:cNvPr id="191" name="Google Shape;191;p23"/>
          <p:cNvSpPr txBox="1"/>
          <p:nvPr/>
        </p:nvSpPr>
        <p:spPr>
          <a:xfrm>
            <a:off x="2456225" y="2632750"/>
            <a:ext cx="8268600" cy="1120500"/>
          </a:xfrm>
          <a:prstGeom prst="rect">
            <a:avLst/>
          </a:prstGeom>
          <a:noFill/>
          <a:ln>
            <a:noFill/>
          </a:ln>
        </p:spPr>
        <p:txBody>
          <a:bodyPr anchorCtr="0" anchor="t" bIns="0" lIns="0" spcFirstLastPara="1" rIns="0" wrap="square" tIns="0">
            <a:spAutoFit/>
          </a:bodyPr>
          <a:lstStyle/>
          <a:p>
            <a:pPr indent="0" lvl="0" marL="0" rtl="0" algn="l">
              <a:lnSpc>
                <a:spcPct val="160000"/>
              </a:lnSpc>
              <a:spcBef>
                <a:spcPts val="0"/>
              </a:spcBef>
              <a:spcAft>
                <a:spcPts val="0"/>
              </a:spcAft>
              <a:buSzPts val="1100"/>
              <a:buNone/>
            </a:pPr>
            <a:r>
              <a:rPr b="1" lang="en-US" sz="2800">
                <a:solidFill>
                  <a:srgbClr val="475569"/>
                </a:solidFill>
                <a:latin typeface="Heebo"/>
                <a:ea typeface="Heebo"/>
                <a:cs typeface="Heebo"/>
                <a:sym typeface="Heebo"/>
              </a:rPr>
              <a:t>This highlights the need for transparency and explainability in AI-supported decision-making.</a:t>
            </a:r>
            <a:endParaRPr b="1" sz="2800">
              <a:solidFill>
                <a:srgbClr val="475569"/>
              </a:solidFill>
              <a:latin typeface="Heebo"/>
              <a:ea typeface="Heebo"/>
              <a:cs typeface="Heebo"/>
              <a:sym typeface="Heebo"/>
            </a:endParaRPr>
          </a:p>
        </p:txBody>
      </p:sp>
      <p:sp>
        <p:nvSpPr>
          <p:cNvPr id="192" name="Google Shape;192;p23"/>
          <p:cNvSpPr txBox="1"/>
          <p:nvPr>
            <p:ph idx="12" type="sldNum"/>
          </p:nvPr>
        </p:nvSpPr>
        <p:spPr>
          <a:xfrm>
            <a:off x="9858926" y="6375026"/>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descr="image.png" id="193" name="Google Shape;193;p23"/>
          <p:cNvPicPr preferRelativeResize="0"/>
          <p:nvPr/>
        </p:nvPicPr>
        <p:blipFill rotWithShape="1">
          <a:blip r:embed="rId3">
            <a:alphaModFix/>
          </a:blip>
          <a:srcRect b="0" l="0" r="0" t="0"/>
          <a:stretch/>
        </p:blipFill>
        <p:spPr>
          <a:xfrm>
            <a:off x="1041725" y="2632757"/>
            <a:ext cx="1120500" cy="1120500"/>
          </a:xfrm>
          <a:prstGeom prst="rect">
            <a:avLst/>
          </a:prstGeom>
          <a:noFill/>
          <a:ln>
            <a:noFill/>
          </a:ln>
        </p:spPr>
      </p:pic>
      <p:pic>
        <p:nvPicPr>
          <p:cNvPr descr="image.png" id="194" name="Google Shape;194;p23"/>
          <p:cNvPicPr preferRelativeResize="0"/>
          <p:nvPr/>
        </p:nvPicPr>
        <p:blipFill rotWithShape="1">
          <a:blip r:embed="rId4">
            <a:alphaModFix/>
          </a:blip>
          <a:srcRect b="0" l="0" r="0" t="0"/>
          <a:stretch/>
        </p:blipFill>
        <p:spPr>
          <a:xfrm>
            <a:off x="1433899" y="2968907"/>
            <a:ext cx="336150" cy="448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8" name="Shape 198"/>
        <p:cNvGrpSpPr/>
        <p:nvPr/>
      </p:nvGrpSpPr>
      <p:grpSpPr>
        <a:xfrm>
          <a:off x="0" y="0"/>
          <a:ext cx="0" cy="0"/>
          <a:chOff x="0" y="0"/>
          <a:chExt cx="0" cy="0"/>
        </a:xfrm>
      </p:grpSpPr>
      <p:sp>
        <p:nvSpPr>
          <p:cNvPr id="199" name="Google Shape;199;p24"/>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3600">
                <a:solidFill>
                  <a:srgbClr val="1E3A8A"/>
                </a:solidFill>
                <a:latin typeface="Rubik"/>
                <a:ea typeface="Rubik"/>
                <a:cs typeface="Rubik"/>
                <a:sym typeface="Rubik"/>
              </a:rPr>
              <a:t>Explainable Artificial Intelligence (XAI) </a:t>
            </a:r>
            <a:endParaRPr/>
          </a:p>
        </p:txBody>
      </p:sp>
      <p:sp>
        <p:nvSpPr>
          <p:cNvPr id="200" name="Google Shape;200;p24"/>
          <p:cNvSpPr txBox="1"/>
          <p:nvPr/>
        </p:nvSpPr>
        <p:spPr>
          <a:xfrm>
            <a:off x="857050" y="1579025"/>
            <a:ext cx="11043000" cy="1736100"/>
          </a:xfrm>
          <a:prstGeom prst="rect">
            <a:avLst/>
          </a:prstGeom>
          <a:noFill/>
          <a:ln>
            <a:noFill/>
          </a:ln>
        </p:spPr>
        <p:txBody>
          <a:bodyPr anchorCtr="0" anchor="t" bIns="91425" lIns="91425" spcFirstLastPara="1" rIns="91425" wrap="square" tIns="91425">
            <a:spAutoFit/>
          </a:bodyPr>
          <a:lstStyle/>
          <a:p>
            <a:pPr indent="0" lvl="0" marL="0" marR="0" rtl="0" algn="l">
              <a:lnSpc>
                <a:spcPct val="160000"/>
              </a:lnSpc>
              <a:spcBef>
                <a:spcPts val="0"/>
              </a:spcBef>
              <a:spcAft>
                <a:spcPts val="0"/>
              </a:spcAft>
              <a:buClr>
                <a:srgbClr val="000000"/>
              </a:buClr>
              <a:buFont typeface="Arial"/>
              <a:buNone/>
            </a:pPr>
            <a:r>
              <a:rPr lang="en-US" sz="2400">
                <a:solidFill>
                  <a:srgbClr val="475569"/>
                </a:solidFill>
                <a:latin typeface="Heebo"/>
                <a:ea typeface="Heebo"/>
                <a:cs typeface="Heebo"/>
                <a:sym typeface="Heebo"/>
              </a:rPr>
              <a:t>XAI makes AI decisions transparent and understandable.</a:t>
            </a:r>
            <a:endParaRPr sz="2400">
              <a:solidFill>
                <a:srgbClr val="475569"/>
              </a:solidFill>
              <a:latin typeface="Heebo"/>
              <a:ea typeface="Heebo"/>
              <a:cs typeface="Heebo"/>
              <a:sym typeface="Heebo"/>
            </a:endParaRPr>
          </a:p>
          <a:p>
            <a:pPr indent="0" lvl="0" marL="0" marR="0" rtl="0" algn="l">
              <a:lnSpc>
                <a:spcPct val="160000"/>
              </a:lnSpc>
              <a:spcBef>
                <a:spcPts val="0"/>
              </a:spcBef>
              <a:spcAft>
                <a:spcPts val="0"/>
              </a:spcAft>
              <a:buClr>
                <a:srgbClr val="000000"/>
              </a:buClr>
              <a:buFont typeface="Arial"/>
              <a:buNone/>
            </a:pPr>
            <a:r>
              <a:rPr lang="en-US" sz="2400">
                <a:solidFill>
                  <a:srgbClr val="475569"/>
                </a:solidFill>
                <a:latin typeface="Heebo"/>
                <a:ea typeface="Heebo"/>
                <a:cs typeface="Heebo"/>
                <a:sym typeface="Heebo"/>
              </a:rPr>
              <a:t>It addresses the black-box problem by explaining how predictions are made.</a:t>
            </a:r>
            <a:endParaRPr sz="2400">
              <a:solidFill>
                <a:srgbClr val="475569"/>
              </a:solidFill>
              <a:latin typeface="Heebo"/>
              <a:ea typeface="Heebo"/>
              <a:cs typeface="Heebo"/>
              <a:sym typeface="Heebo"/>
            </a:endParaRPr>
          </a:p>
          <a:p>
            <a:pPr indent="0" lvl="0" marL="0" marR="0" rtl="0" algn="l">
              <a:lnSpc>
                <a:spcPct val="160000"/>
              </a:lnSpc>
              <a:spcBef>
                <a:spcPts val="0"/>
              </a:spcBef>
              <a:spcAft>
                <a:spcPts val="0"/>
              </a:spcAft>
              <a:buClr>
                <a:srgbClr val="000000"/>
              </a:buClr>
              <a:buFont typeface="Arial"/>
              <a:buNone/>
            </a:pPr>
            <a:r>
              <a:rPr lang="en-US" sz="2400">
                <a:solidFill>
                  <a:srgbClr val="475569"/>
                </a:solidFill>
                <a:latin typeface="Heebo"/>
                <a:ea typeface="Heebo"/>
                <a:cs typeface="Heebo"/>
                <a:sym typeface="Heebo"/>
              </a:rPr>
              <a:t>XAI supports user trust and responsible decision-making.</a:t>
            </a:r>
            <a:endParaRPr sz="2400"/>
          </a:p>
        </p:txBody>
      </p:sp>
      <p:grpSp>
        <p:nvGrpSpPr>
          <p:cNvPr id="201" name="Google Shape;201;p24"/>
          <p:cNvGrpSpPr/>
          <p:nvPr/>
        </p:nvGrpSpPr>
        <p:grpSpPr>
          <a:xfrm>
            <a:off x="4205972" y="3691205"/>
            <a:ext cx="3084450" cy="2735775"/>
            <a:chOff x="775968" y="3639250"/>
            <a:chExt cx="3084450" cy="2735775"/>
          </a:xfrm>
        </p:grpSpPr>
        <p:pic>
          <p:nvPicPr>
            <p:cNvPr descr="image.png" id="202" name="Google Shape;202;p24"/>
            <p:cNvPicPr preferRelativeResize="0"/>
            <p:nvPr/>
          </p:nvPicPr>
          <p:blipFill rotWithShape="1">
            <a:blip r:embed="rId4">
              <a:alphaModFix/>
            </a:blip>
            <a:srcRect b="11111" l="0" r="0" t="0"/>
            <a:stretch/>
          </p:blipFill>
          <p:spPr>
            <a:xfrm>
              <a:off x="775968" y="3639250"/>
              <a:ext cx="3084450" cy="2735775"/>
            </a:xfrm>
            <a:prstGeom prst="rect">
              <a:avLst/>
            </a:prstGeom>
            <a:noFill/>
            <a:ln>
              <a:noFill/>
            </a:ln>
          </p:spPr>
        </p:pic>
        <p:sp>
          <p:nvSpPr>
            <p:cNvPr id="203" name="Google Shape;203;p24"/>
            <p:cNvSpPr txBox="1"/>
            <p:nvPr/>
          </p:nvSpPr>
          <p:spPr>
            <a:xfrm>
              <a:off x="1368093" y="3863134"/>
              <a:ext cx="1900200" cy="3693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lang="en-US" sz="2400">
                  <a:solidFill>
                    <a:srgbClr val="2563EB"/>
                  </a:solidFill>
                  <a:latin typeface="Heebo Medium"/>
                  <a:ea typeface="Heebo Medium"/>
                  <a:cs typeface="Heebo Medium"/>
                  <a:sym typeface="Heebo Medium"/>
                </a:rPr>
                <a:t>SHAP</a:t>
              </a:r>
              <a:endParaRPr sz="2400">
                <a:latin typeface="Heebo"/>
                <a:ea typeface="Heebo"/>
                <a:cs typeface="Heebo"/>
                <a:sym typeface="Heebo"/>
              </a:endParaRPr>
            </a:p>
          </p:txBody>
        </p:sp>
        <p:sp>
          <p:nvSpPr>
            <p:cNvPr id="204" name="Google Shape;204;p24"/>
            <p:cNvSpPr txBox="1"/>
            <p:nvPr/>
          </p:nvSpPr>
          <p:spPr>
            <a:xfrm>
              <a:off x="953943" y="4360625"/>
              <a:ext cx="2728500" cy="12930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lang="en-US" sz="2000">
                  <a:solidFill>
                    <a:srgbClr val="475569"/>
                  </a:solidFill>
                  <a:latin typeface="Heebo"/>
                  <a:ea typeface="Heebo"/>
                  <a:cs typeface="Heebo"/>
                  <a:sym typeface="Heebo"/>
                </a:rPr>
                <a:t>Shows how much each factor </a:t>
              </a:r>
              <a:r>
                <a:rPr lang="en-US" sz="2000">
                  <a:solidFill>
                    <a:srgbClr val="475569"/>
                  </a:solidFill>
                  <a:latin typeface="Heebo"/>
                  <a:ea typeface="Heebo"/>
                  <a:cs typeface="Heebo"/>
                  <a:sym typeface="Heebo"/>
                </a:rPr>
                <a:t>contributes</a:t>
              </a:r>
              <a:r>
                <a:rPr lang="en-US" sz="2000">
                  <a:solidFill>
                    <a:srgbClr val="475569"/>
                  </a:solidFill>
                  <a:latin typeface="Heebo"/>
                  <a:ea typeface="Heebo"/>
                  <a:cs typeface="Heebo"/>
                  <a:sym typeface="Heebo"/>
                </a:rPr>
                <a:t> to the final decision.</a:t>
              </a:r>
              <a:endParaRPr sz="2000">
                <a:latin typeface="Heebo"/>
                <a:ea typeface="Heebo"/>
                <a:cs typeface="Heebo"/>
                <a:sym typeface="Heebo"/>
              </a:endParaRPr>
            </a:p>
          </p:txBody>
        </p:sp>
      </p:grpSp>
      <p:sp>
        <p:nvSpPr>
          <p:cNvPr id="205" name="Google Shape;205;p24"/>
          <p:cNvSpPr txBox="1"/>
          <p:nvPr>
            <p:ph idx="12" type="sldNum"/>
          </p:nvPr>
        </p:nvSpPr>
        <p:spPr>
          <a:xfrm>
            <a:off x="9858926" y="6375026"/>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grpSp>
        <p:nvGrpSpPr>
          <p:cNvPr id="206" name="Google Shape;206;p24"/>
          <p:cNvGrpSpPr/>
          <p:nvPr/>
        </p:nvGrpSpPr>
        <p:grpSpPr>
          <a:xfrm>
            <a:off x="666134" y="3691205"/>
            <a:ext cx="3084450" cy="2735775"/>
            <a:chOff x="775968" y="3639250"/>
            <a:chExt cx="3084450" cy="2735775"/>
          </a:xfrm>
        </p:grpSpPr>
        <p:pic>
          <p:nvPicPr>
            <p:cNvPr descr="image.png" id="207" name="Google Shape;207;p24"/>
            <p:cNvPicPr preferRelativeResize="0"/>
            <p:nvPr/>
          </p:nvPicPr>
          <p:blipFill rotWithShape="1">
            <a:blip r:embed="rId4">
              <a:alphaModFix/>
            </a:blip>
            <a:srcRect b="11111" l="0" r="0" t="0"/>
            <a:stretch/>
          </p:blipFill>
          <p:spPr>
            <a:xfrm>
              <a:off x="775968" y="3639250"/>
              <a:ext cx="3084450" cy="2735775"/>
            </a:xfrm>
            <a:prstGeom prst="rect">
              <a:avLst/>
            </a:prstGeom>
            <a:noFill/>
            <a:ln>
              <a:noFill/>
            </a:ln>
          </p:spPr>
        </p:pic>
        <p:sp>
          <p:nvSpPr>
            <p:cNvPr id="208" name="Google Shape;208;p24"/>
            <p:cNvSpPr txBox="1"/>
            <p:nvPr/>
          </p:nvSpPr>
          <p:spPr>
            <a:xfrm>
              <a:off x="1368093" y="3863134"/>
              <a:ext cx="1900200" cy="3693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lang="en-US" sz="2400">
                  <a:solidFill>
                    <a:srgbClr val="2563EB"/>
                  </a:solidFill>
                  <a:latin typeface="Heebo Medium"/>
                  <a:ea typeface="Heebo Medium"/>
                  <a:cs typeface="Heebo Medium"/>
                  <a:sym typeface="Heebo Medium"/>
                </a:rPr>
                <a:t>LIME</a:t>
              </a:r>
              <a:endParaRPr sz="2400">
                <a:solidFill>
                  <a:srgbClr val="2563EB"/>
                </a:solidFill>
                <a:latin typeface="Heebo Medium"/>
                <a:ea typeface="Heebo Medium"/>
                <a:cs typeface="Heebo Medium"/>
                <a:sym typeface="Heebo Medium"/>
              </a:endParaRPr>
            </a:p>
          </p:txBody>
        </p:sp>
        <p:sp>
          <p:nvSpPr>
            <p:cNvPr id="209" name="Google Shape;209;p24"/>
            <p:cNvSpPr txBox="1"/>
            <p:nvPr/>
          </p:nvSpPr>
          <p:spPr>
            <a:xfrm>
              <a:off x="953943" y="4360625"/>
              <a:ext cx="2728500" cy="17856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lang="en-US" sz="2000">
                  <a:solidFill>
                    <a:srgbClr val="475569"/>
                  </a:solidFill>
                  <a:latin typeface="Heebo"/>
                  <a:ea typeface="Heebo"/>
                  <a:cs typeface="Heebo"/>
                  <a:sym typeface="Heebo"/>
                </a:rPr>
                <a:t>Simplifies the complex model to explain "why" a specific decision was made.</a:t>
              </a:r>
              <a:endParaRPr sz="2000">
                <a:solidFill>
                  <a:srgbClr val="475569"/>
                </a:solidFill>
                <a:latin typeface="Heebo"/>
                <a:ea typeface="Heebo"/>
                <a:cs typeface="Heebo"/>
                <a:sym typeface="Heebo"/>
              </a:endParaRPr>
            </a:p>
          </p:txBody>
        </p:sp>
      </p:grpSp>
      <p:grpSp>
        <p:nvGrpSpPr>
          <p:cNvPr id="210" name="Google Shape;210;p24"/>
          <p:cNvGrpSpPr/>
          <p:nvPr/>
        </p:nvGrpSpPr>
        <p:grpSpPr>
          <a:xfrm>
            <a:off x="7745809" y="3691205"/>
            <a:ext cx="3084450" cy="2735775"/>
            <a:chOff x="775968" y="3639250"/>
            <a:chExt cx="3084450" cy="2735775"/>
          </a:xfrm>
        </p:grpSpPr>
        <p:pic>
          <p:nvPicPr>
            <p:cNvPr descr="image.png" id="211" name="Google Shape;211;p24"/>
            <p:cNvPicPr preferRelativeResize="0"/>
            <p:nvPr/>
          </p:nvPicPr>
          <p:blipFill rotWithShape="1">
            <a:blip r:embed="rId4">
              <a:alphaModFix/>
            </a:blip>
            <a:srcRect b="11111" l="0" r="0" t="0"/>
            <a:stretch/>
          </p:blipFill>
          <p:spPr>
            <a:xfrm>
              <a:off x="775968" y="3639250"/>
              <a:ext cx="3084450" cy="2735775"/>
            </a:xfrm>
            <a:prstGeom prst="rect">
              <a:avLst/>
            </a:prstGeom>
            <a:noFill/>
            <a:ln>
              <a:noFill/>
            </a:ln>
          </p:spPr>
        </p:pic>
        <p:sp>
          <p:nvSpPr>
            <p:cNvPr id="212" name="Google Shape;212;p24"/>
            <p:cNvSpPr txBox="1"/>
            <p:nvPr/>
          </p:nvSpPr>
          <p:spPr>
            <a:xfrm>
              <a:off x="1368093" y="3863134"/>
              <a:ext cx="1900200" cy="3693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lang="en-US" sz="2400">
                  <a:solidFill>
                    <a:srgbClr val="2563EB"/>
                  </a:solidFill>
                  <a:latin typeface="Heebo Medium"/>
                  <a:ea typeface="Heebo Medium"/>
                  <a:cs typeface="Heebo Medium"/>
                  <a:sym typeface="Heebo Medium"/>
                </a:rPr>
                <a:t>DICE</a:t>
              </a:r>
              <a:endParaRPr sz="2400">
                <a:solidFill>
                  <a:srgbClr val="2563EB"/>
                </a:solidFill>
                <a:latin typeface="Heebo Medium"/>
                <a:ea typeface="Heebo Medium"/>
                <a:cs typeface="Heebo Medium"/>
                <a:sym typeface="Heebo Medium"/>
              </a:endParaRPr>
            </a:p>
          </p:txBody>
        </p:sp>
        <p:sp>
          <p:nvSpPr>
            <p:cNvPr id="213" name="Google Shape;213;p24"/>
            <p:cNvSpPr txBox="1"/>
            <p:nvPr/>
          </p:nvSpPr>
          <p:spPr>
            <a:xfrm>
              <a:off x="953943" y="4360625"/>
              <a:ext cx="2728500" cy="12930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lang="en-US" sz="2000">
                  <a:solidFill>
                    <a:srgbClr val="475569"/>
                  </a:solidFill>
                  <a:latin typeface="Heebo"/>
                  <a:ea typeface="Heebo"/>
                  <a:cs typeface="Heebo"/>
                  <a:sym typeface="Heebo"/>
                </a:rPr>
                <a:t>Shows minimal changes needed to alter a decision.</a:t>
              </a:r>
              <a:endParaRPr sz="2000">
                <a:solidFill>
                  <a:srgbClr val="475569"/>
                </a:solidFill>
                <a:latin typeface="Heebo"/>
                <a:ea typeface="Heebo"/>
                <a:cs typeface="Heebo"/>
                <a:sym typeface="Heebo"/>
              </a:endParaRPr>
            </a:p>
          </p:txBody>
        </p:sp>
      </p:grpSp>
      <p:pic>
        <p:nvPicPr>
          <p:cNvPr descr="image.png" id="214" name="Google Shape;214;p24"/>
          <p:cNvPicPr preferRelativeResize="0"/>
          <p:nvPr/>
        </p:nvPicPr>
        <p:blipFill rotWithShape="1">
          <a:blip r:embed="rId5">
            <a:alphaModFix/>
          </a:blip>
          <a:srcRect b="0" l="0" r="0" t="0"/>
          <a:stretch/>
        </p:blipFill>
        <p:spPr>
          <a:xfrm>
            <a:off x="489550" y="1690875"/>
            <a:ext cx="367496" cy="367496"/>
          </a:xfrm>
          <a:prstGeom prst="rect">
            <a:avLst/>
          </a:prstGeom>
          <a:noFill/>
          <a:ln>
            <a:noFill/>
          </a:ln>
        </p:spPr>
      </p:pic>
      <p:pic>
        <p:nvPicPr>
          <p:cNvPr descr="image.png" id="215" name="Google Shape;215;p24"/>
          <p:cNvPicPr preferRelativeResize="0"/>
          <p:nvPr/>
        </p:nvPicPr>
        <p:blipFill rotWithShape="1">
          <a:blip r:embed="rId6">
            <a:alphaModFix/>
          </a:blip>
          <a:srcRect b="0" l="0" r="0" t="0"/>
          <a:stretch/>
        </p:blipFill>
        <p:spPr>
          <a:xfrm>
            <a:off x="599806" y="1801124"/>
            <a:ext cx="147008" cy="146998"/>
          </a:xfrm>
          <a:prstGeom prst="rect">
            <a:avLst/>
          </a:prstGeom>
          <a:noFill/>
          <a:ln>
            <a:noFill/>
          </a:ln>
        </p:spPr>
      </p:pic>
      <p:pic>
        <p:nvPicPr>
          <p:cNvPr descr="image.png" id="216" name="Google Shape;216;p24"/>
          <p:cNvPicPr preferRelativeResize="0"/>
          <p:nvPr/>
        </p:nvPicPr>
        <p:blipFill rotWithShape="1">
          <a:blip r:embed="rId7">
            <a:alphaModFix/>
          </a:blip>
          <a:srcRect b="0" l="0" r="0" t="0"/>
          <a:stretch/>
        </p:blipFill>
        <p:spPr>
          <a:xfrm>
            <a:off x="489550" y="2270982"/>
            <a:ext cx="367496" cy="367496"/>
          </a:xfrm>
          <a:prstGeom prst="rect">
            <a:avLst/>
          </a:prstGeom>
          <a:noFill/>
          <a:ln>
            <a:noFill/>
          </a:ln>
        </p:spPr>
      </p:pic>
      <p:pic>
        <p:nvPicPr>
          <p:cNvPr descr="image.png" id="217" name="Google Shape;217;p24"/>
          <p:cNvPicPr preferRelativeResize="0"/>
          <p:nvPr/>
        </p:nvPicPr>
        <p:blipFill rotWithShape="1">
          <a:blip r:embed="rId8">
            <a:alphaModFix/>
          </a:blip>
          <a:srcRect b="0" l="0" r="0" t="0"/>
          <a:stretch/>
        </p:blipFill>
        <p:spPr>
          <a:xfrm>
            <a:off x="581430" y="2381230"/>
            <a:ext cx="183748" cy="146998"/>
          </a:xfrm>
          <a:prstGeom prst="rect">
            <a:avLst/>
          </a:prstGeom>
          <a:noFill/>
          <a:ln>
            <a:noFill/>
          </a:ln>
        </p:spPr>
      </p:pic>
      <p:pic>
        <p:nvPicPr>
          <p:cNvPr descr="image.png" id="218" name="Google Shape;218;p24"/>
          <p:cNvPicPr preferRelativeResize="0"/>
          <p:nvPr/>
        </p:nvPicPr>
        <p:blipFill rotWithShape="1">
          <a:blip r:embed="rId9">
            <a:alphaModFix/>
          </a:blip>
          <a:srcRect b="0" l="0" r="0" t="0"/>
          <a:stretch/>
        </p:blipFill>
        <p:spPr>
          <a:xfrm>
            <a:off x="489550" y="2851079"/>
            <a:ext cx="367496" cy="367496"/>
          </a:xfrm>
          <a:prstGeom prst="rect">
            <a:avLst/>
          </a:prstGeom>
          <a:noFill/>
          <a:ln>
            <a:noFill/>
          </a:ln>
        </p:spPr>
      </p:pic>
      <p:pic>
        <p:nvPicPr>
          <p:cNvPr descr="image.png" id="219" name="Google Shape;219;p24"/>
          <p:cNvPicPr preferRelativeResize="0"/>
          <p:nvPr/>
        </p:nvPicPr>
        <p:blipFill rotWithShape="1">
          <a:blip r:embed="rId10">
            <a:alphaModFix/>
          </a:blip>
          <a:srcRect b="0" l="0" r="0" t="0"/>
          <a:stretch/>
        </p:blipFill>
        <p:spPr>
          <a:xfrm>
            <a:off x="581430" y="2961328"/>
            <a:ext cx="183748" cy="14699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3" name="Shape 223"/>
        <p:cNvGrpSpPr/>
        <p:nvPr/>
      </p:nvGrpSpPr>
      <p:grpSpPr>
        <a:xfrm>
          <a:off x="0" y="0"/>
          <a:ext cx="0" cy="0"/>
          <a:chOff x="0" y="0"/>
          <a:chExt cx="0" cy="0"/>
        </a:xfrm>
      </p:grpSpPr>
      <p:sp>
        <p:nvSpPr>
          <p:cNvPr id="224" name="Google Shape;224;p25"/>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3600">
                <a:solidFill>
                  <a:srgbClr val="1E3A8A"/>
                </a:solidFill>
                <a:latin typeface="Rubik"/>
                <a:ea typeface="Rubik"/>
                <a:cs typeface="Rubik"/>
                <a:sym typeface="Rubik"/>
              </a:rPr>
              <a:t> Literature Review Summary</a:t>
            </a:r>
            <a:endParaRPr/>
          </a:p>
        </p:txBody>
      </p:sp>
      <p:sp>
        <p:nvSpPr>
          <p:cNvPr id="225" name="Google Shape;225;p25"/>
          <p:cNvSpPr txBox="1"/>
          <p:nvPr>
            <p:ph idx="12" type="sldNum"/>
          </p:nvPr>
        </p:nvSpPr>
        <p:spPr>
          <a:xfrm>
            <a:off x="9858926" y="6375026"/>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226" name="Google Shape;226;p25"/>
          <p:cNvSpPr txBox="1"/>
          <p:nvPr/>
        </p:nvSpPr>
        <p:spPr>
          <a:xfrm>
            <a:off x="571500" y="1296900"/>
            <a:ext cx="11239500" cy="369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lang="en-US" sz="2400">
                <a:solidFill>
                  <a:srgbClr val="475569"/>
                </a:solidFill>
                <a:latin typeface="Heebo"/>
                <a:ea typeface="Heebo"/>
                <a:cs typeface="Heebo"/>
                <a:sym typeface="Heebo"/>
              </a:rPr>
              <a:t>To summarize our literature review, we reach</a:t>
            </a:r>
            <a:r>
              <a:rPr b="1" lang="en-US" sz="2400">
                <a:solidFill>
                  <a:srgbClr val="475569"/>
                </a:solidFill>
                <a:latin typeface="Heebo"/>
                <a:ea typeface="Heebo"/>
                <a:cs typeface="Heebo"/>
                <a:sym typeface="Heebo"/>
              </a:rPr>
              <a:t> three key conclusions</a:t>
            </a:r>
            <a:r>
              <a:rPr lang="en-US" sz="2400">
                <a:solidFill>
                  <a:srgbClr val="475569"/>
                </a:solidFill>
                <a:latin typeface="Heebo"/>
                <a:ea typeface="Heebo"/>
                <a:cs typeface="Heebo"/>
                <a:sym typeface="Heebo"/>
              </a:rPr>
              <a:t>:</a:t>
            </a:r>
            <a:endParaRPr sz="2400">
              <a:solidFill>
                <a:srgbClr val="475569"/>
              </a:solidFill>
              <a:latin typeface="Heebo"/>
              <a:ea typeface="Heebo"/>
              <a:cs typeface="Heebo"/>
              <a:sym typeface="Heebo"/>
            </a:endParaRPr>
          </a:p>
        </p:txBody>
      </p:sp>
      <p:pic>
        <p:nvPicPr>
          <p:cNvPr descr="image.png" id="227" name="Google Shape;227;p25"/>
          <p:cNvPicPr preferRelativeResize="0"/>
          <p:nvPr/>
        </p:nvPicPr>
        <p:blipFill rotWithShape="1">
          <a:blip r:embed="rId4">
            <a:alphaModFix/>
          </a:blip>
          <a:srcRect b="0" l="0" r="0" t="0"/>
          <a:stretch/>
        </p:blipFill>
        <p:spPr>
          <a:xfrm>
            <a:off x="437925" y="1890265"/>
            <a:ext cx="3354145" cy="3665620"/>
          </a:xfrm>
          <a:prstGeom prst="rect">
            <a:avLst/>
          </a:prstGeom>
          <a:noFill/>
          <a:ln>
            <a:noFill/>
          </a:ln>
        </p:spPr>
      </p:pic>
      <p:sp>
        <p:nvSpPr>
          <p:cNvPr id="228" name="Google Shape;228;p25"/>
          <p:cNvSpPr txBox="1"/>
          <p:nvPr/>
        </p:nvSpPr>
        <p:spPr>
          <a:xfrm>
            <a:off x="510298" y="2451172"/>
            <a:ext cx="3209400" cy="2883300"/>
          </a:xfrm>
          <a:prstGeom prst="rect">
            <a:avLst/>
          </a:prstGeom>
          <a:noFill/>
          <a:ln>
            <a:noFill/>
          </a:ln>
        </p:spPr>
        <p:txBody>
          <a:bodyPr anchorCtr="0" anchor="t" bIns="86950" lIns="86950" spcFirstLastPara="1" rIns="86950" wrap="square" tIns="86950">
            <a:spAutoFit/>
          </a:bodyPr>
          <a:lstStyle/>
          <a:p>
            <a:pPr indent="0" lvl="0" marL="0" rtl="0" algn="ctr">
              <a:lnSpc>
                <a:spcPct val="115000"/>
              </a:lnSpc>
              <a:spcBef>
                <a:spcPts val="0"/>
              </a:spcBef>
              <a:spcAft>
                <a:spcPts val="0"/>
              </a:spcAft>
              <a:buNone/>
            </a:pPr>
            <a:r>
              <a:rPr b="1" lang="en-US" sz="2312">
                <a:solidFill>
                  <a:srgbClr val="475569"/>
                </a:solidFill>
                <a:latin typeface="Heebo"/>
                <a:ea typeface="Heebo"/>
                <a:cs typeface="Heebo"/>
                <a:sym typeface="Heebo"/>
              </a:rPr>
              <a:t>Context Is Key </a:t>
            </a:r>
            <a:endParaRPr b="1" sz="2312">
              <a:solidFill>
                <a:srgbClr val="475569"/>
              </a:solidFill>
              <a:latin typeface="Heebo"/>
              <a:ea typeface="Heebo"/>
              <a:cs typeface="Heebo"/>
              <a:sym typeface="Heebo"/>
            </a:endParaRPr>
          </a:p>
          <a:p>
            <a:pPr indent="0" lvl="0" marL="0" rtl="0" algn="ctr">
              <a:lnSpc>
                <a:spcPct val="115000"/>
              </a:lnSpc>
              <a:spcBef>
                <a:spcPts val="0"/>
              </a:spcBef>
              <a:spcAft>
                <a:spcPts val="0"/>
              </a:spcAft>
              <a:buNone/>
            </a:pPr>
            <a:r>
              <a:rPr lang="en-US" sz="2212">
                <a:solidFill>
                  <a:srgbClr val="475569"/>
                </a:solidFill>
                <a:latin typeface="Heebo"/>
                <a:ea typeface="Heebo"/>
                <a:cs typeface="Heebo"/>
                <a:sym typeface="Heebo"/>
              </a:rPr>
              <a:t>AI is integrated across diverse domains, where the risk level directly dictate the required type and depth of explanation.</a:t>
            </a:r>
            <a:endParaRPr sz="2212">
              <a:solidFill>
                <a:srgbClr val="475569"/>
              </a:solidFill>
              <a:latin typeface="Heebo"/>
              <a:ea typeface="Heebo"/>
              <a:cs typeface="Heebo"/>
              <a:sym typeface="Heebo"/>
            </a:endParaRPr>
          </a:p>
        </p:txBody>
      </p:sp>
      <p:sp>
        <p:nvSpPr>
          <p:cNvPr id="229" name="Google Shape;229;p25"/>
          <p:cNvSpPr txBox="1"/>
          <p:nvPr/>
        </p:nvSpPr>
        <p:spPr>
          <a:xfrm>
            <a:off x="1339648" y="1987177"/>
            <a:ext cx="1550700" cy="527100"/>
          </a:xfrm>
          <a:prstGeom prst="rect">
            <a:avLst/>
          </a:prstGeom>
          <a:noFill/>
          <a:ln>
            <a:noFill/>
          </a:ln>
        </p:spPr>
        <p:txBody>
          <a:bodyPr anchorCtr="0" anchor="t" bIns="86950" lIns="86950" spcFirstLastPara="1" rIns="86950" wrap="square" tIns="86950">
            <a:spAutoFit/>
          </a:bodyPr>
          <a:lstStyle/>
          <a:p>
            <a:pPr indent="0" lvl="0" marL="0" rtl="0" algn="ctr">
              <a:lnSpc>
                <a:spcPct val="120000"/>
              </a:lnSpc>
              <a:spcBef>
                <a:spcPts val="0"/>
              </a:spcBef>
              <a:spcAft>
                <a:spcPts val="0"/>
              </a:spcAft>
              <a:buNone/>
            </a:pPr>
            <a:r>
              <a:rPr lang="en-US" sz="2282">
                <a:solidFill>
                  <a:srgbClr val="2563EB"/>
                </a:solidFill>
                <a:latin typeface="Rubik Medium"/>
                <a:ea typeface="Rubik Medium"/>
                <a:cs typeface="Rubik Medium"/>
                <a:sym typeface="Rubik Medium"/>
              </a:rPr>
              <a:t>1</a:t>
            </a:r>
            <a:endParaRPr sz="2282"/>
          </a:p>
        </p:txBody>
      </p:sp>
      <p:pic>
        <p:nvPicPr>
          <p:cNvPr descr="image.png" id="230" name="Google Shape;230;p25"/>
          <p:cNvPicPr preferRelativeResize="0"/>
          <p:nvPr/>
        </p:nvPicPr>
        <p:blipFill rotWithShape="1">
          <a:blip r:embed="rId4">
            <a:alphaModFix/>
          </a:blip>
          <a:srcRect b="0" l="0" r="0" t="0"/>
          <a:stretch/>
        </p:blipFill>
        <p:spPr>
          <a:xfrm>
            <a:off x="4479026" y="1890265"/>
            <a:ext cx="3354145" cy="3665620"/>
          </a:xfrm>
          <a:prstGeom prst="rect">
            <a:avLst/>
          </a:prstGeom>
          <a:noFill/>
          <a:ln>
            <a:noFill/>
          </a:ln>
        </p:spPr>
      </p:pic>
      <p:sp>
        <p:nvSpPr>
          <p:cNvPr id="231" name="Google Shape;231;p25"/>
          <p:cNvSpPr txBox="1"/>
          <p:nvPr/>
        </p:nvSpPr>
        <p:spPr>
          <a:xfrm>
            <a:off x="4528599" y="2451172"/>
            <a:ext cx="3255000" cy="2491500"/>
          </a:xfrm>
          <a:prstGeom prst="rect">
            <a:avLst/>
          </a:prstGeom>
          <a:noFill/>
          <a:ln>
            <a:noFill/>
          </a:ln>
        </p:spPr>
        <p:txBody>
          <a:bodyPr anchorCtr="0" anchor="t" bIns="86950" lIns="86950" spcFirstLastPara="1" rIns="86950" wrap="square" tIns="86950">
            <a:spAutoFit/>
          </a:bodyPr>
          <a:lstStyle/>
          <a:p>
            <a:pPr indent="0" lvl="0" marL="0" rtl="0" algn="ctr">
              <a:lnSpc>
                <a:spcPct val="115000"/>
              </a:lnSpc>
              <a:spcBef>
                <a:spcPts val="0"/>
              </a:spcBef>
              <a:spcAft>
                <a:spcPts val="0"/>
              </a:spcAft>
              <a:buNone/>
            </a:pPr>
            <a:r>
              <a:rPr b="1" lang="en-US" sz="2312">
                <a:solidFill>
                  <a:srgbClr val="475569"/>
                </a:solidFill>
                <a:latin typeface="Heebo"/>
                <a:ea typeface="Heebo"/>
                <a:cs typeface="Heebo"/>
                <a:sym typeface="Heebo"/>
              </a:rPr>
              <a:t>The Trust Gap</a:t>
            </a:r>
            <a:endParaRPr b="1" sz="2312">
              <a:solidFill>
                <a:srgbClr val="475569"/>
              </a:solidFill>
              <a:latin typeface="Heebo"/>
              <a:ea typeface="Heebo"/>
              <a:cs typeface="Heebo"/>
              <a:sym typeface="Heebo"/>
            </a:endParaRPr>
          </a:p>
          <a:p>
            <a:pPr indent="0" lvl="0" marL="0" rtl="0" algn="ctr">
              <a:lnSpc>
                <a:spcPct val="115000"/>
              </a:lnSpc>
              <a:spcBef>
                <a:spcPts val="0"/>
              </a:spcBef>
              <a:spcAft>
                <a:spcPts val="0"/>
              </a:spcAft>
              <a:buClr>
                <a:schemeClr val="dk1"/>
              </a:buClr>
              <a:buFont typeface="Arial"/>
              <a:buNone/>
            </a:pPr>
            <a:r>
              <a:rPr lang="en-US" sz="2212">
                <a:solidFill>
                  <a:srgbClr val="475569"/>
                </a:solidFill>
                <a:latin typeface="Heebo"/>
                <a:ea typeface="Heebo"/>
                <a:cs typeface="Heebo"/>
                <a:sym typeface="Heebo"/>
              </a:rPr>
              <a:t>The Black Box problem prevents users from trusting the system, especially when the stakes are high.</a:t>
            </a:r>
            <a:endParaRPr sz="2212">
              <a:solidFill>
                <a:srgbClr val="475569"/>
              </a:solidFill>
              <a:latin typeface="Heebo"/>
              <a:ea typeface="Heebo"/>
              <a:cs typeface="Heebo"/>
              <a:sym typeface="Heebo"/>
            </a:endParaRPr>
          </a:p>
        </p:txBody>
      </p:sp>
      <p:sp>
        <p:nvSpPr>
          <p:cNvPr id="232" name="Google Shape;232;p25"/>
          <p:cNvSpPr txBox="1"/>
          <p:nvPr/>
        </p:nvSpPr>
        <p:spPr>
          <a:xfrm>
            <a:off x="5380749" y="1987177"/>
            <a:ext cx="1550700" cy="527100"/>
          </a:xfrm>
          <a:prstGeom prst="rect">
            <a:avLst/>
          </a:prstGeom>
          <a:noFill/>
          <a:ln>
            <a:noFill/>
          </a:ln>
        </p:spPr>
        <p:txBody>
          <a:bodyPr anchorCtr="0" anchor="t" bIns="86950" lIns="86950" spcFirstLastPara="1" rIns="86950" wrap="square" tIns="86950">
            <a:spAutoFit/>
          </a:bodyPr>
          <a:lstStyle/>
          <a:p>
            <a:pPr indent="0" lvl="0" marL="0" rtl="0" algn="ctr">
              <a:lnSpc>
                <a:spcPct val="120000"/>
              </a:lnSpc>
              <a:spcBef>
                <a:spcPts val="0"/>
              </a:spcBef>
              <a:spcAft>
                <a:spcPts val="0"/>
              </a:spcAft>
              <a:buNone/>
            </a:pPr>
            <a:r>
              <a:rPr lang="en-US" sz="2282">
                <a:solidFill>
                  <a:srgbClr val="2563EB"/>
                </a:solidFill>
                <a:latin typeface="Rubik Medium"/>
                <a:ea typeface="Rubik Medium"/>
                <a:cs typeface="Rubik Medium"/>
                <a:sym typeface="Rubik Medium"/>
              </a:rPr>
              <a:t>2</a:t>
            </a:r>
            <a:endParaRPr sz="2282"/>
          </a:p>
        </p:txBody>
      </p:sp>
      <p:pic>
        <p:nvPicPr>
          <p:cNvPr descr="image.png" id="233" name="Google Shape;233;p25"/>
          <p:cNvPicPr preferRelativeResize="0"/>
          <p:nvPr/>
        </p:nvPicPr>
        <p:blipFill rotWithShape="1">
          <a:blip r:embed="rId4">
            <a:alphaModFix/>
          </a:blip>
          <a:srcRect b="0" l="0" r="0" t="0"/>
          <a:stretch/>
        </p:blipFill>
        <p:spPr>
          <a:xfrm>
            <a:off x="8456846" y="1874209"/>
            <a:ext cx="3354154" cy="3665623"/>
          </a:xfrm>
          <a:prstGeom prst="rect">
            <a:avLst/>
          </a:prstGeom>
          <a:noFill/>
          <a:ln>
            <a:noFill/>
          </a:ln>
        </p:spPr>
      </p:pic>
      <p:sp>
        <p:nvSpPr>
          <p:cNvPr id="234" name="Google Shape;234;p25"/>
          <p:cNvSpPr txBox="1"/>
          <p:nvPr/>
        </p:nvSpPr>
        <p:spPr>
          <a:xfrm>
            <a:off x="8556075" y="2451147"/>
            <a:ext cx="3255000" cy="2491500"/>
          </a:xfrm>
          <a:prstGeom prst="rect">
            <a:avLst/>
          </a:prstGeom>
          <a:noFill/>
          <a:ln>
            <a:noFill/>
          </a:ln>
        </p:spPr>
        <p:txBody>
          <a:bodyPr anchorCtr="0" anchor="t" bIns="86950" lIns="86950" spcFirstLastPara="1" rIns="86950" wrap="square" tIns="86950">
            <a:spAutoFit/>
          </a:bodyPr>
          <a:lstStyle/>
          <a:p>
            <a:pPr indent="0" lvl="0" marL="0" rtl="0" algn="ctr">
              <a:lnSpc>
                <a:spcPct val="115000"/>
              </a:lnSpc>
              <a:spcBef>
                <a:spcPts val="0"/>
              </a:spcBef>
              <a:spcAft>
                <a:spcPts val="0"/>
              </a:spcAft>
              <a:buNone/>
            </a:pPr>
            <a:r>
              <a:rPr b="1" lang="en-US" sz="2312">
                <a:solidFill>
                  <a:srgbClr val="475569"/>
                </a:solidFill>
                <a:latin typeface="Heebo"/>
                <a:ea typeface="Heebo"/>
                <a:cs typeface="Heebo"/>
                <a:sym typeface="Heebo"/>
              </a:rPr>
              <a:t>XAI Is The Bridge</a:t>
            </a:r>
            <a:endParaRPr b="1" sz="2312">
              <a:solidFill>
                <a:srgbClr val="475569"/>
              </a:solidFill>
              <a:latin typeface="Heebo"/>
              <a:ea typeface="Heebo"/>
              <a:cs typeface="Heebo"/>
              <a:sym typeface="Heebo"/>
            </a:endParaRPr>
          </a:p>
          <a:p>
            <a:pPr indent="0" lvl="0" marL="0" rtl="0" algn="ctr">
              <a:lnSpc>
                <a:spcPct val="115000"/>
              </a:lnSpc>
              <a:spcBef>
                <a:spcPts val="0"/>
              </a:spcBef>
              <a:spcAft>
                <a:spcPts val="0"/>
              </a:spcAft>
              <a:buNone/>
            </a:pPr>
            <a:r>
              <a:rPr lang="en-US" sz="2212">
                <a:solidFill>
                  <a:srgbClr val="475569"/>
                </a:solidFill>
                <a:latin typeface="Heebo"/>
                <a:ea typeface="Heebo"/>
                <a:cs typeface="Heebo"/>
                <a:sym typeface="Heebo"/>
              </a:rPr>
              <a:t>Explainable AI is the solution to this gap. </a:t>
            </a:r>
            <a:endParaRPr sz="2212">
              <a:solidFill>
                <a:srgbClr val="475569"/>
              </a:solidFill>
              <a:latin typeface="Heebo"/>
              <a:ea typeface="Heebo"/>
              <a:cs typeface="Heebo"/>
              <a:sym typeface="Heebo"/>
            </a:endParaRPr>
          </a:p>
          <a:p>
            <a:pPr indent="0" lvl="0" marL="0" rtl="0" algn="ctr">
              <a:lnSpc>
                <a:spcPct val="115000"/>
              </a:lnSpc>
              <a:spcBef>
                <a:spcPts val="0"/>
              </a:spcBef>
              <a:spcAft>
                <a:spcPts val="0"/>
              </a:spcAft>
              <a:buNone/>
            </a:pPr>
            <a:r>
              <a:rPr lang="en-US" sz="2212">
                <a:solidFill>
                  <a:srgbClr val="475569"/>
                </a:solidFill>
                <a:latin typeface="Heebo"/>
                <a:ea typeface="Heebo"/>
                <a:cs typeface="Heebo"/>
                <a:sym typeface="Heebo"/>
              </a:rPr>
              <a:t>By using it we can transform a 'Black Box' into a transparent tool.</a:t>
            </a:r>
            <a:endParaRPr sz="2212">
              <a:solidFill>
                <a:srgbClr val="475569"/>
              </a:solidFill>
              <a:latin typeface="Heebo"/>
              <a:ea typeface="Heebo"/>
              <a:cs typeface="Heebo"/>
              <a:sym typeface="Heebo"/>
            </a:endParaRPr>
          </a:p>
        </p:txBody>
      </p:sp>
      <p:sp>
        <p:nvSpPr>
          <p:cNvPr id="235" name="Google Shape;235;p25"/>
          <p:cNvSpPr txBox="1"/>
          <p:nvPr/>
        </p:nvSpPr>
        <p:spPr>
          <a:xfrm>
            <a:off x="9408225" y="1970473"/>
            <a:ext cx="1550700" cy="527100"/>
          </a:xfrm>
          <a:prstGeom prst="rect">
            <a:avLst/>
          </a:prstGeom>
          <a:noFill/>
          <a:ln>
            <a:noFill/>
          </a:ln>
        </p:spPr>
        <p:txBody>
          <a:bodyPr anchorCtr="0" anchor="t" bIns="86950" lIns="86950" spcFirstLastPara="1" rIns="86950" wrap="square" tIns="86950">
            <a:spAutoFit/>
          </a:bodyPr>
          <a:lstStyle/>
          <a:p>
            <a:pPr indent="0" lvl="0" marL="0" rtl="0" algn="ctr">
              <a:lnSpc>
                <a:spcPct val="120000"/>
              </a:lnSpc>
              <a:spcBef>
                <a:spcPts val="0"/>
              </a:spcBef>
              <a:spcAft>
                <a:spcPts val="0"/>
              </a:spcAft>
              <a:buNone/>
            </a:pPr>
            <a:r>
              <a:rPr lang="en-US" sz="2282">
                <a:solidFill>
                  <a:srgbClr val="2563EB"/>
                </a:solidFill>
                <a:latin typeface="Rubik Medium"/>
                <a:ea typeface="Rubik Medium"/>
                <a:cs typeface="Rubik Medium"/>
                <a:sym typeface="Rubik Medium"/>
              </a:rPr>
              <a:t>3</a:t>
            </a:r>
            <a:endParaRPr sz="2282"/>
          </a:p>
        </p:txBody>
      </p:sp>
      <p:sp>
        <p:nvSpPr>
          <p:cNvPr id="236" name="Google Shape;236;p25"/>
          <p:cNvSpPr txBox="1"/>
          <p:nvPr/>
        </p:nvSpPr>
        <p:spPr>
          <a:xfrm>
            <a:off x="571500" y="5628700"/>
            <a:ext cx="10425600" cy="97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2400" u="sng">
                <a:solidFill>
                  <a:srgbClr val="1E3A8A"/>
                </a:solidFill>
                <a:latin typeface="Heebo"/>
                <a:ea typeface="Heebo"/>
                <a:cs typeface="Heebo"/>
                <a:sym typeface="Heebo"/>
              </a:rPr>
              <a:t>This leads directly to our research goal:</a:t>
            </a:r>
            <a:r>
              <a:rPr b="1" lang="en-US" sz="2400">
                <a:solidFill>
                  <a:srgbClr val="1E3A8A"/>
                </a:solidFill>
                <a:latin typeface="Heebo"/>
                <a:ea typeface="Heebo"/>
                <a:cs typeface="Heebo"/>
                <a:sym typeface="Heebo"/>
              </a:rPr>
              <a:t> </a:t>
            </a:r>
            <a:r>
              <a:rPr lang="en-US" sz="2400">
                <a:solidFill>
                  <a:srgbClr val="1E3A8A"/>
                </a:solidFill>
                <a:latin typeface="Heebo"/>
                <a:ea typeface="Heebo"/>
                <a:cs typeface="Heebo"/>
                <a:sym typeface="Heebo"/>
              </a:rPr>
              <a:t>To test which of the  XAI explanation methods is most effective for each specific risk level.</a:t>
            </a:r>
            <a:endParaRPr sz="2400">
              <a:solidFill>
                <a:srgbClr val="1E3A8A"/>
              </a:solidFill>
              <a:latin typeface="Heebo"/>
              <a:ea typeface="Heebo"/>
              <a:cs typeface="Heebo"/>
              <a:sym typeface="Heeb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6"/>
          <p:cNvSpPr txBox="1"/>
          <p:nvPr/>
        </p:nvSpPr>
        <p:spPr>
          <a:xfrm>
            <a:off x="768450" y="3044250"/>
            <a:ext cx="10655100" cy="7695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lang="en-US" sz="5000">
                <a:solidFill>
                  <a:srgbClr val="1E3A8A"/>
                </a:solidFill>
                <a:latin typeface="Rubik ExtraBold"/>
                <a:ea typeface="Rubik ExtraBold"/>
                <a:cs typeface="Rubik ExtraBold"/>
                <a:sym typeface="Rubik ExtraBold"/>
              </a:rPr>
              <a:t>Research</a:t>
            </a:r>
            <a:r>
              <a:rPr lang="en-US" sz="5000">
                <a:solidFill>
                  <a:srgbClr val="1E3A8A"/>
                </a:solidFill>
                <a:latin typeface="Rubik ExtraBold"/>
                <a:ea typeface="Rubik ExtraBold"/>
                <a:cs typeface="Rubik ExtraBold"/>
                <a:sym typeface="Rubik ExtraBold"/>
              </a:rPr>
              <a:t> </a:t>
            </a:r>
            <a:r>
              <a:rPr lang="en-US" sz="5000">
                <a:solidFill>
                  <a:srgbClr val="1E3A8A"/>
                </a:solidFill>
                <a:latin typeface="Rubik ExtraBold"/>
                <a:ea typeface="Rubik ExtraBold"/>
                <a:cs typeface="Rubik ExtraBold"/>
                <a:sym typeface="Rubik ExtraBold"/>
              </a:rPr>
              <a:t>Process</a:t>
            </a:r>
            <a:endParaRPr sz="5000">
              <a:latin typeface="Rubik ExtraBold"/>
              <a:ea typeface="Rubik ExtraBold"/>
              <a:cs typeface="Rubik ExtraBold"/>
              <a:sym typeface="Rubik ExtraBold"/>
            </a:endParaRPr>
          </a:p>
        </p:txBody>
      </p:sp>
      <p:sp>
        <p:nvSpPr>
          <p:cNvPr id="242" name="Google Shape;242;p26"/>
          <p:cNvSpPr txBox="1"/>
          <p:nvPr>
            <p:ph idx="12" type="sldNum"/>
          </p:nvPr>
        </p:nvSpPr>
        <p:spPr>
          <a:xfrm>
            <a:off x="984025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6" name="Shape 246"/>
        <p:cNvGrpSpPr/>
        <p:nvPr/>
      </p:nvGrpSpPr>
      <p:grpSpPr>
        <a:xfrm>
          <a:off x="0" y="0"/>
          <a:ext cx="0" cy="0"/>
          <a:chOff x="0" y="0"/>
          <a:chExt cx="0" cy="0"/>
        </a:xfrm>
      </p:grpSpPr>
      <p:sp>
        <p:nvSpPr>
          <p:cNvPr id="247" name="Google Shape;247;p27"/>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rtl="0" algn="l">
              <a:lnSpc>
                <a:spcPct val="120000"/>
              </a:lnSpc>
              <a:spcBef>
                <a:spcPts val="0"/>
              </a:spcBef>
              <a:spcAft>
                <a:spcPts val="0"/>
              </a:spcAft>
              <a:buNone/>
            </a:pPr>
            <a:r>
              <a:rPr b="1" lang="en-US" sz="3600">
                <a:solidFill>
                  <a:srgbClr val="1E3A8A"/>
                </a:solidFill>
                <a:latin typeface="Rubik"/>
                <a:ea typeface="Rubik"/>
                <a:cs typeface="Rubik"/>
                <a:sym typeface="Rubik"/>
              </a:rPr>
              <a:t>Our Goal</a:t>
            </a:r>
            <a:endParaRPr b="1" sz="3600">
              <a:solidFill>
                <a:srgbClr val="1E3A8A"/>
              </a:solidFill>
              <a:latin typeface="Rubik"/>
              <a:ea typeface="Rubik"/>
              <a:cs typeface="Rubik"/>
              <a:sym typeface="Rubik"/>
            </a:endParaRPr>
          </a:p>
        </p:txBody>
      </p:sp>
      <p:sp>
        <p:nvSpPr>
          <p:cNvPr id="248" name="Google Shape;248;p27"/>
          <p:cNvSpPr txBox="1"/>
          <p:nvPr>
            <p:ph idx="12" type="sldNum"/>
          </p:nvPr>
        </p:nvSpPr>
        <p:spPr>
          <a:xfrm>
            <a:off x="10039501" y="6325026"/>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49" name="Google Shape;249;p27"/>
          <p:cNvSpPr txBox="1"/>
          <p:nvPr/>
        </p:nvSpPr>
        <p:spPr>
          <a:xfrm>
            <a:off x="1456366" y="1782000"/>
            <a:ext cx="9811500" cy="9267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lang="en-US" sz="2800">
                <a:solidFill>
                  <a:srgbClr val="475569"/>
                </a:solidFill>
                <a:latin typeface="Heebo"/>
                <a:ea typeface="Heebo"/>
                <a:cs typeface="Heebo"/>
                <a:sym typeface="Heebo"/>
              </a:rPr>
              <a:t>Developing a system that evaluates Explainable AI methods across domains with different human impact.</a:t>
            </a:r>
            <a:endParaRPr sz="2800">
              <a:solidFill>
                <a:srgbClr val="475569"/>
              </a:solidFill>
              <a:latin typeface="Heebo"/>
              <a:ea typeface="Heebo"/>
              <a:cs typeface="Heebo"/>
              <a:sym typeface="Heebo"/>
            </a:endParaRPr>
          </a:p>
        </p:txBody>
      </p:sp>
      <p:sp>
        <p:nvSpPr>
          <p:cNvPr id="250" name="Google Shape;250;p27"/>
          <p:cNvSpPr txBox="1"/>
          <p:nvPr/>
        </p:nvSpPr>
        <p:spPr>
          <a:xfrm>
            <a:off x="1456375" y="3281350"/>
            <a:ext cx="10526400" cy="1576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Clr>
                <a:schemeClr val="dk1"/>
              </a:buClr>
              <a:buSzPts val="1100"/>
              <a:buFont typeface="Arial"/>
              <a:buNone/>
            </a:pPr>
            <a:r>
              <a:rPr lang="en-US" sz="2800">
                <a:solidFill>
                  <a:srgbClr val="475569"/>
                </a:solidFill>
                <a:latin typeface="Heebo"/>
                <a:ea typeface="Heebo"/>
                <a:cs typeface="Heebo"/>
                <a:sym typeface="Heebo"/>
              </a:rPr>
              <a:t>Comparing how users perceive and trust different XAI tools in high, medium, and low risk decision contexts.</a:t>
            </a:r>
            <a:endParaRPr sz="2800">
              <a:solidFill>
                <a:srgbClr val="475569"/>
              </a:solidFill>
              <a:latin typeface="Heebo"/>
              <a:ea typeface="Heebo"/>
              <a:cs typeface="Heebo"/>
              <a:sym typeface="Heebo"/>
            </a:endParaRPr>
          </a:p>
          <a:p>
            <a:pPr indent="0" lvl="0" marL="0" marR="0" rtl="0" algn="l">
              <a:lnSpc>
                <a:spcPct val="160000"/>
              </a:lnSpc>
              <a:spcBef>
                <a:spcPts val="1200"/>
              </a:spcBef>
              <a:spcAft>
                <a:spcPts val="0"/>
              </a:spcAft>
              <a:buNone/>
            </a:pPr>
            <a:r>
              <a:t/>
            </a:r>
            <a:endParaRPr sz="2800">
              <a:solidFill>
                <a:srgbClr val="475569"/>
              </a:solidFill>
              <a:latin typeface="Heebo"/>
              <a:ea typeface="Heebo"/>
              <a:cs typeface="Heebo"/>
              <a:sym typeface="Heebo"/>
            </a:endParaRPr>
          </a:p>
        </p:txBody>
      </p:sp>
      <p:sp>
        <p:nvSpPr>
          <p:cNvPr id="251" name="Google Shape;251;p27"/>
          <p:cNvSpPr txBox="1"/>
          <p:nvPr/>
        </p:nvSpPr>
        <p:spPr>
          <a:xfrm>
            <a:off x="1456366" y="5020500"/>
            <a:ext cx="9030600" cy="1576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Clr>
                <a:schemeClr val="dk1"/>
              </a:buClr>
              <a:buSzPts val="1100"/>
              <a:buFont typeface="Arial"/>
              <a:buNone/>
            </a:pPr>
            <a:r>
              <a:rPr lang="en-US" sz="2800">
                <a:solidFill>
                  <a:srgbClr val="475569"/>
                </a:solidFill>
                <a:latin typeface="Heebo"/>
                <a:ea typeface="Heebo"/>
                <a:cs typeface="Heebo"/>
                <a:sym typeface="Heebo"/>
              </a:rPr>
              <a:t>Provide insights into how explanation preferences change based on domain risk.</a:t>
            </a:r>
            <a:endParaRPr sz="2800">
              <a:solidFill>
                <a:srgbClr val="475569"/>
              </a:solidFill>
              <a:latin typeface="Heebo"/>
              <a:ea typeface="Heebo"/>
              <a:cs typeface="Heebo"/>
              <a:sym typeface="Heebo"/>
            </a:endParaRPr>
          </a:p>
          <a:p>
            <a:pPr indent="0" lvl="0" marL="0" marR="0" rtl="0" algn="l">
              <a:lnSpc>
                <a:spcPct val="160000"/>
              </a:lnSpc>
              <a:spcBef>
                <a:spcPts val="1200"/>
              </a:spcBef>
              <a:spcAft>
                <a:spcPts val="0"/>
              </a:spcAft>
              <a:buNone/>
            </a:pPr>
            <a:r>
              <a:t/>
            </a:r>
            <a:endParaRPr sz="2800">
              <a:solidFill>
                <a:srgbClr val="475569"/>
              </a:solidFill>
              <a:latin typeface="Heebo"/>
              <a:ea typeface="Heebo"/>
              <a:cs typeface="Heebo"/>
              <a:sym typeface="Heebo"/>
            </a:endParaRPr>
          </a:p>
        </p:txBody>
      </p:sp>
      <p:pic>
        <p:nvPicPr>
          <p:cNvPr descr="image.png" id="252" name="Google Shape;252;p27"/>
          <p:cNvPicPr preferRelativeResize="0"/>
          <p:nvPr/>
        </p:nvPicPr>
        <p:blipFill rotWithShape="1">
          <a:blip r:embed="rId4">
            <a:alphaModFix/>
          </a:blip>
          <a:srcRect b="0" l="0" r="0" t="0"/>
          <a:stretch/>
        </p:blipFill>
        <p:spPr>
          <a:xfrm>
            <a:off x="478000" y="1782010"/>
            <a:ext cx="666750" cy="666750"/>
          </a:xfrm>
          <a:prstGeom prst="rect">
            <a:avLst/>
          </a:prstGeom>
          <a:noFill/>
          <a:ln>
            <a:noFill/>
          </a:ln>
        </p:spPr>
      </p:pic>
      <p:pic>
        <p:nvPicPr>
          <p:cNvPr descr="image.png" id="253" name="Google Shape;253;p27"/>
          <p:cNvPicPr preferRelativeResize="0"/>
          <p:nvPr/>
        </p:nvPicPr>
        <p:blipFill rotWithShape="1">
          <a:blip r:embed="rId5">
            <a:alphaModFix/>
          </a:blip>
          <a:srcRect b="0" l="0" r="0" t="0"/>
          <a:stretch/>
        </p:blipFill>
        <p:spPr>
          <a:xfrm>
            <a:off x="478000" y="3401260"/>
            <a:ext cx="666750" cy="666750"/>
          </a:xfrm>
          <a:prstGeom prst="rect">
            <a:avLst/>
          </a:prstGeom>
          <a:noFill/>
          <a:ln>
            <a:noFill/>
          </a:ln>
        </p:spPr>
      </p:pic>
      <p:pic>
        <p:nvPicPr>
          <p:cNvPr descr="image.png" id="254" name="Google Shape;254;p27"/>
          <p:cNvPicPr preferRelativeResize="0"/>
          <p:nvPr/>
        </p:nvPicPr>
        <p:blipFill rotWithShape="1">
          <a:blip r:embed="rId6">
            <a:alphaModFix/>
          </a:blip>
          <a:srcRect b="0" l="0" r="0" t="0"/>
          <a:stretch/>
        </p:blipFill>
        <p:spPr>
          <a:xfrm>
            <a:off x="478000" y="5020510"/>
            <a:ext cx="666750" cy="666750"/>
          </a:xfrm>
          <a:prstGeom prst="rect">
            <a:avLst/>
          </a:prstGeom>
          <a:noFill/>
          <a:ln>
            <a:noFill/>
          </a:ln>
        </p:spPr>
      </p:pic>
      <p:pic>
        <p:nvPicPr>
          <p:cNvPr descr="image.png" id="255" name="Google Shape;255;p27"/>
          <p:cNvPicPr preferRelativeResize="0"/>
          <p:nvPr/>
        </p:nvPicPr>
        <p:blipFill rotWithShape="1">
          <a:blip r:embed="rId7">
            <a:alphaModFix/>
          </a:blip>
          <a:srcRect b="0" l="0" r="0" t="0"/>
          <a:stretch/>
        </p:blipFill>
        <p:spPr>
          <a:xfrm>
            <a:off x="644687" y="1982035"/>
            <a:ext cx="333375" cy="266700"/>
          </a:xfrm>
          <a:prstGeom prst="rect">
            <a:avLst/>
          </a:prstGeom>
          <a:noFill/>
          <a:ln>
            <a:noFill/>
          </a:ln>
        </p:spPr>
      </p:pic>
      <p:pic>
        <p:nvPicPr>
          <p:cNvPr descr="image.png" id="256" name="Google Shape;256;p27"/>
          <p:cNvPicPr preferRelativeResize="0"/>
          <p:nvPr/>
        </p:nvPicPr>
        <p:blipFill rotWithShape="1">
          <a:blip r:embed="rId8">
            <a:alphaModFix/>
          </a:blip>
          <a:srcRect b="0" l="0" r="0" t="0"/>
          <a:stretch/>
        </p:blipFill>
        <p:spPr>
          <a:xfrm>
            <a:off x="644687" y="3601285"/>
            <a:ext cx="333375" cy="266700"/>
          </a:xfrm>
          <a:prstGeom prst="rect">
            <a:avLst/>
          </a:prstGeom>
          <a:noFill/>
          <a:ln>
            <a:noFill/>
          </a:ln>
        </p:spPr>
      </p:pic>
      <p:pic>
        <p:nvPicPr>
          <p:cNvPr descr="image.png" id="257" name="Google Shape;257;p27"/>
          <p:cNvPicPr preferRelativeResize="0"/>
          <p:nvPr/>
        </p:nvPicPr>
        <p:blipFill rotWithShape="1">
          <a:blip r:embed="rId9">
            <a:alphaModFix/>
          </a:blip>
          <a:srcRect b="0" l="0" r="0" t="0"/>
          <a:stretch/>
        </p:blipFill>
        <p:spPr>
          <a:xfrm>
            <a:off x="678025" y="5220535"/>
            <a:ext cx="266700" cy="2667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1" name="Shape 261"/>
        <p:cNvGrpSpPr/>
        <p:nvPr/>
      </p:nvGrpSpPr>
      <p:grpSpPr>
        <a:xfrm>
          <a:off x="0" y="0"/>
          <a:ext cx="0" cy="0"/>
          <a:chOff x="0" y="0"/>
          <a:chExt cx="0" cy="0"/>
        </a:xfrm>
      </p:grpSpPr>
      <p:sp>
        <p:nvSpPr>
          <p:cNvPr id="262" name="Google Shape;262;p28"/>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rtl="0" algn="l">
              <a:lnSpc>
                <a:spcPct val="120000"/>
              </a:lnSpc>
              <a:spcBef>
                <a:spcPts val="0"/>
              </a:spcBef>
              <a:spcAft>
                <a:spcPts val="0"/>
              </a:spcAft>
              <a:buNone/>
            </a:pPr>
            <a:r>
              <a:rPr b="1" lang="en-US" sz="3600">
                <a:solidFill>
                  <a:srgbClr val="1E3A8A"/>
                </a:solidFill>
                <a:latin typeface="Rubik"/>
                <a:ea typeface="Rubik"/>
                <a:cs typeface="Rubik"/>
                <a:sym typeface="Rubik"/>
              </a:rPr>
              <a:t>Chosen Datasets</a:t>
            </a:r>
            <a:endParaRPr b="1" sz="3600">
              <a:solidFill>
                <a:srgbClr val="1E3A8A"/>
              </a:solidFill>
              <a:latin typeface="Rubik"/>
              <a:ea typeface="Rubik"/>
              <a:cs typeface="Rubik"/>
              <a:sym typeface="Rubik"/>
            </a:endParaRPr>
          </a:p>
        </p:txBody>
      </p:sp>
      <p:sp>
        <p:nvSpPr>
          <p:cNvPr id="263" name="Google Shape;263;p28"/>
          <p:cNvSpPr txBox="1"/>
          <p:nvPr>
            <p:ph idx="12" type="sldNum"/>
          </p:nvPr>
        </p:nvSpPr>
        <p:spPr>
          <a:xfrm>
            <a:off x="9858926" y="6375026"/>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image.png" id="264" name="Google Shape;264;p28"/>
          <p:cNvPicPr preferRelativeResize="0"/>
          <p:nvPr/>
        </p:nvPicPr>
        <p:blipFill rotWithShape="1">
          <a:blip r:embed="rId4">
            <a:alphaModFix/>
          </a:blip>
          <a:srcRect b="0" l="0" r="0" t="0"/>
          <a:stretch/>
        </p:blipFill>
        <p:spPr>
          <a:xfrm>
            <a:off x="571500" y="1483576"/>
            <a:ext cx="3555950" cy="4834676"/>
          </a:xfrm>
          <a:prstGeom prst="rect">
            <a:avLst/>
          </a:prstGeom>
          <a:noFill/>
          <a:ln>
            <a:noFill/>
          </a:ln>
        </p:spPr>
      </p:pic>
      <p:pic>
        <p:nvPicPr>
          <p:cNvPr descr="image.png" id="265" name="Google Shape;265;p28"/>
          <p:cNvPicPr preferRelativeResize="0"/>
          <p:nvPr/>
        </p:nvPicPr>
        <p:blipFill rotWithShape="1">
          <a:blip r:embed="rId5">
            <a:alphaModFix/>
          </a:blip>
          <a:srcRect b="0" l="0" r="0" t="0"/>
          <a:stretch/>
        </p:blipFill>
        <p:spPr>
          <a:xfrm>
            <a:off x="4317950" y="1483576"/>
            <a:ext cx="3555950" cy="4834676"/>
          </a:xfrm>
          <a:prstGeom prst="rect">
            <a:avLst/>
          </a:prstGeom>
          <a:noFill/>
          <a:ln>
            <a:noFill/>
          </a:ln>
        </p:spPr>
      </p:pic>
      <p:pic>
        <p:nvPicPr>
          <p:cNvPr descr="image.png" id="266" name="Google Shape;266;p28"/>
          <p:cNvPicPr preferRelativeResize="0"/>
          <p:nvPr/>
        </p:nvPicPr>
        <p:blipFill rotWithShape="1">
          <a:blip r:embed="rId6">
            <a:alphaModFix/>
          </a:blip>
          <a:srcRect b="0" l="0" r="0" t="0"/>
          <a:stretch/>
        </p:blipFill>
        <p:spPr>
          <a:xfrm>
            <a:off x="8064400" y="1483576"/>
            <a:ext cx="3555950" cy="4834676"/>
          </a:xfrm>
          <a:prstGeom prst="rect">
            <a:avLst/>
          </a:prstGeom>
          <a:noFill/>
          <a:ln>
            <a:noFill/>
          </a:ln>
        </p:spPr>
      </p:pic>
      <p:pic>
        <p:nvPicPr>
          <p:cNvPr descr="image.png" id="267" name="Google Shape;267;p28"/>
          <p:cNvPicPr preferRelativeResize="0"/>
          <p:nvPr/>
        </p:nvPicPr>
        <p:blipFill rotWithShape="1">
          <a:blip r:embed="rId7">
            <a:alphaModFix/>
          </a:blip>
          <a:srcRect b="0" l="0" r="0" t="0"/>
          <a:stretch/>
        </p:blipFill>
        <p:spPr>
          <a:xfrm>
            <a:off x="819150" y="5812131"/>
            <a:ext cx="952500" cy="381000"/>
          </a:xfrm>
          <a:prstGeom prst="rect">
            <a:avLst/>
          </a:prstGeom>
          <a:noFill/>
          <a:ln>
            <a:noFill/>
          </a:ln>
        </p:spPr>
      </p:pic>
      <p:pic>
        <p:nvPicPr>
          <p:cNvPr descr="image.png" id="268" name="Google Shape;268;p28"/>
          <p:cNvPicPr preferRelativeResize="0"/>
          <p:nvPr/>
        </p:nvPicPr>
        <p:blipFill rotWithShape="1">
          <a:blip r:embed="rId8">
            <a:alphaModFix/>
          </a:blip>
          <a:srcRect b="0" l="0" r="0" t="0"/>
          <a:stretch/>
        </p:blipFill>
        <p:spPr>
          <a:xfrm>
            <a:off x="4565600" y="5812131"/>
            <a:ext cx="1200150" cy="381000"/>
          </a:xfrm>
          <a:prstGeom prst="rect">
            <a:avLst/>
          </a:prstGeom>
          <a:noFill/>
          <a:ln>
            <a:noFill/>
          </a:ln>
        </p:spPr>
      </p:pic>
      <p:pic>
        <p:nvPicPr>
          <p:cNvPr descr="image.png" id="269" name="Google Shape;269;p28"/>
          <p:cNvPicPr preferRelativeResize="0"/>
          <p:nvPr/>
        </p:nvPicPr>
        <p:blipFill rotWithShape="1">
          <a:blip r:embed="rId9">
            <a:alphaModFix/>
          </a:blip>
          <a:srcRect b="0" l="0" r="0" t="0"/>
          <a:stretch/>
        </p:blipFill>
        <p:spPr>
          <a:xfrm>
            <a:off x="8312050" y="5812131"/>
            <a:ext cx="923925" cy="381000"/>
          </a:xfrm>
          <a:prstGeom prst="rect">
            <a:avLst/>
          </a:prstGeom>
          <a:noFill/>
          <a:ln>
            <a:noFill/>
          </a:ln>
        </p:spPr>
      </p:pic>
      <p:sp>
        <p:nvSpPr>
          <p:cNvPr id="270" name="Google Shape;270;p28"/>
          <p:cNvSpPr txBox="1"/>
          <p:nvPr/>
        </p:nvSpPr>
        <p:spPr>
          <a:xfrm>
            <a:off x="819150" y="1731218"/>
            <a:ext cx="3060600" cy="2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chemeClr val="dk1"/>
                </a:solidFill>
                <a:latin typeface="Heebo"/>
                <a:ea typeface="Heebo"/>
                <a:cs typeface="Heebo"/>
                <a:sym typeface="Heebo"/>
              </a:rPr>
              <a:t>HEALTHCARE</a:t>
            </a:r>
            <a:endParaRPr>
              <a:solidFill>
                <a:schemeClr val="dk1"/>
              </a:solidFill>
            </a:endParaRPr>
          </a:p>
        </p:txBody>
      </p:sp>
      <p:sp>
        <p:nvSpPr>
          <p:cNvPr id="271" name="Google Shape;271;p28"/>
          <p:cNvSpPr txBox="1"/>
          <p:nvPr/>
        </p:nvSpPr>
        <p:spPr>
          <a:xfrm>
            <a:off x="819150" y="2102693"/>
            <a:ext cx="3060600" cy="8313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i="0" lang="en-US" sz="2400" u="none" cap="none" strike="noStrike">
                <a:solidFill>
                  <a:srgbClr val="1E3A8A"/>
                </a:solidFill>
                <a:latin typeface="Heebo Medium"/>
                <a:ea typeface="Heebo Medium"/>
                <a:cs typeface="Heebo Medium"/>
                <a:sym typeface="Heebo Medium"/>
              </a:rPr>
              <a:t>Diabetes Health Indicators</a:t>
            </a:r>
            <a:endParaRPr sz="2400">
              <a:latin typeface="Heebo Medium"/>
              <a:ea typeface="Heebo Medium"/>
              <a:cs typeface="Heebo Medium"/>
              <a:sym typeface="Heebo Medium"/>
            </a:endParaRPr>
          </a:p>
        </p:txBody>
      </p:sp>
      <p:sp>
        <p:nvSpPr>
          <p:cNvPr id="272" name="Google Shape;272;p28"/>
          <p:cNvSpPr txBox="1"/>
          <p:nvPr/>
        </p:nvSpPr>
        <p:spPr>
          <a:xfrm>
            <a:off x="819200" y="4010768"/>
            <a:ext cx="3060600" cy="16071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i="0" lang="en-US" sz="1800" u="none" cap="none" strike="noStrike">
                <a:solidFill>
                  <a:srgbClr val="475569"/>
                </a:solidFill>
                <a:latin typeface="Heebo"/>
                <a:ea typeface="Heebo"/>
                <a:cs typeface="Heebo"/>
                <a:sym typeface="Heebo"/>
              </a:rPr>
              <a:t>A dataset for predicting diabetes, representing high-stakes medical diagnosis.</a:t>
            </a:r>
            <a:endParaRPr sz="1800">
              <a:latin typeface="Heebo"/>
              <a:ea typeface="Heebo"/>
              <a:cs typeface="Heebo"/>
              <a:sym typeface="Heebo"/>
            </a:endParaRPr>
          </a:p>
        </p:txBody>
      </p:sp>
      <p:sp>
        <p:nvSpPr>
          <p:cNvPr id="273" name="Google Shape;273;p28"/>
          <p:cNvSpPr txBox="1"/>
          <p:nvPr/>
        </p:nvSpPr>
        <p:spPr>
          <a:xfrm>
            <a:off x="4565600" y="1731218"/>
            <a:ext cx="3060600" cy="2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chemeClr val="dk1"/>
                </a:solidFill>
                <a:latin typeface="Heebo"/>
                <a:ea typeface="Heebo"/>
                <a:cs typeface="Heebo"/>
                <a:sym typeface="Heebo"/>
              </a:rPr>
              <a:t>HUMAN RESOURCES</a:t>
            </a:r>
            <a:endParaRPr>
              <a:solidFill>
                <a:schemeClr val="dk1"/>
              </a:solidFill>
            </a:endParaRPr>
          </a:p>
        </p:txBody>
      </p:sp>
      <p:sp>
        <p:nvSpPr>
          <p:cNvPr id="274" name="Google Shape;274;p28"/>
          <p:cNvSpPr txBox="1"/>
          <p:nvPr/>
        </p:nvSpPr>
        <p:spPr>
          <a:xfrm>
            <a:off x="4565600" y="2102693"/>
            <a:ext cx="3060600" cy="8313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i="0" lang="en-US" sz="2400" u="none" cap="none" strike="noStrike">
                <a:solidFill>
                  <a:srgbClr val="1E3A8A"/>
                </a:solidFill>
                <a:latin typeface="Heebo Medium"/>
                <a:ea typeface="Heebo Medium"/>
                <a:cs typeface="Heebo Medium"/>
                <a:sym typeface="Heebo Medium"/>
              </a:rPr>
              <a:t>IBM HR Analytics Attrition</a:t>
            </a:r>
            <a:endParaRPr sz="2400">
              <a:latin typeface="Heebo Medium"/>
              <a:ea typeface="Heebo Medium"/>
              <a:cs typeface="Heebo Medium"/>
              <a:sym typeface="Heebo Medium"/>
            </a:endParaRPr>
          </a:p>
        </p:txBody>
      </p:sp>
      <p:sp>
        <p:nvSpPr>
          <p:cNvPr id="275" name="Google Shape;275;p28"/>
          <p:cNvSpPr txBox="1"/>
          <p:nvPr/>
        </p:nvSpPr>
        <p:spPr>
          <a:xfrm>
            <a:off x="4565625" y="4010768"/>
            <a:ext cx="3060600" cy="16071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i="0" lang="en-US" sz="1800" u="none" cap="none" strike="noStrike">
                <a:solidFill>
                  <a:srgbClr val="475569"/>
                </a:solidFill>
                <a:latin typeface="Heebo"/>
                <a:ea typeface="Heebo"/>
                <a:cs typeface="Heebo"/>
                <a:sym typeface="Heebo"/>
              </a:rPr>
              <a:t>Focuses on predicting employee turnover, representing significant professional impact.</a:t>
            </a:r>
            <a:endParaRPr sz="1800">
              <a:latin typeface="Heebo"/>
              <a:ea typeface="Heebo"/>
              <a:cs typeface="Heebo"/>
              <a:sym typeface="Heebo"/>
            </a:endParaRPr>
          </a:p>
        </p:txBody>
      </p:sp>
      <p:sp>
        <p:nvSpPr>
          <p:cNvPr id="276" name="Google Shape;276;p28"/>
          <p:cNvSpPr txBox="1"/>
          <p:nvPr/>
        </p:nvSpPr>
        <p:spPr>
          <a:xfrm>
            <a:off x="8312050" y="1731218"/>
            <a:ext cx="3060600" cy="2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chemeClr val="dk1"/>
                </a:solidFill>
                <a:latin typeface="Heebo"/>
                <a:ea typeface="Heebo"/>
                <a:cs typeface="Heebo"/>
                <a:sym typeface="Heebo"/>
              </a:rPr>
              <a:t>TEXT ANALYSIS</a:t>
            </a:r>
            <a:endParaRPr>
              <a:solidFill>
                <a:schemeClr val="dk1"/>
              </a:solidFill>
            </a:endParaRPr>
          </a:p>
        </p:txBody>
      </p:sp>
      <p:sp>
        <p:nvSpPr>
          <p:cNvPr id="277" name="Google Shape;277;p28"/>
          <p:cNvSpPr txBox="1"/>
          <p:nvPr/>
        </p:nvSpPr>
        <p:spPr>
          <a:xfrm>
            <a:off x="8312050" y="2102693"/>
            <a:ext cx="3060600" cy="8313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i="0" lang="en-US" sz="2400" u="none" cap="none" strike="noStrike">
                <a:solidFill>
                  <a:srgbClr val="1E3A8A"/>
                </a:solidFill>
                <a:latin typeface="Heebo Medium"/>
                <a:ea typeface="Heebo Medium"/>
                <a:cs typeface="Heebo Medium"/>
                <a:sym typeface="Heebo Medium"/>
              </a:rPr>
              <a:t>LLM - AI Generated Text</a:t>
            </a:r>
            <a:endParaRPr sz="2400">
              <a:latin typeface="Heebo Medium"/>
              <a:ea typeface="Heebo Medium"/>
              <a:cs typeface="Heebo Medium"/>
              <a:sym typeface="Heebo Medium"/>
            </a:endParaRPr>
          </a:p>
        </p:txBody>
      </p:sp>
      <p:sp>
        <p:nvSpPr>
          <p:cNvPr id="278" name="Google Shape;278;p28"/>
          <p:cNvSpPr txBox="1"/>
          <p:nvPr/>
        </p:nvSpPr>
        <p:spPr>
          <a:xfrm>
            <a:off x="8312050" y="4010768"/>
            <a:ext cx="3060600" cy="11637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i="0" lang="en-US" sz="1800" u="none" cap="none" strike="noStrike">
                <a:solidFill>
                  <a:srgbClr val="475569"/>
                </a:solidFill>
                <a:latin typeface="Heebo"/>
                <a:ea typeface="Heebo"/>
                <a:cs typeface="Heebo"/>
                <a:sym typeface="Heebo"/>
              </a:rPr>
              <a:t>Distinguishes between human and machine-written text, representing a lower risk.</a:t>
            </a:r>
            <a:endParaRPr sz="1800">
              <a:latin typeface="Heebo"/>
              <a:ea typeface="Heebo"/>
              <a:cs typeface="Heebo"/>
              <a:sym typeface="Heebo"/>
            </a:endParaRPr>
          </a:p>
        </p:txBody>
      </p:sp>
      <p:sp>
        <p:nvSpPr>
          <p:cNvPr id="279" name="Google Shape;279;p28"/>
          <p:cNvSpPr txBox="1"/>
          <p:nvPr/>
        </p:nvSpPr>
        <p:spPr>
          <a:xfrm>
            <a:off x="819150" y="3169857"/>
            <a:ext cx="3060600" cy="66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lang="en-US" sz="1650">
                <a:solidFill>
                  <a:schemeClr val="dk1"/>
                </a:solidFill>
                <a:latin typeface="Heebo"/>
                <a:ea typeface="Heebo"/>
                <a:cs typeface="Heebo"/>
                <a:sym typeface="Heebo"/>
              </a:rPr>
              <a:t>100,000 patient profiles </a:t>
            </a:r>
            <a:endParaRPr sz="1650">
              <a:solidFill>
                <a:schemeClr val="dk1"/>
              </a:solidFill>
              <a:latin typeface="Heebo"/>
              <a:ea typeface="Heebo"/>
              <a:cs typeface="Heebo"/>
              <a:sym typeface="Heebo"/>
            </a:endParaRPr>
          </a:p>
          <a:p>
            <a:pPr indent="0" lvl="0" marL="0" marR="0" rtl="0" algn="l">
              <a:lnSpc>
                <a:spcPct val="160000"/>
              </a:lnSpc>
              <a:spcBef>
                <a:spcPts val="0"/>
              </a:spcBef>
              <a:spcAft>
                <a:spcPts val="0"/>
              </a:spcAft>
              <a:buNone/>
            </a:pPr>
            <a:r>
              <a:rPr lang="en-US" sz="1650">
                <a:solidFill>
                  <a:schemeClr val="dk1"/>
                </a:solidFill>
                <a:latin typeface="Heebo"/>
                <a:ea typeface="Heebo"/>
                <a:cs typeface="Heebo"/>
                <a:sym typeface="Heebo"/>
              </a:rPr>
              <a:t>35+ features </a:t>
            </a:r>
            <a:endParaRPr sz="1200">
              <a:solidFill>
                <a:schemeClr val="dk1"/>
              </a:solidFill>
              <a:latin typeface="Heebo"/>
              <a:ea typeface="Heebo"/>
              <a:cs typeface="Heebo"/>
              <a:sym typeface="Heebo"/>
            </a:endParaRPr>
          </a:p>
        </p:txBody>
      </p:sp>
      <p:sp>
        <p:nvSpPr>
          <p:cNvPr id="280" name="Google Shape;280;p28"/>
          <p:cNvSpPr txBox="1"/>
          <p:nvPr/>
        </p:nvSpPr>
        <p:spPr>
          <a:xfrm>
            <a:off x="4565625" y="3169857"/>
            <a:ext cx="3060600" cy="66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lang="en-US" sz="1650">
                <a:solidFill>
                  <a:schemeClr val="dk1"/>
                </a:solidFill>
                <a:latin typeface="Heebo"/>
                <a:ea typeface="Heebo"/>
                <a:cs typeface="Heebo"/>
                <a:sym typeface="Heebo"/>
              </a:rPr>
              <a:t>1,470 employee records</a:t>
            </a:r>
            <a:endParaRPr sz="1650">
              <a:solidFill>
                <a:schemeClr val="dk1"/>
              </a:solidFill>
              <a:latin typeface="Heebo"/>
              <a:ea typeface="Heebo"/>
              <a:cs typeface="Heebo"/>
              <a:sym typeface="Heebo"/>
            </a:endParaRPr>
          </a:p>
          <a:p>
            <a:pPr indent="0" lvl="0" marL="0" marR="0" rtl="0" algn="l">
              <a:lnSpc>
                <a:spcPct val="160000"/>
              </a:lnSpc>
              <a:spcBef>
                <a:spcPts val="0"/>
              </a:spcBef>
              <a:spcAft>
                <a:spcPts val="0"/>
              </a:spcAft>
              <a:buNone/>
            </a:pPr>
            <a:r>
              <a:rPr lang="en-US" sz="1650">
                <a:solidFill>
                  <a:schemeClr val="dk1"/>
                </a:solidFill>
                <a:latin typeface="Heebo"/>
                <a:ea typeface="Heebo"/>
                <a:cs typeface="Heebo"/>
                <a:sym typeface="Heebo"/>
              </a:rPr>
              <a:t>35 features </a:t>
            </a:r>
            <a:endParaRPr sz="1650">
              <a:solidFill>
                <a:schemeClr val="dk1"/>
              </a:solidFill>
              <a:latin typeface="Heebo"/>
              <a:ea typeface="Heebo"/>
              <a:cs typeface="Heebo"/>
              <a:sym typeface="Heebo"/>
            </a:endParaRPr>
          </a:p>
        </p:txBody>
      </p:sp>
      <p:sp>
        <p:nvSpPr>
          <p:cNvPr id="281" name="Google Shape;281;p28"/>
          <p:cNvSpPr txBox="1"/>
          <p:nvPr/>
        </p:nvSpPr>
        <p:spPr>
          <a:xfrm>
            <a:off x="8312050" y="3137892"/>
            <a:ext cx="3308100" cy="66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lang="en-US" sz="1650">
                <a:solidFill>
                  <a:schemeClr val="dk1"/>
                </a:solidFill>
                <a:latin typeface="Heebo"/>
                <a:ea typeface="Heebo"/>
                <a:cs typeface="Heebo"/>
                <a:sym typeface="Heebo"/>
              </a:rPr>
              <a:t>28,000 essays including human-written and AI text analysis </a:t>
            </a:r>
            <a:endParaRPr sz="1650">
              <a:solidFill>
                <a:schemeClr val="dk1"/>
              </a:solidFill>
              <a:latin typeface="Heebo"/>
              <a:ea typeface="Heebo"/>
              <a:cs typeface="Heebo"/>
              <a:sym typeface="Heeb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5" name="Shape 285"/>
        <p:cNvGrpSpPr/>
        <p:nvPr/>
      </p:nvGrpSpPr>
      <p:grpSpPr>
        <a:xfrm>
          <a:off x="0" y="0"/>
          <a:ext cx="0" cy="0"/>
          <a:chOff x="0" y="0"/>
          <a:chExt cx="0" cy="0"/>
        </a:xfrm>
      </p:grpSpPr>
      <p:sp>
        <p:nvSpPr>
          <p:cNvPr id="286" name="Google Shape;286;p29"/>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rtl="0" algn="l">
              <a:lnSpc>
                <a:spcPct val="120000"/>
              </a:lnSpc>
              <a:spcBef>
                <a:spcPts val="0"/>
              </a:spcBef>
              <a:spcAft>
                <a:spcPts val="0"/>
              </a:spcAft>
              <a:buNone/>
            </a:pPr>
            <a:r>
              <a:rPr b="1" lang="en-US" sz="3600">
                <a:solidFill>
                  <a:srgbClr val="1E3A8A"/>
                </a:solidFill>
                <a:latin typeface="Rubik"/>
                <a:ea typeface="Rubik"/>
                <a:cs typeface="Rubik"/>
                <a:sym typeface="Rubik"/>
              </a:rPr>
              <a:t>Research </a:t>
            </a:r>
            <a:r>
              <a:rPr b="1" lang="en-US" sz="3600">
                <a:solidFill>
                  <a:srgbClr val="1E3A8A"/>
                </a:solidFill>
                <a:latin typeface="Rubik"/>
                <a:ea typeface="Rubik"/>
                <a:cs typeface="Rubik"/>
                <a:sym typeface="Rubik"/>
              </a:rPr>
              <a:t>Flow</a:t>
            </a:r>
            <a:endParaRPr b="1" sz="3600">
              <a:solidFill>
                <a:srgbClr val="1E3A8A"/>
              </a:solidFill>
              <a:latin typeface="Rubik"/>
              <a:ea typeface="Rubik"/>
              <a:cs typeface="Rubik"/>
              <a:sym typeface="Rubik"/>
            </a:endParaRPr>
          </a:p>
        </p:txBody>
      </p:sp>
      <p:sp>
        <p:nvSpPr>
          <p:cNvPr id="287" name="Google Shape;287;p29"/>
          <p:cNvSpPr txBox="1"/>
          <p:nvPr>
            <p:ph idx="12" type="sldNum"/>
          </p:nvPr>
        </p:nvSpPr>
        <p:spPr>
          <a:xfrm>
            <a:off x="9858926" y="6375026"/>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88" name="Google Shape;288;p29"/>
          <p:cNvSpPr/>
          <p:nvPr/>
        </p:nvSpPr>
        <p:spPr>
          <a:xfrm>
            <a:off x="571500" y="2644485"/>
            <a:ext cx="11049000" cy="609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pic>
        <p:nvPicPr>
          <p:cNvPr descr="image.png" id="289" name="Google Shape;289;p29"/>
          <p:cNvPicPr preferRelativeResize="0"/>
          <p:nvPr/>
        </p:nvPicPr>
        <p:blipFill rotWithShape="1">
          <a:blip r:embed="rId4">
            <a:alphaModFix/>
          </a:blip>
          <a:srcRect b="0" l="0" r="0" t="0"/>
          <a:stretch/>
        </p:blipFill>
        <p:spPr>
          <a:xfrm>
            <a:off x="571500" y="1865801"/>
            <a:ext cx="2448153" cy="4089299"/>
          </a:xfrm>
          <a:prstGeom prst="rect">
            <a:avLst/>
          </a:prstGeom>
          <a:noFill/>
          <a:ln>
            <a:noFill/>
          </a:ln>
        </p:spPr>
      </p:pic>
      <p:sp>
        <p:nvSpPr>
          <p:cNvPr id="290" name="Google Shape;290;p29"/>
          <p:cNvSpPr txBox="1"/>
          <p:nvPr/>
        </p:nvSpPr>
        <p:spPr>
          <a:xfrm>
            <a:off x="676427" y="2719200"/>
            <a:ext cx="2238300" cy="2918400"/>
          </a:xfrm>
          <a:prstGeom prst="rect">
            <a:avLst/>
          </a:prstGeom>
          <a:noFill/>
          <a:ln>
            <a:noFill/>
          </a:ln>
        </p:spPr>
        <p:txBody>
          <a:bodyPr anchorCtr="0" anchor="t" bIns="91425" lIns="91425" spcFirstLastPara="1" rIns="91425" wrap="square" tIns="91425">
            <a:spAutoFit/>
          </a:bodyPr>
          <a:lstStyle/>
          <a:p>
            <a:pPr indent="0" lvl="0" marL="0" rtl="0" algn="ctr">
              <a:lnSpc>
                <a:spcPct val="160000"/>
              </a:lnSpc>
              <a:spcBef>
                <a:spcPts val="0"/>
              </a:spcBef>
              <a:spcAft>
                <a:spcPts val="0"/>
              </a:spcAft>
              <a:buNone/>
            </a:pPr>
            <a:r>
              <a:rPr lang="en-US" sz="2400">
                <a:solidFill>
                  <a:srgbClr val="475569"/>
                </a:solidFill>
                <a:latin typeface="Heebo"/>
                <a:ea typeface="Heebo"/>
                <a:cs typeface="Heebo"/>
                <a:sym typeface="Heebo"/>
              </a:rPr>
              <a:t>The s</a:t>
            </a:r>
            <a:r>
              <a:rPr lang="en-US" sz="2400">
                <a:solidFill>
                  <a:srgbClr val="475569"/>
                </a:solidFill>
                <a:latin typeface="Heebo"/>
                <a:ea typeface="Heebo"/>
                <a:cs typeface="Heebo"/>
                <a:sym typeface="Heebo"/>
              </a:rPr>
              <a:t>ystem presents Domain Record &amp; AI Prediction</a:t>
            </a:r>
            <a:endParaRPr sz="2400">
              <a:latin typeface="Heebo"/>
              <a:ea typeface="Heebo"/>
              <a:cs typeface="Heebo"/>
              <a:sym typeface="Heebo"/>
            </a:endParaRPr>
          </a:p>
        </p:txBody>
      </p:sp>
      <p:sp>
        <p:nvSpPr>
          <p:cNvPr id="291" name="Google Shape;291;p29"/>
          <p:cNvSpPr txBox="1"/>
          <p:nvPr/>
        </p:nvSpPr>
        <p:spPr>
          <a:xfrm>
            <a:off x="980477" y="2052559"/>
            <a:ext cx="1630200" cy="5541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None/>
            </a:pPr>
            <a:r>
              <a:rPr lang="en-US" sz="2400">
                <a:solidFill>
                  <a:srgbClr val="2563EB"/>
                </a:solidFill>
                <a:latin typeface="Rubik Medium"/>
                <a:ea typeface="Rubik Medium"/>
                <a:cs typeface="Rubik Medium"/>
                <a:sym typeface="Rubik Medium"/>
              </a:rPr>
              <a:t>1</a:t>
            </a:r>
            <a:endParaRPr sz="2400"/>
          </a:p>
        </p:txBody>
      </p:sp>
      <p:pic>
        <p:nvPicPr>
          <p:cNvPr descr="image.png" id="292" name="Google Shape;292;p29"/>
          <p:cNvPicPr preferRelativeResize="0"/>
          <p:nvPr/>
        </p:nvPicPr>
        <p:blipFill rotWithShape="1">
          <a:blip r:embed="rId4">
            <a:alphaModFix/>
          </a:blip>
          <a:srcRect b="0" l="0" r="0" t="0"/>
          <a:stretch/>
        </p:blipFill>
        <p:spPr>
          <a:xfrm>
            <a:off x="3365398" y="1865775"/>
            <a:ext cx="2448153" cy="4089299"/>
          </a:xfrm>
          <a:prstGeom prst="rect">
            <a:avLst/>
          </a:prstGeom>
          <a:noFill/>
          <a:ln>
            <a:noFill/>
          </a:ln>
        </p:spPr>
      </p:pic>
      <p:sp>
        <p:nvSpPr>
          <p:cNvPr id="293" name="Google Shape;293;p29"/>
          <p:cNvSpPr txBox="1"/>
          <p:nvPr/>
        </p:nvSpPr>
        <p:spPr>
          <a:xfrm>
            <a:off x="3774374" y="2052559"/>
            <a:ext cx="1630200" cy="5541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None/>
            </a:pPr>
            <a:r>
              <a:rPr lang="en-US" sz="2400">
                <a:solidFill>
                  <a:srgbClr val="2563EB"/>
                </a:solidFill>
                <a:latin typeface="Rubik Medium"/>
                <a:ea typeface="Rubik Medium"/>
                <a:cs typeface="Rubik Medium"/>
                <a:sym typeface="Rubik Medium"/>
              </a:rPr>
              <a:t>2</a:t>
            </a:r>
            <a:endParaRPr sz="2400"/>
          </a:p>
        </p:txBody>
      </p:sp>
      <p:pic>
        <p:nvPicPr>
          <p:cNvPr descr="image.png" id="294" name="Google Shape;294;p29"/>
          <p:cNvPicPr preferRelativeResize="0"/>
          <p:nvPr/>
        </p:nvPicPr>
        <p:blipFill rotWithShape="1">
          <a:blip r:embed="rId4">
            <a:alphaModFix/>
          </a:blip>
          <a:srcRect b="0" l="0" r="0" t="0"/>
          <a:stretch/>
        </p:blipFill>
        <p:spPr>
          <a:xfrm>
            <a:off x="6404321" y="1865775"/>
            <a:ext cx="2448153" cy="4089299"/>
          </a:xfrm>
          <a:prstGeom prst="rect">
            <a:avLst/>
          </a:prstGeom>
          <a:noFill/>
          <a:ln>
            <a:noFill/>
          </a:ln>
        </p:spPr>
      </p:pic>
      <p:sp>
        <p:nvSpPr>
          <p:cNvPr id="295" name="Google Shape;295;p29"/>
          <p:cNvSpPr txBox="1"/>
          <p:nvPr/>
        </p:nvSpPr>
        <p:spPr>
          <a:xfrm>
            <a:off x="6813298" y="2052559"/>
            <a:ext cx="1630200" cy="5541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None/>
            </a:pPr>
            <a:r>
              <a:rPr lang="en-US" sz="2400">
                <a:solidFill>
                  <a:srgbClr val="2563EB"/>
                </a:solidFill>
                <a:latin typeface="Rubik Medium"/>
                <a:ea typeface="Rubik Medium"/>
                <a:cs typeface="Rubik Medium"/>
                <a:sym typeface="Rubik Medium"/>
              </a:rPr>
              <a:t>3</a:t>
            </a:r>
            <a:endParaRPr sz="2400"/>
          </a:p>
        </p:txBody>
      </p:sp>
      <p:pic>
        <p:nvPicPr>
          <p:cNvPr descr="image.png" id="296" name="Google Shape;296;p29"/>
          <p:cNvPicPr preferRelativeResize="0"/>
          <p:nvPr/>
        </p:nvPicPr>
        <p:blipFill rotWithShape="1">
          <a:blip r:embed="rId4">
            <a:alphaModFix/>
          </a:blip>
          <a:srcRect b="0" l="0" r="0" t="0"/>
          <a:stretch/>
        </p:blipFill>
        <p:spPr>
          <a:xfrm>
            <a:off x="9370471" y="1865775"/>
            <a:ext cx="2448153" cy="4089299"/>
          </a:xfrm>
          <a:prstGeom prst="rect">
            <a:avLst/>
          </a:prstGeom>
          <a:noFill/>
          <a:ln>
            <a:noFill/>
          </a:ln>
        </p:spPr>
      </p:pic>
      <p:sp>
        <p:nvSpPr>
          <p:cNvPr id="297" name="Google Shape;297;p29"/>
          <p:cNvSpPr txBox="1"/>
          <p:nvPr/>
        </p:nvSpPr>
        <p:spPr>
          <a:xfrm>
            <a:off x="9779448" y="2052559"/>
            <a:ext cx="1630200" cy="5541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None/>
            </a:pPr>
            <a:r>
              <a:rPr lang="en-US" sz="2400">
                <a:solidFill>
                  <a:srgbClr val="2563EB"/>
                </a:solidFill>
                <a:latin typeface="Rubik Medium"/>
                <a:ea typeface="Rubik Medium"/>
                <a:cs typeface="Rubik Medium"/>
                <a:sym typeface="Rubik Medium"/>
              </a:rPr>
              <a:t>4</a:t>
            </a:r>
            <a:endParaRPr sz="2400"/>
          </a:p>
        </p:txBody>
      </p:sp>
      <p:sp>
        <p:nvSpPr>
          <p:cNvPr id="298" name="Google Shape;298;p29"/>
          <p:cNvSpPr txBox="1"/>
          <p:nvPr/>
        </p:nvSpPr>
        <p:spPr>
          <a:xfrm>
            <a:off x="3470324" y="2719200"/>
            <a:ext cx="2238300" cy="2327400"/>
          </a:xfrm>
          <a:prstGeom prst="rect">
            <a:avLst/>
          </a:prstGeom>
          <a:noFill/>
          <a:ln>
            <a:noFill/>
          </a:ln>
        </p:spPr>
        <p:txBody>
          <a:bodyPr anchorCtr="0" anchor="t" bIns="91425" lIns="91425" spcFirstLastPara="1" rIns="91425" wrap="square" tIns="91425">
            <a:spAutoFit/>
          </a:bodyPr>
          <a:lstStyle/>
          <a:p>
            <a:pPr indent="0" lvl="0" marL="0" marR="0" rtl="0" algn="ctr">
              <a:lnSpc>
                <a:spcPct val="160000"/>
              </a:lnSpc>
              <a:spcBef>
                <a:spcPts val="0"/>
              </a:spcBef>
              <a:spcAft>
                <a:spcPts val="0"/>
              </a:spcAft>
              <a:buNone/>
            </a:pPr>
            <a:r>
              <a:rPr lang="en-US" sz="2400">
                <a:solidFill>
                  <a:srgbClr val="475569"/>
                </a:solidFill>
                <a:latin typeface="Heebo"/>
                <a:ea typeface="Heebo"/>
                <a:cs typeface="Heebo"/>
                <a:sym typeface="Heebo"/>
              </a:rPr>
              <a:t>User reviews SHAP, LIME, and DICE visuals</a:t>
            </a:r>
            <a:endParaRPr sz="2400">
              <a:solidFill>
                <a:srgbClr val="475569"/>
              </a:solidFill>
              <a:latin typeface="Heebo"/>
              <a:ea typeface="Heebo"/>
              <a:cs typeface="Heebo"/>
              <a:sym typeface="Heebo"/>
            </a:endParaRPr>
          </a:p>
        </p:txBody>
      </p:sp>
      <p:sp>
        <p:nvSpPr>
          <p:cNvPr id="299" name="Google Shape;299;p29"/>
          <p:cNvSpPr txBox="1"/>
          <p:nvPr/>
        </p:nvSpPr>
        <p:spPr>
          <a:xfrm>
            <a:off x="6509248" y="2719175"/>
            <a:ext cx="2238300" cy="1736100"/>
          </a:xfrm>
          <a:prstGeom prst="rect">
            <a:avLst/>
          </a:prstGeom>
          <a:noFill/>
          <a:ln>
            <a:noFill/>
          </a:ln>
        </p:spPr>
        <p:txBody>
          <a:bodyPr anchorCtr="0" anchor="t" bIns="91425" lIns="91425" spcFirstLastPara="1" rIns="91425" wrap="square" tIns="91425">
            <a:spAutoFit/>
          </a:bodyPr>
          <a:lstStyle/>
          <a:p>
            <a:pPr indent="0" lvl="0" marL="0" marR="0" rtl="0" algn="ctr">
              <a:lnSpc>
                <a:spcPct val="160000"/>
              </a:lnSpc>
              <a:spcBef>
                <a:spcPts val="0"/>
              </a:spcBef>
              <a:spcAft>
                <a:spcPts val="0"/>
              </a:spcAft>
              <a:buNone/>
            </a:pPr>
            <a:r>
              <a:rPr lang="en-US" sz="2400">
                <a:solidFill>
                  <a:srgbClr val="475569"/>
                </a:solidFill>
                <a:latin typeface="Heebo"/>
                <a:ea typeface="Heebo"/>
                <a:cs typeface="Heebo"/>
                <a:sym typeface="Heebo"/>
              </a:rPr>
              <a:t>User rates Trust &amp; Clarity (SCS &amp; FATE)</a:t>
            </a:r>
            <a:endParaRPr sz="2400">
              <a:solidFill>
                <a:srgbClr val="475569"/>
              </a:solidFill>
              <a:latin typeface="Heebo"/>
              <a:ea typeface="Heebo"/>
              <a:cs typeface="Heebo"/>
              <a:sym typeface="Heebo"/>
            </a:endParaRPr>
          </a:p>
        </p:txBody>
      </p:sp>
      <p:sp>
        <p:nvSpPr>
          <p:cNvPr id="300" name="Google Shape;300;p29"/>
          <p:cNvSpPr txBox="1"/>
          <p:nvPr/>
        </p:nvSpPr>
        <p:spPr>
          <a:xfrm>
            <a:off x="9475398" y="2719200"/>
            <a:ext cx="2238300" cy="2327400"/>
          </a:xfrm>
          <a:prstGeom prst="rect">
            <a:avLst/>
          </a:prstGeom>
          <a:noFill/>
          <a:ln>
            <a:noFill/>
          </a:ln>
        </p:spPr>
        <p:txBody>
          <a:bodyPr anchorCtr="0" anchor="t" bIns="91425" lIns="91425" spcFirstLastPara="1" rIns="91425" wrap="square" tIns="91425">
            <a:spAutoFit/>
          </a:bodyPr>
          <a:lstStyle/>
          <a:p>
            <a:pPr indent="0" lvl="0" marL="0" marR="0" rtl="0" algn="ctr">
              <a:lnSpc>
                <a:spcPct val="160000"/>
              </a:lnSpc>
              <a:spcBef>
                <a:spcPts val="0"/>
              </a:spcBef>
              <a:spcAft>
                <a:spcPts val="0"/>
              </a:spcAft>
              <a:buNone/>
            </a:pPr>
            <a:r>
              <a:rPr lang="en-US" sz="2400">
                <a:solidFill>
                  <a:srgbClr val="475569"/>
                </a:solidFill>
                <a:latin typeface="Heebo"/>
                <a:ea typeface="Heebo"/>
                <a:cs typeface="Heebo"/>
                <a:sym typeface="Heebo"/>
              </a:rPr>
              <a:t>Save feedback and </a:t>
            </a:r>
            <a:r>
              <a:rPr lang="en-US" sz="2400">
                <a:solidFill>
                  <a:srgbClr val="475569"/>
                </a:solidFill>
                <a:latin typeface="Heebo"/>
                <a:ea typeface="Heebo"/>
                <a:cs typeface="Heebo"/>
                <a:sym typeface="Heebo"/>
              </a:rPr>
              <a:t>move to the next domain</a:t>
            </a:r>
            <a:endParaRPr sz="2400">
              <a:solidFill>
                <a:srgbClr val="475569"/>
              </a:solidFill>
              <a:latin typeface="Heebo"/>
              <a:ea typeface="Heebo"/>
              <a:cs typeface="Heebo"/>
              <a:sym typeface="Heeb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4" name="Shape 304"/>
        <p:cNvGrpSpPr/>
        <p:nvPr/>
      </p:nvGrpSpPr>
      <p:grpSpPr>
        <a:xfrm>
          <a:off x="0" y="0"/>
          <a:ext cx="0" cy="0"/>
          <a:chOff x="0" y="0"/>
          <a:chExt cx="0" cy="0"/>
        </a:xfrm>
      </p:grpSpPr>
      <p:pic>
        <p:nvPicPr>
          <p:cNvPr descr="image.png" id="305" name="Google Shape;305;p3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06" name="Google Shape;306;p30"/>
          <p:cNvPicPr preferRelativeResize="0"/>
          <p:nvPr/>
        </p:nvPicPr>
        <p:blipFill rotWithShape="1">
          <a:blip r:embed="rId4">
            <a:alphaModFix/>
          </a:blip>
          <a:srcRect b="0" l="0" r="0" t="0"/>
          <a:stretch/>
        </p:blipFill>
        <p:spPr>
          <a:xfrm>
            <a:off x="571500" y="1383454"/>
            <a:ext cx="5238750" cy="4991575"/>
          </a:xfrm>
          <a:prstGeom prst="rect">
            <a:avLst/>
          </a:prstGeom>
          <a:noFill/>
          <a:ln>
            <a:noFill/>
          </a:ln>
        </p:spPr>
      </p:pic>
      <p:pic>
        <p:nvPicPr>
          <p:cNvPr descr="image.png" id="307" name="Google Shape;307;p30"/>
          <p:cNvPicPr preferRelativeResize="0"/>
          <p:nvPr/>
        </p:nvPicPr>
        <p:blipFill rotWithShape="1">
          <a:blip r:embed="rId5">
            <a:alphaModFix/>
          </a:blip>
          <a:srcRect b="0" l="0" r="0" t="0"/>
          <a:stretch/>
        </p:blipFill>
        <p:spPr>
          <a:xfrm>
            <a:off x="6381750" y="1383454"/>
            <a:ext cx="5238750" cy="4991575"/>
          </a:xfrm>
          <a:prstGeom prst="rect">
            <a:avLst/>
          </a:prstGeom>
          <a:noFill/>
          <a:ln>
            <a:noFill/>
          </a:ln>
        </p:spPr>
      </p:pic>
      <p:sp>
        <p:nvSpPr>
          <p:cNvPr id="308" name="Google Shape;308;p30"/>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3600">
                <a:solidFill>
                  <a:srgbClr val="1E3A8A"/>
                </a:solidFill>
                <a:latin typeface="Rubik"/>
                <a:ea typeface="Rubik"/>
                <a:cs typeface="Rubik"/>
                <a:sym typeface="Rubik"/>
              </a:rPr>
              <a:t>Research </a:t>
            </a:r>
            <a:r>
              <a:rPr b="1" i="0" lang="en-US" sz="3600" u="none" cap="none" strike="noStrike">
                <a:solidFill>
                  <a:srgbClr val="1E3A8A"/>
                </a:solidFill>
                <a:latin typeface="Rubik"/>
                <a:ea typeface="Rubik"/>
                <a:cs typeface="Rubik"/>
                <a:sym typeface="Rubik"/>
              </a:rPr>
              <a:t>Logic</a:t>
            </a:r>
            <a:endParaRPr/>
          </a:p>
        </p:txBody>
      </p:sp>
      <p:sp>
        <p:nvSpPr>
          <p:cNvPr id="309" name="Google Shape;309;p30"/>
          <p:cNvSpPr txBox="1"/>
          <p:nvPr/>
        </p:nvSpPr>
        <p:spPr>
          <a:xfrm>
            <a:off x="866775" y="1580150"/>
            <a:ext cx="2472300" cy="3693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400" u="none" cap="none" strike="noStrike">
                <a:solidFill>
                  <a:srgbClr val="2563EB"/>
                </a:solidFill>
                <a:latin typeface="Rubik Medium"/>
                <a:ea typeface="Rubik Medium"/>
                <a:cs typeface="Rubik Medium"/>
                <a:sym typeface="Rubik Medium"/>
              </a:rPr>
              <a:t>Offline Phase</a:t>
            </a:r>
            <a:endParaRPr sz="2400"/>
          </a:p>
        </p:txBody>
      </p:sp>
      <p:sp>
        <p:nvSpPr>
          <p:cNvPr id="310" name="Google Shape;310;p30"/>
          <p:cNvSpPr txBox="1"/>
          <p:nvPr/>
        </p:nvSpPr>
        <p:spPr>
          <a:xfrm>
            <a:off x="866775" y="2182200"/>
            <a:ext cx="4784700" cy="3324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lang="en-US" sz="2400">
                <a:solidFill>
                  <a:srgbClr val="475569"/>
                </a:solidFill>
                <a:latin typeface="Heebo Medium"/>
                <a:ea typeface="Heebo Medium"/>
                <a:cs typeface="Heebo Medium"/>
                <a:sym typeface="Heebo Medium"/>
              </a:rPr>
              <a:t>T</a:t>
            </a:r>
            <a:r>
              <a:rPr i="0" lang="en-US" sz="2400" u="none" cap="none" strike="noStrike">
                <a:solidFill>
                  <a:srgbClr val="475569"/>
                </a:solidFill>
                <a:latin typeface="Heebo Medium"/>
                <a:ea typeface="Heebo Medium"/>
                <a:cs typeface="Heebo Medium"/>
                <a:sym typeface="Heebo Medium"/>
              </a:rPr>
              <a:t>he system processes data and trains the models. For each selected record, explanations are pre-generated using all three algorithms (SHAP, LIME, DiCE) and stored in the database for retrieval.</a:t>
            </a:r>
            <a:endParaRPr sz="2400">
              <a:latin typeface="Heebo Medium"/>
              <a:ea typeface="Heebo Medium"/>
              <a:cs typeface="Heebo Medium"/>
              <a:sym typeface="Heebo Medium"/>
            </a:endParaRPr>
          </a:p>
        </p:txBody>
      </p:sp>
      <p:sp>
        <p:nvSpPr>
          <p:cNvPr id="311" name="Google Shape;311;p30"/>
          <p:cNvSpPr txBox="1"/>
          <p:nvPr/>
        </p:nvSpPr>
        <p:spPr>
          <a:xfrm>
            <a:off x="6677025" y="1580150"/>
            <a:ext cx="2472300" cy="3693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400" u="none" cap="none" strike="noStrike">
                <a:solidFill>
                  <a:srgbClr val="2563EB"/>
                </a:solidFill>
                <a:latin typeface="Rubik Medium"/>
                <a:ea typeface="Rubik Medium"/>
                <a:cs typeface="Rubik Medium"/>
                <a:sym typeface="Rubik Medium"/>
              </a:rPr>
              <a:t>Online Phase</a:t>
            </a:r>
            <a:endParaRPr sz="2400"/>
          </a:p>
        </p:txBody>
      </p:sp>
      <p:sp>
        <p:nvSpPr>
          <p:cNvPr id="312" name="Google Shape;312;p30"/>
          <p:cNvSpPr txBox="1"/>
          <p:nvPr/>
        </p:nvSpPr>
        <p:spPr>
          <a:xfrm>
            <a:off x="6677025" y="2182203"/>
            <a:ext cx="4648200" cy="3915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i="0" lang="en-US" sz="2400" u="none" cap="none" strike="noStrike">
                <a:solidFill>
                  <a:srgbClr val="475569"/>
                </a:solidFill>
                <a:latin typeface="Heebo Medium"/>
                <a:ea typeface="Heebo Medium"/>
                <a:cs typeface="Heebo Medium"/>
                <a:sym typeface="Heebo Medium"/>
              </a:rPr>
              <a:t>In real-time (during the experiment), the interface retrieves a prepared scenario from the DB. The user views the data, the model's decision, and the explanations, then fills out an evaluation questionnaire. </a:t>
            </a:r>
            <a:endParaRPr sz="2400">
              <a:latin typeface="Heebo Medium"/>
              <a:ea typeface="Heebo Medium"/>
              <a:cs typeface="Heebo Medium"/>
              <a:sym typeface="Heebo Medium"/>
            </a:endParaRPr>
          </a:p>
        </p:txBody>
      </p:sp>
      <p:sp>
        <p:nvSpPr>
          <p:cNvPr id="313" name="Google Shape;313;p30"/>
          <p:cNvSpPr txBox="1"/>
          <p:nvPr>
            <p:ph idx="12" type="sldNum"/>
          </p:nvPr>
        </p:nvSpPr>
        <p:spPr>
          <a:xfrm>
            <a:off x="9858926" y="6375026"/>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17" name="Shape 317"/>
        <p:cNvGrpSpPr/>
        <p:nvPr/>
      </p:nvGrpSpPr>
      <p:grpSpPr>
        <a:xfrm>
          <a:off x="0" y="0"/>
          <a:ext cx="0" cy="0"/>
          <a:chOff x="0" y="0"/>
          <a:chExt cx="0" cy="0"/>
        </a:xfrm>
      </p:grpSpPr>
      <p:sp>
        <p:nvSpPr>
          <p:cNvPr id="318" name="Google Shape;318;p31"/>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rtl="0" algn="l">
              <a:lnSpc>
                <a:spcPct val="120000"/>
              </a:lnSpc>
              <a:spcBef>
                <a:spcPts val="0"/>
              </a:spcBef>
              <a:spcAft>
                <a:spcPts val="0"/>
              </a:spcAft>
              <a:buNone/>
            </a:pPr>
            <a:r>
              <a:rPr b="1" lang="en-US" sz="3600">
                <a:solidFill>
                  <a:srgbClr val="1E3A8A"/>
                </a:solidFill>
                <a:latin typeface="Rubik"/>
                <a:ea typeface="Rubik"/>
                <a:cs typeface="Rubik"/>
                <a:sym typeface="Rubik"/>
              </a:rPr>
              <a:t>User Interface (GUI)</a:t>
            </a:r>
            <a:endParaRPr b="1" sz="3600">
              <a:solidFill>
                <a:srgbClr val="1E3A8A"/>
              </a:solidFill>
              <a:latin typeface="Rubik"/>
              <a:ea typeface="Rubik"/>
              <a:cs typeface="Rubik"/>
              <a:sym typeface="Rubik"/>
            </a:endParaRPr>
          </a:p>
        </p:txBody>
      </p:sp>
      <p:sp>
        <p:nvSpPr>
          <p:cNvPr id="319" name="Google Shape;319;p31"/>
          <p:cNvSpPr txBox="1"/>
          <p:nvPr>
            <p:ph idx="12" type="sldNum"/>
          </p:nvPr>
        </p:nvSpPr>
        <p:spPr>
          <a:xfrm>
            <a:off x="9858926" y="6375026"/>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20" name="Google Shape;320;p31"/>
          <p:cNvPicPr preferRelativeResize="0"/>
          <p:nvPr/>
        </p:nvPicPr>
        <p:blipFill rotWithShape="1">
          <a:blip r:embed="rId4">
            <a:alphaModFix/>
          </a:blip>
          <a:srcRect b="0" l="0" r="0" t="4397"/>
          <a:stretch/>
        </p:blipFill>
        <p:spPr>
          <a:xfrm>
            <a:off x="2132925" y="1418625"/>
            <a:ext cx="8149075" cy="518515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24" name="Shape 324"/>
        <p:cNvGrpSpPr/>
        <p:nvPr/>
      </p:nvGrpSpPr>
      <p:grpSpPr>
        <a:xfrm>
          <a:off x="0" y="0"/>
          <a:ext cx="0" cy="0"/>
          <a:chOff x="0" y="0"/>
          <a:chExt cx="0" cy="0"/>
        </a:xfrm>
      </p:grpSpPr>
      <p:sp>
        <p:nvSpPr>
          <p:cNvPr id="325" name="Google Shape;325;p32"/>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rtl="0" algn="l">
              <a:lnSpc>
                <a:spcPct val="120000"/>
              </a:lnSpc>
              <a:spcBef>
                <a:spcPts val="0"/>
              </a:spcBef>
              <a:spcAft>
                <a:spcPts val="0"/>
              </a:spcAft>
              <a:buNone/>
            </a:pPr>
            <a:r>
              <a:rPr b="1" lang="en-US" sz="3600">
                <a:solidFill>
                  <a:srgbClr val="1E3A8A"/>
                </a:solidFill>
                <a:latin typeface="Rubik"/>
                <a:ea typeface="Rubik"/>
                <a:cs typeface="Rubik"/>
                <a:sym typeface="Rubik"/>
              </a:rPr>
              <a:t>Challenges</a:t>
            </a:r>
            <a:endParaRPr b="1" sz="3600">
              <a:solidFill>
                <a:srgbClr val="1E3A8A"/>
              </a:solidFill>
              <a:latin typeface="Rubik"/>
              <a:ea typeface="Rubik"/>
              <a:cs typeface="Rubik"/>
              <a:sym typeface="Rubik"/>
            </a:endParaRPr>
          </a:p>
        </p:txBody>
      </p:sp>
      <p:sp>
        <p:nvSpPr>
          <p:cNvPr id="326" name="Google Shape;326;p32"/>
          <p:cNvSpPr txBox="1"/>
          <p:nvPr>
            <p:ph idx="12" type="sldNum"/>
          </p:nvPr>
        </p:nvSpPr>
        <p:spPr>
          <a:xfrm>
            <a:off x="9858926" y="6375026"/>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27" name="Google Shape;327;p32"/>
          <p:cNvSpPr txBox="1"/>
          <p:nvPr/>
        </p:nvSpPr>
        <p:spPr>
          <a:xfrm>
            <a:off x="571500" y="1889700"/>
            <a:ext cx="10889700" cy="1262100"/>
          </a:xfrm>
          <a:prstGeom prst="rect">
            <a:avLst/>
          </a:prstGeom>
          <a:noFill/>
          <a:ln>
            <a:noFill/>
          </a:ln>
        </p:spPr>
        <p:txBody>
          <a:bodyPr anchorCtr="0" anchor="t" bIns="91425" lIns="91425" spcFirstLastPara="1" rIns="91425" wrap="square" tIns="91425">
            <a:spAutoFit/>
          </a:bodyPr>
          <a:lstStyle/>
          <a:p>
            <a:pPr indent="0" lvl="0" marL="457200" rtl="0" algn="l">
              <a:lnSpc>
                <a:spcPct val="150000"/>
              </a:lnSpc>
              <a:spcBef>
                <a:spcPts val="0"/>
              </a:spcBef>
              <a:spcAft>
                <a:spcPts val="0"/>
              </a:spcAft>
              <a:buNone/>
            </a:pPr>
            <a:r>
              <a:rPr lang="en-US" sz="2800">
                <a:solidFill>
                  <a:srgbClr val="475569"/>
                </a:solidFill>
                <a:latin typeface="Heebo"/>
                <a:ea typeface="Heebo"/>
                <a:cs typeface="Heebo"/>
                <a:sym typeface="Heebo"/>
              </a:rPr>
              <a:t>Selecting datasets that accurately reflect different risk levels.</a:t>
            </a:r>
            <a:endParaRPr sz="2800">
              <a:solidFill>
                <a:srgbClr val="475569"/>
              </a:solidFill>
              <a:latin typeface="Heebo"/>
              <a:ea typeface="Heebo"/>
              <a:cs typeface="Heebo"/>
              <a:sym typeface="Heebo"/>
            </a:endParaRPr>
          </a:p>
          <a:p>
            <a:pPr indent="0" lvl="0" marL="457200" rtl="0" algn="l">
              <a:lnSpc>
                <a:spcPct val="150000"/>
              </a:lnSpc>
              <a:spcBef>
                <a:spcPts val="0"/>
              </a:spcBef>
              <a:spcAft>
                <a:spcPts val="0"/>
              </a:spcAft>
              <a:buNone/>
            </a:pPr>
            <a:r>
              <a:rPr lang="en-US" sz="2800">
                <a:solidFill>
                  <a:srgbClr val="475569"/>
                </a:solidFill>
                <a:latin typeface="Heebo"/>
                <a:ea typeface="Heebo"/>
                <a:cs typeface="Heebo"/>
                <a:sym typeface="Heebo"/>
              </a:rPr>
              <a:t>Maintaining a clear and well-structured report.</a:t>
            </a:r>
            <a:endParaRPr sz="2800">
              <a:solidFill>
                <a:srgbClr val="475569"/>
              </a:solidFill>
              <a:latin typeface="Heebo"/>
              <a:ea typeface="Heebo"/>
              <a:cs typeface="Heebo"/>
              <a:sym typeface="Heebo"/>
            </a:endParaRPr>
          </a:p>
        </p:txBody>
      </p:sp>
      <p:pic>
        <p:nvPicPr>
          <p:cNvPr descr="image.png" id="328" name="Google Shape;328;p32"/>
          <p:cNvPicPr preferRelativeResize="0"/>
          <p:nvPr/>
        </p:nvPicPr>
        <p:blipFill rotWithShape="1">
          <a:blip r:embed="rId4">
            <a:alphaModFix/>
          </a:blip>
          <a:srcRect b="0" l="0" r="0" t="0"/>
          <a:stretch/>
        </p:blipFill>
        <p:spPr>
          <a:xfrm>
            <a:off x="571491" y="1990329"/>
            <a:ext cx="417434" cy="417434"/>
          </a:xfrm>
          <a:prstGeom prst="rect">
            <a:avLst/>
          </a:prstGeom>
          <a:noFill/>
          <a:ln>
            <a:noFill/>
          </a:ln>
        </p:spPr>
      </p:pic>
      <p:pic>
        <p:nvPicPr>
          <p:cNvPr descr="image.png" id="329" name="Google Shape;329;p32"/>
          <p:cNvPicPr preferRelativeResize="0"/>
          <p:nvPr/>
        </p:nvPicPr>
        <p:blipFill rotWithShape="1">
          <a:blip r:embed="rId5">
            <a:alphaModFix/>
          </a:blip>
          <a:srcRect b="0" l="0" r="0" t="0"/>
          <a:stretch/>
        </p:blipFill>
        <p:spPr>
          <a:xfrm>
            <a:off x="684795" y="2115559"/>
            <a:ext cx="190827" cy="166973"/>
          </a:xfrm>
          <a:prstGeom prst="rect">
            <a:avLst/>
          </a:prstGeom>
          <a:noFill/>
          <a:ln>
            <a:noFill/>
          </a:ln>
        </p:spPr>
      </p:pic>
      <p:pic>
        <p:nvPicPr>
          <p:cNvPr descr="image.png" id="330" name="Google Shape;330;p32"/>
          <p:cNvPicPr preferRelativeResize="0"/>
          <p:nvPr/>
        </p:nvPicPr>
        <p:blipFill rotWithShape="1">
          <a:blip r:embed="rId6">
            <a:alphaModFix/>
          </a:blip>
          <a:srcRect b="0" l="0" r="0" t="0"/>
          <a:stretch/>
        </p:blipFill>
        <p:spPr>
          <a:xfrm>
            <a:off x="571491" y="2635399"/>
            <a:ext cx="417434" cy="417434"/>
          </a:xfrm>
          <a:prstGeom prst="rect">
            <a:avLst/>
          </a:prstGeom>
          <a:noFill/>
          <a:ln>
            <a:noFill/>
          </a:ln>
        </p:spPr>
      </p:pic>
      <p:pic>
        <p:nvPicPr>
          <p:cNvPr descr="image.png" id="331" name="Google Shape;331;p32"/>
          <p:cNvPicPr preferRelativeResize="0"/>
          <p:nvPr/>
        </p:nvPicPr>
        <p:blipFill rotWithShape="1">
          <a:blip r:embed="rId7">
            <a:alphaModFix/>
          </a:blip>
          <a:srcRect b="0" l="0" r="0" t="0"/>
          <a:stretch/>
        </p:blipFill>
        <p:spPr>
          <a:xfrm>
            <a:off x="696721" y="2760629"/>
            <a:ext cx="166973" cy="166973"/>
          </a:xfrm>
          <a:prstGeom prst="rect">
            <a:avLst/>
          </a:prstGeom>
          <a:noFill/>
          <a:ln>
            <a:noFill/>
          </a:ln>
        </p:spPr>
      </p:pic>
      <p:pic>
        <p:nvPicPr>
          <p:cNvPr descr="image.png" id="332" name="Google Shape;332;p32"/>
          <p:cNvPicPr preferRelativeResize="0"/>
          <p:nvPr/>
        </p:nvPicPr>
        <p:blipFill rotWithShape="1">
          <a:blip r:embed="rId8">
            <a:alphaModFix/>
          </a:blip>
          <a:srcRect b="0" l="0" r="0" t="0"/>
          <a:stretch/>
        </p:blipFill>
        <p:spPr>
          <a:xfrm>
            <a:off x="571491" y="5396680"/>
            <a:ext cx="417434" cy="417434"/>
          </a:xfrm>
          <a:prstGeom prst="rect">
            <a:avLst/>
          </a:prstGeom>
          <a:noFill/>
          <a:ln>
            <a:noFill/>
          </a:ln>
        </p:spPr>
      </p:pic>
      <p:pic>
        <p:nvPicPr>
          <p:cNvPr descr="image.png" id="333" name="Google Shape;333;p32"/>
          <p:cNvPicPr preferRelativeResize="0"/>
          <p:nvPr/>
        </p:nvPicPr>
        <p:blipFill rotWithShape="1">
          <a:blip r:embed="rId9">
            <a:alphaModFix/>
          </a:blip>
          <a:srcRect b="0" l="0" r="0" t="0"/>
          <a:stretch/>
        </p:blipFill>
        <p:spPr>
          <a:xfrm>
            <a:off x="696721" y="5521910"/>
            <a:ext cx="166973" cy="166973"/>
          </a:xfrm>
          <a:prstGeom prst="rect">
            <a:avLst/>
          </a:prstGeom>
          <a:noFill/>
          <a:ln>
            <a:noFill/>
          </a:ln>
        </p:spPr>
      </p:pic>
      <p:sp>
        <p:nvSpPr>
          <p:cNvPr id="334" name="Google Shape;334;p32"/>
          <p:cNvSpPr txBox="1"/>
          <p:nvPr/>
        </p:nvSpPr>
        <p:spPr>
          <a:xfrm>
            <a:off x="571500" y="1323000"/>
            <a:ext cx="11601600" cy="369300"/>
          </a:xfrm>
          <a:prstGeom prst="rect">
            <a:avLst/>
          </a:prstGeom>
          <a:noFill/>
          <a:ln>
            <a:noFill/>
          </a:ln>
        </p:spPr>
        <p:txBody>
          <a:bodyPr anchorCtr="0" anchor="t" bIns="0" lIns="0" spcFirstLastPara="1" rIns="0" wrap="square" tIns="0">
            <a:spAutoFit/>
          </a:bodyPr>
          <a:lstStyle/>
          <a:p>
            <a:pPr indent="0" lvl="0" marL="0" rtl="0" algn="l">
              <a:lnSpc>
                <a:spcPct val="120000"/>
              </a:lnSpc>
              <a:spcBef>
                <a:spcPts val="0"/>
              </a:spcBef>
              <a:spcAft>
                <a:spcPts val="0"/>
              </a:spcAft>
              <a:buNone/>
            </a:pPr>
            <a:r>
              <a:rPr b="1" lang="en-US" sz="2400">
                <a:solidFill>
                  <a:srgbClr val="2563EB"/>
                </a:solidFill>
                <a:latin typeface="Rubik"/>
                <a:ea typeface="Rubik"/>
                <a:cs typeface="Rubik"/>
                <a:sym typeface="Rubik"/>
              </a:rPr>
              <a:t>Phase A </a:t>
            </a:r>
            <a:r>
              <a:rPr b="1" lang="en-US" sz="2400">
                <a:solidFill>
                  <a:srgbClr val="2563EB"/>
                </a:solidFill>
                <a:latin typeface="Rubik"/>
                <a:ea typeface="Rubik"/>
                <a:cs typeface="Rubik"/>
                <a:sym typeface="Rubik"/>
              </a:rPr>
              <a:t>Challenges</a:t>
            </a:r>
            <a:r>
              <a:rPr b="1" lang="en-US" sz="2400">
                <a:solidFill>
                  <a:srgbClr val="2563EB"/>
                </a:solidFill>
                <a:latin typeface="Rubik"/>
                <a:ea typeface="Rubik"/>
                <a:cs typeface="Rubik"/>
                <a:sym typeface="Rubik"/>
              </a:rPr>
              <a:t>:</a:t>
            </a:r>
            <a:endParaRPr b="1" sz="2400">
              <a:solidFill>
                <a:srgbClr val="2563EB"/>
              </a:solidFill>
              <a:latin typeface="Rubik"/>
              <a:ea typeface="Rubik"/>
              <a:cs typeface="Rubik"/>
              <a:sym typeface="Rubik"/>
            </a:endParaRPr>
          </a:p>
        </p:txBody>
      </p:sp>
      <p:sp>
        <p:nvSpPr>
          <p:cNvPr id="335" name="Google Shape;335;p32"/>
          <p:cNvSpPr txBox="1"/>
          <p:nvPr/>
        </p:nvSpPr>
        <p:spPr>
          <a:xfrm>
            <a:off x="571500" y="4043675"/>
            <a:ext cx="10889700" cy="1908600"/>
          </a:xfrm>
          <a:prstGeom prst="rect">
            <a:avLst/>
          </a:prstGeom>
          <a:noFill/>
          <a:ln>
            <a:noFill/>
          </a:ln>
        </p:spPr>
        <p:txBody>
          <a:bodyPr anchorCtr="0" anchor="t" bIns="91425" lIns="91425" spcFirstLastPara="1" rIns="91425" wrap="square" tIns="91425">
            <a:spAutoFit/>
          </a:bodyPr>
          <a:lstStyle/>
          <a:p>
            <a:pPr indent="0" lvl="0" marL="457200" rtl="0" algn="l">
              <a:lnSpc>
                <a:spcPct val="150000"/>
              </a:lnSpc>
              <a:spcBef>
                <a:spcPts val="0"/>
              </a:spcBef>
              <a:spcAft>
                <a:spcPts val="0"/>
              </a:spcAft>
              <a:buNone/>
            </a:pPr>
            <a:r>
              <a:rPr lang="en-US" sz="2800">
                <a:solidFill>
                  <a:srgbClr val="475569"/>
                </a:solidFill>
                <a:latin typeface="Heebo"/>
                <a:ea typeface="Heebo"/>
                <a:cs typeface="Heebo"/>
                <a:sym typeface="Heebo"/>
              </a:rPr>
              <a:t>Recruiting a sufficient number of participants to ensure meaningful results.</a:t>
            </a:r>
            <a:endParaRPr sz="2800">
              <a:solidFill>
                <a:srgbClr val="475569"/>
              </a:solidFill>
              <a:latin typeface="Heebo"/>
              <a:ea typeface="Heebo"/>
              <a:cs typeface="Heebo"/>
              <a:sym typeface="Heebo"/>
            </a:endParaRPr>
          </a:p>
          <a:p>
            <a:pPr indent="0" lvl="0" marL="457200" rtl="0" algn="l">
              <a:lnSpc>
                <a:spcPct val="150000"/>
              </a:lnSpc>
              <a:spcBef>
                <a:spcPts val="0"/>
              </a:spcBef>
              <a:spcAft>
                <a:spcPts val="0"/>
              </a:spcAft>
              <a:buNone/>
            </a:pPr>
            <a:r>
              <a:rPr lang="en-US" sz="2800">
                <a:solidFill>
                  <a:srgbClr val="475569"/>
                </a:solidFill>
                <a:latin typeface="Heebo"/>
                <a:ea typeface="Heebo"/>
                <a:cs typeface="Heebo"/>
                <a:sym typeface="Heebo"/>
              </a:rPr>
              <a:t>Ensuring the models generate meaningful </a:t>
            </a:r>
            <a:r>
              <a:rPr lang="en-US" sz="2800">
                <a:solidFill>
                  <a:srgbClr val="475569"/>
                </a:solidFill>
                <a:latin typeface="Heebo"/>
                <a:ea typeface="Heebo"/>
                <a:cs typeface="Heebo"/>
                <a:sym typeface="Heebo"/>
              </a:rPr>
              <a:t>explanations</a:t>
            </a:r>
            <a:r>
              <a:rPr lang="en-US" sz="2800">
                <a:solidFill>
                  <a:srgbClr val="475569"/>
                </a:solidFill>
                <a:latin typeface="Heebo"/>
                <a:ea typeface="Heebo"/>
                <a:cs typeface="Heebo"/>
                <a:sym typeface="Heebo"/>
              </a:rPr>
              <a:t>.</a:t>
            </a:r>
            <a:endParaRPr sz="2800">
              <a:solidFill>
                <a:srgbClr val="475569"/>
              </a:solidFill>
              <a:latin typeface="Heebo"/>
              <a:ea typeface="Heebo"/>
              <a:cs typeface="Heebo"/>
              <a:sym typeface="Heebo"/>
            </a:endParaRPr>
          </a:p>
        </p:txBody>
      </p:sp>
      <p:sp>
        <p:nvSpPr>
          <p:cNvPr id="336" name="Google Shape;336;p32"/>
          <p:cNvSpPr txBox="1"/>
          <p:nvPr/>
        </p:nvSpPr>
        <p:spPr>
          <a:xfrm>
            <a:off x="571500" y="3476975"/>
            <a:ext cx="11601600" cy="369300"/>
          </a:xfrm>
          <a:prstGeom prst="rect">
            <a:avLst/>
          </a:prstGeom>
          <a:noFill/>
          <a:ln>
            <a:noFill/>
          </a:ln>
        </p:spPr>
        <p:txBody>
          <a:bodyPr anchorCtr="0" anchor="t" bIns="0" lIns="0" spcFirstLastPara="1" rIns="0" wrap="square" tIns="0">
            <a:spAutoFit/>
          </a:bodyPr>
          <a:lstStyle/>
          <a:p>
            <a:pPr indent="0" lvl="0" marL="0" rtl="0" algn="l">
              <a:lnSpc>
                <a:spcPct val="120000"/>
              </a:lnSpc>
              <a:spcBef>
                <a:spcPts val="0"/>
              </a:spcBef>
              <a:spcAft>
                <a:spcPts val="0"/>
              </a:spcAft>
              <a:buNone/>
            </a:pPr>
            <a:r>
              <a:rPr b="1" lang="en-US" sz="2400">
                <a:solidFill>
                  <a:srgbClr val="2563EB"/>
                </a:solidFill>
                <a:latin typeface="Rubik"/>
                <a:ea typeface="Rubik"/>
                <a:cs typeface="Rubik"/>
                <a:sym typeface="Rubik"/>
              </a:rPr>
              <a:t>Phase B Challenges:</a:t>
            </a:r>
            <a:endParaRPr b="1" sz="2400">
              <a:solidFill>
                <a:srgbClr val="2563EB"/>
              </a:solidFill>
              <a:latin typeface="Rubik"/>
              <a:ea typeface="Rubik"/>
              <a:cs typeface="Rubik"/>
              <a:sym typeface="Rubik"/>
            </a:endParaRPr>
          </a:p>
        </p:txBody>
      </p:sp>
      <p:pic>
        <p:nvPicPr>
          <p:cNvPr descr="image.png" id="337" name="Google Shape;337;p32"/>
          <p:cNvPicPr preferRelativeResize="0"/>
          <p:nvPr/>
        </p:nvPicPr>
        <p:blipFill rotWithShape="1">
          <a:blip r:embed="rId10">
            <a:alphaModFix/>
          </a:blip>
          <a:srcRect b="0" l="0" r="0" t="0"/>
          <a:stretch/>
        </p:blipFill>
        <p:spPr>
          <a:xfrm>
            <a:off x="571501" y="4171449"/>
            <a:ext cx="417425" cy="417425"/>
          </a:xfrm>
          <a:prstGeom prst="rect">
            <a:avLst/>
          </a:prstGeom>
          <a:noFill/>
          <a:ln>
            <a:noFill/>
          </a:ln>
        </p:spPr>
      </p:pic>
      <p:pic>
        <p:nvPicPr>
          <p:cNvPr descr="image.png" id="338" name="Google Shape;338;p32"/>
          <p:cNvPicPr preferRelativeResize="0"/>
          <p:nvPr/>
        </p:nvPicPr>
        <p:blipFill rotWithShape="1">
          <a:blip r:embed="rId11">
            <a:alphaModFix/>
          </a:blip>
          <a:srcRect b="0" l="0" r="0" t="0"/>
          <a:stretch/>
        </p:blipFill>
        <p:spPr>
          <a:xfrm>
            <a:off x="675846" y="4296679"/>
            <a:ext cx="208713" cy="16697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33"/>
          <p:cNvSpPr txBox="1"/>
          <p:nvPr/>
        </p:nvSpPr>
        <p:spPr>
          <a:xfrm>
            <a:off x="768450" y="3044250"/>
            <a:ext cx="10655100" cy="7695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lang="en-US" sz="5000">
                <a:solidFill>
                  <a:srgbClr val="1E3A8A"/>
                </a:solidFill>
                <a:latin typeface="Rubik ExtraBold"/>
                <a:ea typeface="Rubik ExtraBold"/>
                <a:cs typeface="Rubik ExtraBold"/>
                <a:sym typeface="Rubik ExtraBold"/>
              </a:rPr>
              <a:t>Evaluation Plan</a:t>
            </a:r>
            <a:endParaRPr sz="5000">
              <a:latin typeface="Rubik ExtraBold"/>
              <a:ea typeface="Rubik ExtraBold"/>
              <a:cs typeface="Rubik ExtraBold"/>
              <a:sym typeface="Rubik ExtraBold"/>
            </a:endParaRPr>
          </a:p>
        </p:txBody>
      </p:sp>
      <p:sp>
        <p:nvSpPr>
          <p:cNvPr id="344" name="Google Shape;344;p33"/>
          <p:cNvSpPr txBox="1"/>
          <p:nvPr>
            <p:ph idx="12" type="sldNum"/>
          </p:nvPr>
        </p:nvSpPr>
        <p:spPr>
          <a:xfrm>
            <a:off x="984025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48" name="Shape 348"/>
        <p:cNvGrpSpPr/>
        <p:nvPr/>
      </p:nvGrpSpPr>
      <p:grpSpPr>
        <a:xfrm>
          <a:off x="0" y="0"/>
          <a:ext cx="0" cy="0"/>
          <a:chOff x="0" y="0"/>
          <a:chExt cx="0" cy="0"/>
        </a:xfrm>
      </p:grpSpPr>
      <p:sp>
        <p:nvSpPr>
          <p:cNvPr id="349" name="Google Shape;349;p34"/>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rtl="0" algn="l">
              <a:lnSpc>
                <a:spcPct val="120000"/>
              </a:lnSpc>
              <a:spcBef>
                <a:spcPts val="0"/>
              </a:spcBef>
              <a:spcAft>
                <a:spcPts val="0"/>
              </a:spcAft>
              <a:buNone/>
            </a:pPr>
            <a:r>
              <a:rPr b="1" lang="en-US" sz="3600">
                <a:solidFill>
                  <a:srgbClr val="1E3A8A"/>
                </a:solidFill>
                <a:latin typeface="Rubik"/>
                <a:ea typeface="Rubik"/>
                <a:cs typeface="Rubik"/>
                <a:sym typeface="Rubik"/>
              </a:rPr>
              <a:t>User Evaluation </a:t>
            </a:r>
            <a:endParaRPr b="1" sz="3600">
              <a:solidFill>
                <a:srgbClr val="1E3A8A"/>
              </a:solidFill>
              <a:latin typeface="Rubik"/>
              <a:ea typeface="Rubik"/>
              <a:cs typeface="Rubik"/>
              <a:sym typeface="Rubik"/>
            </a:endParaRPr>
          </a:p>
        </p:txBody>
      </p:sp>
      <p:sp>
        <p:nvSpPr>
          <p:cNvPr id="350" name="Google Shape;350;p34"/>
          <p:cNvSpPr txBox="1"/>
          <p:nvPr>
            <p:ph idx="12" type="sldNum"/>
          </p:nvPr>
        </p:nvSpPr>
        <p:spPr>
          <a:xfrm>
            <a:off x="9858926" y="6375026"/>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51" name="Google Shape;351;p34"/>
          <p:cNvSpPr txBox="1"/>
          <p:nvPr/>
        </p:nvSpPr>
        <p:spPr>
          <a:xfrm>
            <a:off x="571499" y="1283850"/>
            <a:ext cx="4999500" cy="3693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Font typeface="Arial"/>
              <a:buNone/>
            </a:pPr>
            <a:r>
              <a:rPr lang="en-US" sz="2400">
                <a:solidFill>
                  <a:srgbClr val="2563EB"/>
                </a:solidFill>
                <a:latin typeface="Rubik Medium"/>
                <a:ea typeface="Rubik Medium"/>
                <a:cs typeface="Rubik Medium"/>
                <a:sym typeface="Rubik Medium"/>
              </a:rPr>
              <a:t>System Causability Scale(SCS) :</a:t>
            </a:r>
            <a:endParaRPr sz="2400"/>
          </a:p>
        </p:txBody>
      </p:sp>
      <p:sp>
        <p:nvSpPr>
          <p:cNvPr id="352" name="Google Shape;352;p34"/>
          <p:cNvSpPr txBox="1"/>
          <p:nvPr/>
        </p:nvSpPr>
        <p:spPr>
          <a:xfrm>
            <a:off x="571500" y="1796100"/>
            <a:ext cx="7487400" cy="48486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1800">
                <a:solidFill>
                  <a:srgbClr val="475569"/>
                </a:solidFill>
                <a:latin typeface="Heebo"/>
                <a:ea typeface="Heebo"/>
                <a:cs typeface="Heebo"/>
                <a:sym typeface="Heebo"/>
              </a:rPr>
              <a:t>Causal Factors: </a:t>
            </a:r>
            <a:r>
              <a:rPr lang="en-US" sz="1800">
                <a:solidFill>
                  <a:srgbClr val="475569"/>
                </a:solidFill>
                <a:latin typeface="Heebo"/>
                <a:ea typeface="Heebo"/>
                <a:cs typeface="Heebo"/>
                <a:sym typeface="Heebo"/>
              </a:rPr>
              <a:t>I found that the data included all relevant known causal factors with sufficient precision.</a:t>
            </a:r>
            <a:endParaRPr sz="1800">
              <a:solidFill>
                <a:srgbClr val="475569"/>
              </a:solidFill>
              <a:latin typeface="Heebo"/>
              <a:ea typeface="Heebo"/>
              <a:cs typeface="Heebo"/>
              <a:sym typeface="Heebo"/>
            </a:endParaRPr>
          </a:p>
          <a:p>
            <a:pPr indent="0" lvl="0" marL="0" marR="0" rtl="0" algn="l">
              <a:lnSpc>
                <a:spcPct val="150000"/>
              </a:lnSpc>
              <a:spcBef>
                <a:spcPts val="0"/>
              </a:spcBef>
              <a:spcAft>
                <a:spcPts val="0"/>
              </a:spcAft>
              <a:buNone/>
            </a:pPr>
            <a:r>
              <a:rPr b="1" lang="en-US" sz="1800">
                <a:solidFill>
                  <a:srgbClr val="475569"/>
                </a:solidFill>
                <a:latin typeface="Heebo"/>
                <a:ea typeface="Heebo"/>
                <a:cs typeface="Heebo"/>
                <a:sym typeface="Heebo"/>
              </a:rPr>
              <a:t>Causality</a:t>
            </a:r>
            <a:r>
              <a:rPr lang="en-US" sz="1800">
                <a:solidFill>
                  <a:srgbClr val="475569"/>
                </a:solidFill>
                <a:latin typeface="Heebo"/>
                <a:ea typeface="Heebo"/>
                <a:cs typeface="Heebo"/>
                <a:sym typeface="Heebo"/>
              </a:rPr>
              <a:t>: I found the explanations helped me to understand the cause-and-effect relationship in the prediction.</a:t>
            </a:r>
            <a:endParaRPr sz="1800">
              <a:solidFill>
                <a:srgbClr val="475569"/>
              </a:solidFill>
              <a:latin typeface="Heebo"/>
              <a:ea typeface="Heebo"/>
              <a:cs typeface="Heebo"/>
              <a:sym typeface="Heebo"/>
            </a:endParaRPr>
          </a:p>
          <a:p>
            <a:pPr indent="0" lvl="0" marL="0" marR="0" rtl="0" algn="l">
              <a:lnSpc>
                <a:spcPct val="150000"/>
              </a:lnSpc>
              <a:spcBef>
                <a:spcPts val="0"/>
              </a:spcBef>
              <a:spcAft>
                <a:spcPts val="0"/>
              </a:spcAft>
              <a:buNone/>
            </a:pPr>
            <a:r>
              <a:rPr b="1" lang="en-US" sz="1800">
                <a:solidFill>
                  <a:srgbClr val="475569"/>
                </a:solidFill>
                <a:latin typeface="Heebo"/>
                <a:ea typeface="Heebo"/>
                <a:cs typeface="Heebo"/>
                <a:sym typeface="Heebo"/>
              </a:rPr>
              <a:t>Context</a:t>
            </a:r>
            <a:r>
              <a:rPr lang="en-US" sz="1800">
                <a:solidFill>
                  <a:srgbClr val="475569"/>
                </a:solidFill>
                <a:latin typeface="Heebo"/>
                <a:ea typeface="Heebo"/>
                <a:cs typeface="Heebo"/>
                <a:sym typeface="Heebo"/>
              </a:rPr>
              <a:t>: I understood the explanations within the context of the domain.</a:t>
            </a:r>
            <a:endParaRPr sz="1800">
              <a:solidFill>
                <a:srgbClr val="475569"/>
              </a:solidFill>
              <a:latin typeface="Heebo"/>
              <a:ea typeface="Heebo"/>
              <a:cs typeface="Heebo"/>
              <a:sym typeface="Heebo"/>
            </a:endParaRPr>
          </a:p>
          <a:p>
            <a:pPr indent="0" lvl="0" marL="0" marR="0" rtl="0" algn="l">
              <a:lnSpc>
                <a:spcPct val="150000"/>
              </a:lnSpc>
              <a:spcBef>
                <a:spcPts val="0"/>
              </a:spcBef>
              <a:spcAft>
                <a:spcPts val="0"/>
              </a:spcAft>
              <a:buNone/>
            </a:pPr>
            <a:r>
              <a:rPr b="1" lang="en-US" sz="1800">
                <a:solidFill>
                  <a:srgbClr val="475569"/>
                </a:solidFill>
                <a:latin typeface="Heebo"/>
                <a:ea typeface="Heebo"/>
                <a:cs typeface="Heebo"/>
                <a:sym typeface="Heebo"/>
              </a:rPr>
              <a:t>Support</a:t>
            </a:r>
            <a:r>
              <a:rPr lang="en-US" sz="1800">
                <a:solidFill>
                  <a:srgbClr val="475569"/>
                </a:solidFill>
                <a:latin typeface="Heebo"/>
                <a:ea typeface="Heebo"/>
                <a:cs typeface="Heebo"/>
                <a:sym typeface="Heebo"/>
              </a:rPr>
              <a:t>: I did not need support or external help to understand the explanations.</a:t>
            </a:r>
            <a:endParaRPr sz="1800">
              <a:solidFill>
                <a:srgbClr val="475569"/>
              </a:solidFill>
              <a:latin typeface="Heebo"/>
              <a:ea typeface="Heebo"/>
              <a:cs typeface="Heebo"/>
              <a:sym typeface="Heebo"/>
            </a:endParaRPr>
          </a:p>
          <a:p>
            <a:pPr indent="0" lvl="0" marL="0" marR="0" rtl="0" algn="l">
              <a:lnSpc>
                <a:spcPct val="150000"/>
              </a:lnSpc>
              <a:spcBef>
                <a:spcPts val="0"/>
              </a:spcBef>
              <a:spcAft>
                <a:spcPts val="0"/>
              </a:spcAft>
              <a:buNone/>
            </a:pPr>
            <a:r>
              <a:rPr b="1" lang="en-US" sz="1800">
                <a:solidFill>
                  <a:srgbClr val="475569"/>
                </a:solidFill>
                <a:latin typeface="Heebo"/>
                <a:ea typeface="Heebo"/>
                <a:cs typeface="Heebo"/>
                <a:sym typeface="Heebo"/>
              </a:rPr>
              <a:t>Learnability</a:t>
            </a:r>
            <a:r>
              <a:rPr lang="en-US" sz="1800">
                <a:solidFill>
                  <a:srgbClr val="475569"/>
                </a:solidFill>
                <a:latin typeface="Heebo"/>
                <a:ea typeface="Heebo"/>
                <a:cs typeface="Heebo"/>
                <a:sym typeface="Heebo"/>
              </a:rPr>
              <a:t>: I think that most people would learn to understand these explanations very quickly.</a:t>
            </a:r>
            <a:endParaRPr sz="1800">
              <a:solidFill>
                <a:srgbClr val="475569"/>
              </a:solidFill>
              <a:latin typeface="Heebo"/>
              <a:ea typeface="Heebo"/>
              <a:cs typeface="Heebo"/>
              <a:sym typeface="Heebo"/>
            </a:endParaRPr>
          </a:p>
          <a:p>
            <a:pPr indent="0" lvl="0" marL="0" marR="0" rtl="0" algn="l">
              <a:lnSpc>
                <a:spcPct val="150000"/>
              </a:lnSpc>
              <a:spcBef>
                <a:spcPts val="0"/>
              </a:spcBef>
              <a:spcAft>
                <a:spcPts val="0"/>
              </a:spcAft>
              <a:buNone/>
            </a:pPr>
            <a:r>
              <a:rPr b="1" lang="en-US" sz="1800">
                <a:solidFill>
                  <a:srgbClr val="475569"/>
                </a:solidFill>
                <a:latin typeface="Heebo"/>
                <a:ea typeface="Heebo"/>
                <a:cs typeface="Heebo"/>
                <a:sym typeface="Heebo"/>
              </a:rPr>
              <a:t>Efficiency</a:t>
            </a:r>
            <a:r>
              <a:rPr lang="en-US" sz="1800">
                <a:solidFill>
                  <a:srgbClr val="475569"/>
                </a:solidFill>
                <a:latin typeface="Heebo"/>
                <a:ea typeface="Heebo"/>
                <a:cs typeface="Heebo"/>
                <a:sym typeface="Heebo"/>
              </a:rPr>
              <a:t>: I received and understood the explanations in a timely and efficient manner.</a:t>
            </a:r>
            <a:endParaRPr sz="1800">
              <a:solidFill>
                <a:srgbClr val="475569"/>
              </a:solidFill>
              <a:latin typeface="Heebo"/>
              <a:ea typeface="Heebo"/>
              <a:cs typeface="Heebo"/>
              <a:sym typeface="Heebo"/>
            </a:endParaRPr>
          </a:p>
          <a:p>
            <a:pPr indent="0" lvl="0" marL="0" marR="0" rtl="0" algn="l">
              <a:lnSpc>
                <a:spcPct val="150000"/>
              </a:lnSpc>
              <a:spcBef>
                <a:spcPts val="0"/>
              </a:spcBef>
              <a:spcAft>
                <a:spcPts val="0"/>
              </a:spcAft>
              <a:buNone/>
            </a:pPr>
            <a:r>
              <a:rPr lang="en-US" sz="1800" u="sng">
                <a:solidFill>
                  <a:schemeClr val="hlink"/>
                </a:solidFill>
                <a:latin typeface="Heebo"/>
                <a:ea typeface="Heebo"/>
                <a:cs typeface="Heebo"/>
                <a:sym typeface="Heebo"/>
                <a:hlinkClick r:id="rId4"/>
              </a:rPr>
              <a:t>https://link.springer.com/article/10.1007/s13218-020-00636-z</a:t>
            </a:r>
            <a:endParaRPr sz="1800">
              <a:solidFill>
                <a:srgbClr val="2563EB"/>
              </a:solidFill>
              <a:latin typeface="Heebo"/>
              <a:ea typeface="Heebo"/>
              <a:cs typeface="Heebo"/>
              <a:sym typeface="Heebo"/>
            </a:endParaRPr>
          </a:p>
        </p:txBody>
      </p:sp>
      <p:grpSp>
        <p:nvGrpSpPr>
          <p:cNvPr id="353" name="Google Shape;353;p34"/>
          <p:cNvGrpSpPr/>
          <p:nvPr/>
        </p:nvGrpSpPr>
        <p:grpSpPr>
          <a:xfrm>
            <a:off x="8365975" y="1813729"/>
            <a:ext cx="3303650" cy="354000"/>
            <a:chOff x="8344050" y="3349415"/>
            <a:chExt cx="3303650" cy="354000"/>
          </a:xfrm>
        </p:grpSpPr>
        <p:sp>
          <p:nvSpPr>
            <p:cNvPr id="354" name="Google Shape;354;p34"/>
            <p:cNvSpPr/>
            <p:nvPr/>
          </p:nvSpPr>
          <p:spPr>
            <a:xfrm>
              <a:off x="8344050" y="3349415"/>
              <a:ext cx="354000" cy="354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55" name="Google Shape;355;p34"/>
            <p:cNvSpPr/>
            <p:nvPr/>
          </p:nvSpPr>
          <p:spPr>
            <a:xfrm>
              <a:off x="9119563" y="3349415"/>
              <a:ext cx="354000" cy="354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56" name="Google Shape;356;p34"/>
            <p:cNvSpPr/>
            <p:nvPr/>
          </p:nvSpPr>
          <p:spPr>
            <a:xfrm>
              <a:off x="9820040" y="3349415"/>
              <a:ext cx="354000" cy="354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57" name="Google Shape;357;p34"/>
            <p:cNvSpPr/>
            <p:nvPr/>
          </p:nvSpPr>
          <p:spPr>
            <a:xfrm>
              <a:off x="10518188" y="3349415"/>
              <a:ext cx="354000" cy="354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58" name="Google Shape;358;p34"/>
            <p:cNvSpPr/>
            <p:nvPr/>
          </p:nvSpPr>
          <p:spPr>
            <a:xfrm>
              <a:off x="11293700" y="3349415"/>
              <a:ext cx="354000" cy="354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59" name="Google Shape;359;p34"/>
            <p:cNvSpPr/>
            <p:nvPr/>
          </p:nvSpPr>
          <p:spPr>
            <a:xfrm>
              <a:off x="9895075" y="3425615"/>
              <a:ext cx="201600" cy="2016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grpSp>
      <p:sp>
        <p:nvSpPr>
          <p:cNvPr id="360" name="Google Shape;360;p34"/>
          <p:cNvSpPr txBox="1"/>
          <p:nvPr/>
        </p:nvSpPr>
        <p:spPr>
          <a:xfrm>
            <a:off x="7158400" y="887581"/>
            <a:ext cx="2564400" cy="65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200">
                <a:solidFill>
                  <a:schemeClr val="dk1"/>
                </a:solidFill>
                <a:latin typeface="Heebo"/>
                <a:ea typeface="Heebo"/>
                <a:cs typeface="Heebo"/>
                <a:sym typeface="Heebo"/>
              </a:rPr>
              <a:t>1 </a:t>
            </a:r>
            <a:endParaRPr b="1" sz="1200">
              <a:solidFill>
                <a:schemeClr val="dk1"/>
              </a:solidFill>
              <a:latin typeface="Heebo"/>
              <a:ea typeface="Heebo"/>
              <a:cs typeface="Heebo"/>
              <a:sym typeface="Heebo"/>
            </a:endParaRPr>
          </a:p>
          <a:p>
            <a:pPr indent="0" lvl="0" marL="0" rtl="0" algn="ctr">
              <a:spcBef>
                <a:spcPts val="0"/>
              </a:spcBef>
              <a:spcAft>
                <a:spcPts val="0"/>
              </a:spcAft>
              <a:buNone/>
            </a:pPr>
            <a:r>
              <a:rPr b="1" lang="en-US" sz="1200">
                <a:solidFill>
                  <a:schemeClr val="dk1"/>
                </a:solidFill>
                <a:latin typeface="Heebo"/>
                <a:ea typeface="Heebo"/>
                <a:cs typeface="Heebo"/>
                <a:sym typeface="Heebo"/>
              </a:rPr>
              <a:t>(Strongly Disagree)</a:t>
            </a:r>
            <a:endParaRPr b="1" sz="1200">
              <a:solidFill>
                <a:schemeClr val="dk1"/>
              </a:solidFill>
              <a:latin typeface="Heebo"/>
              <a:ea typeface="Heebo"/>
              <a:cs typeface="Heebo"/>
              <a:sym typeface="Heebo"/>
            </a:endParaRPr>
          </a:p>
        </p:txBody>
      </p:sp>
      <p:sp>
        <p:nvSpPr>
          <p:cNvPr id="361" name="Google Shape;361;p34"/>
          <p:cNvSpPr txBox="1"/>
          <p:nvPr/>
        </p:nvSpPr>
        <p:spPr>
          <a:xfrm>
            <a:off x="9125875" y="887581"/>
            <a:ext cx="495900" cy="442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200">
                <a:solidFill>
                  <a:schemeClr val="dk1"/>
                </a:solidFill>
                <a:latin typeface="Heebo"/>
                <a:ea typeface="Heebo"/>
                <a:cs typeface="Heebo"/>
                <a:sym typeface="Heebo"/>
              </a:rPr>
              <a:t>2</a:t>
            </a:r>
            <a:endParaRPr b="1" sz="1200">
              <a:solidFill>
                <a:schemeClr val="dk1"/>
              </a:solidFill>
              <a:latin typeface="Heebo"/>
              <a:ea typeface="Heebo"/>
              <a:cs typeface="Heebo"/>
              <a:sym typeface="Heebo"/>
            </a:endParaRPr>
          </a:p>
        </p:txBody>
      </p:sp>
      <p:grpSp>
        <p:nvGrpSpPr>
          <p:cNvPr id="362" name="Google Shape;362;p34"/>
          <p:cNvGrpSpPr/>
          <p:nvPr/>
        </p:nvGrpSpPr>
        <p:grpSpPr>
          <a:xfrm>
            <a:off x="8365975" y="2545570"/>
            <a:ext cx="3303650" cy="354000"/>
            <a:chOff x="8344050" y="3349415"/>
            <a:chExt cx="3303650" cy="354000"/>
          </a:xfrm>
        </p:grpSpPr>
        <p:sp>
          <p:nvSpPr>
            <p:cNvPr id="363" name="Google Shape;363;p34"/>
            <p:cNvSpPr/>
            <p:nvPr/>
          </p:nvSpPr>
          <p:spPr>
            <a:xfrm>
              <a:off x="8344050" y="3349415"/>
              <a:ext cx="354000" cy="354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64" name="Google Shape;364;p34"/>
            <p:cNvSpPr/>
            <p:nvPr/>
          </p:nvSpPr>
          <p:spPr>
            <a:xfrm>
              <a:off x="9119563" y="3349415"/>
              <a:ext cx="354000" cy="354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65" name="Google Shape;365;p34"/>
            <p:cNvSpPr/>
            <p:nvPr/>
          </p:nvSpPr>
          <p:spPr>
            <a:xfrm>
              <a:off x="9820040" y="3349415"/>
              <a:ext cx="354000" cy="354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66" name="Google Shape;366;p34"/>
            <p:cNvSpPr/>
            <p:nvPr/>
          </p:nvSpPr>
          <p:spPr>
            <a:xfrm>
              <a:off x="10518188" y="3349415"/>
              <a:ext cx="354000" cy="354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67" name="Google Shape;367;p34"/>
            <p:cNvSpPr/>
            <p:nvPr/>
          </p:nvSpPr>
          <p:spPr>
            <a:xfrm>
              <a:off x="11293700" y="3349415"/>
              <a:ext cx="354000" cy="354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68" name="Google Shape;368;p34"/>
            <p:cNvSpPr/>
            <p:nvPr/>
          </p:nvSpPr>
          <p:spPr>
            <a:xfrm>
              <a:off x="9895075" y="3425615"/>
              <a:ext cx="201600" cy="2016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grpSp>
      <p:grpSp>
        <p:nvGrpSpPr>
          <p:cNvPr id="369" name="Google Shape;369;p34"/>
          <p:cNvGrpSpPr/>
          <p:nvPr/>
        </p:nvGrpSpPr>
        <p:grpSpPr>
          <a:xfrm>
            <a:off x="8365975" y="3277410"/>
            <a:ext cx="3303650" cy="354000"/>
            <a:chOff x="8344050" y="3349415"/>
            <a:chExt cx="3303650" cy="354000"/>
          </a:xfrm>
        </p:grpSpPr>
        <p:sp>
          <p:nvSpPr>
            <p:cNvPr id="370" name="Google Shape;370;p34"/>
            <p:cNvSpPr/>
            <p:nvPr/>
          </p:nvSpPr>
          <p:spPr>
            <a:xfrm>
              <a:off x="8344050" y="3349415"/>
              <a:ext cx="354000" cy="354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71" name="Google Shape;371;p34"/>
            <p:cNvSpPr/>
            <p:nvPr/>
          </p:nvSpPr>
          <p:spPr>
            <a:xfrm>
              <a:off x="9119563" y="3349415"/>
              <a:ext cx="354000" cy="354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72" name="Google Shape;372;p34"/>
            <p:cNvSpPr/>
            <p:nvPr/>
          </p:nvSpPr>
          <p:spPr>
            <a:xfrm>
              <a:off x="9820040" y="3349415"/>
              <a:ext cx="354000" cy="354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73" name="Google Shape;373;p34"/>
            <p:cNvSpPr/>
            <p:nvPr/>
          </p:nvSpPr>
          <p:spPr>
            <a:xfrm>
              <a:off x="10518188" y="3349415"/>
              <a:ext cx="354000" cy="354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74" name="Google Shape;374;p34"/>
            <p:cNvSpPr/>
            <p:nvPr/>
          </p:nvSpPr>
          <p:spPr>
            <a:xfrm>
              <a:off x="11293700" y="3349415"/>
              <a:ext cx="354000" cy="354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75" name="Google Shape;375;p34"/>
            <p:cNvSpPr/>
            <p:nvPr/>
          </p:nvSpPr>
          <p:spPr>
            <a:xfrm>
              <a:off x="9895075" y="3425615"/>
              <a:ext cx="201600" cy="2016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grpSp>
      <p:grpSp>
        <p:nvGrpSpPr>
          <p:cNvPr id="376" name="Google Shape;376;p34"/>
          <p:cNvGrpSpPr/>
          <p:nvPr/>
        </p:nvGrpSpPr>
        <p:grpSpPr>
          <a:xfrm>
            <a:off x="8365975" y="4009250"/>
            <a:ext cx="3303650" cy="354000"/>
            <a:chOff x="8344050" y="3349415"/>
            <a:chExt cx="3303650" cy="354000"/>
          </a:xfrm>
        </p:grpSpPr>
        <p:sp>
          <p:nvSpPr>
            <p:cNvPr id="377" name="Google Shape;377;p34"/>
            <p:cNvSpPr/>
            <p:nvPr/>
          </p:nvSpPr>
          <p:spPr>
            <a:xfrm>
              <a:off x="8344050" y="3349415"/>
              <a:ext cx="354000" cy="354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78" name="Google Shape;378;p34"/>
            <p:cNvSpPr/>
            <p:nvPr/>
          </p:nvSpPr>
          <p:spPr>
            <a:xfrm>
              <a:off x="9119563" y="3349415"/>
              <a:ext cx="354000" cy="354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79" name="Google Shape;379;p34"/>
            <p:cNvSpPr/>
            <p:nvPr/>
          </p:nvSpPr>
          <p:spPr>
            <a:xfrm>
              <a:off x="9820040" y="3349415"/>
              <a:ext cx="354000" cy="354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80" name="Google Shape;380;p34"/>
            <p:cNvSpPr/>
            <p:nvPr/>
          </p:nvSpPr>
          <p:spPr>
            <a:xfrm>
              <a:off x="10518188" y="3349415"/>
              <a:ext cx="354000" cy="354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81" name="Google Shape;381;p34"/>
            <p:cNvSpPr/>
            <p:nvPr/>
          </p:nvSpPr>
          <p:spPr>
            <a:xfrm>
              <a:off x="11293700" y="3349415"/>
              <a:ext cx="354000" cy="354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82" name="Google Shape;382;p34"/>
            <p:cNvSpPr/>
            <p:nvPr/>
          </p:nvSpPr>
          <p:spPr>
            <a:xfrm>
              <a:off x="9895075" y="3425615"/>
              <a:ext cx="201600" cy="2016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grpSp>
      <p:grpSp>
        <p:nvGrpSpPr>
          <p:cNvPr id="383" name="Google Shape;383;p34"/>
          <p:cNvGrpSpPr/>
          <p:nvPr/>
        </p:nvGrpSpPr>
        <p:grpSpPr>
          <a:xfrm>
            <a:off x="8365975" y="4741090"/>
            <a:ext cx="3303650" cy="354000"/>
            <a:chOff x="8344050" y="3349415"/>
            <a:chExt cx="3303650" cy="354000"/>
          </a:xfrm>
        </p:grpSpPr>
        <p:sp>
          <p:nvSpPr>
            <p:cNvPr id="384" name="Google Shape;384;p34"/>
            <p:cNvSpPr/>
            <p:nvPr/>
          </p:nvSpPr>
          <p:spPr>
            <a:xfrm>
              <a:off x="8344050" y="3349415"/>
              <a:ext cx="354000" cy="354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85" name="Google Shape;385;p34"/>
            <p:cNvSpPr/>
            <p:nvPr/>
          </p:nvSpPr>
          <p:spPr>
            <a:xfrm>
              <a:off x="9119563" y="3349415"/>
              <a:ext cx="354000" cy="354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86" name="Google Shape;386;p34"/>
            <p:cNvSpPr/>
            <p:nvPr/>
          </p:nvSpPr>
          <p:spPr>
            <a:xfrm>
              <a:off x="9820040" y="3349415"/>
              <a:ext cx="354000" cy="354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87" name="Google Shape;387;p34"/>
            <p:cNvSpPr/>
            <p:nvPr/>
          </p:nvSpPr>
          <p:spPr>
            <a:xfrm>
              <a:off x="10518188" y="3349415"/>
              <a:ext cx="354000" cy="354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88" name="Google Shape;388;p34"/>
            <p:cNvSpPr/>
            <p:nvPr/>
          </p:nvSpPr>
          <p:spPr>
            <a:xfrm>
              <a:off x="11293700" y="3349415"/>
              <a:ext cx="354000" cy="354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89" name="Google Shape;389;p34"/>
            <p:cNvSpPr/>
            <p:nvPr/>
          </p:nvSpPr>
          <p:spPr>
            <a:xfrm>
              <a:off x="9895075" y="3425615"/>
              <a:ext cx="201600" cy="2016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grpSp>
      <p:grpSp>
        <p:nvGrpSpPr>
          <p:cNvPr id="390" name="Google Shape;390;p34"/>
          <p:cNvGrpSpPr/>
          <p:nvPr/>
        </p:nvGrpSpPr>
        <p:grpSpPr>
          <a:xfrm>
            <a:off x="8365975" y="5472931"/>
            <a:ext cx="3303650" cy="354000"/>
            <a:chOff x="8344050" y="3349415"/>
            <a:chExt cx="3303650" cy="354000"/>
          </a:xfrm>
        </p:grpSpPr>
        <p:sp>
          <p:nvSpPr>
            <p:cNvPr id="391" name="Google Shape;391;p34"/>
            <p:cNvSpPr/>
            <p:nvPr/>
          </p:nvSpPr>
          <p:spPr>
            <a:xfrm>
              <a:off x="8344050" y="3349415"/>
              <a:ext cx="354000" cy="354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92" name="Google Shape;392;p34"/>
            <p:cNvSpPr/>
            <p:nvPr/>
          </p:nvSpPr>
          <p:spPr>
            <a:xfrm>
              <a:off x="9119563" y="3349415"/>
              <a:ext cx="354000" cy="354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93" name="Google Shape;393;p34"/>
            <p:cNvSpPr/>
            <p:nvPr/>
          </p:nvSpPr>
          <p:spPr>
            <a:xfrm>
              <a:off x="9820040" y="3349415"/>
              <a:ext cx="354000" cy="354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94" name="Google Shape;394;p34"/>
            <p:cNvSpPr/>
            <p:nvPr/>
          </p:nvSpPr>
          <p:spPr>
            <a:xfrm>
              <a:off x="10518188" y="3349415"/>
              <a:ext cx="354000" cy="354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95" name="Google Shape;395;p34"/>
            <p:cNvSpPr/>
            <p:nvPr/>
          </p:nvSpPr>
          <p:spPr>
            <a:xfrm>
              <a:off x="11293700" y="3349415"/>
              <a:ext cx="354000" cy="354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96" name="Google Shape;396;p34"/>
            <p:cNvSpPr/>
            <p:nvPr/>
          </p:nvSpPr>
          <p:spPr>
            <a:xfrm>
              <a:off x="9895075" y="3425615"/>
              <a:ext cx="201600" cy="2016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grpSp>
      <p:sp>
        <p:nvSpPr>
          <p:cNvPr id="397" name="Google Shape;397;p34"/>
          <p:cNvSpPr txBox="1"/>
          <p:nvPr/>
        </p:nvSpPr>
        <p:spPr>
          <a:xfrm>
            <a:off x="9769850" y="887581"/>
            <a:ext cx="495900" cy="442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200">
                <a:solidFill>
                  <a:schemeClr val="dk1"/>
                </a:solidFill>
                <a:latin typeface="Heebo"/>
                <a:ea typeface="Heebo"/>
                <a:cs typeface="Heebo"/>
                <a:sym typeface="Heebo"/>
              </a:rPr>
              <a:t>3</a:t>
            </a:r>
            <a:endParaRPr b="1" sz="1200">
              <a:solidFill>
                <a:schemeClr val="dk1"/>
              </a:solidFill>
              <a:latin typeface="Heebo"/>
              <a:ea typeface="Heebo"/>
              <a:cs typeface="Heebo"/>
              <a:sym typeface="Heebo"/>
            </a:endParaRPr>
          </a:p>
        </p:txBody>
      </p:sp>
      <p:sp>
        <p:nvSpPr>
          <p:cNvPr id="398" name="Google Shape;398;p34"/>
          <p:cNvSpPr txBox="1"/>
          <p:nvPr/>
        </p:nvSpPr>
        <p:spPr>
          <a:xfrm>
            <a:off x="10456227" y="887581"/>
            <a:ext cx="495900" cy="442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200">
                <a:solidFill>
                  <a:schemeClr val="dk1"/>
                </a:solidFill>
                <a:latin typeface="Heebo"/>
                <a:ea typeface="Heebo"/>
                <a:cs typeface="Heebo"/>
                <a:sym typeface="Heebo"/>
              </a:rPr>
              <a:t>4</a:t>
            </a:r>
            <a:endParaRPr b="1" sz="1200">
              <a:solidFill>
                <a:schemeClr val="dk1"/>
              </a:solidFill>
              <a:latin typeface="Heebo"/>
              <a:ea typeface="Heebo"/>
              <a:cs typeface="Heebo"/>
              <a:sym typeface="Heebo"/>
            </a:endParaRPr>
          </a:p>
          <a:p>
            <a:pPr indent="0" lvl="0" marL="0" rtl="0" algn="ctr">
              <a:spcBef>
                <a:spcPts val="0"/>
              </a:spcBef>
              <a:spcAft>
                <a:spcPts val="0"/>
              </a:spcAft>
              <a:buNone/>
            </a:pPr>
            <a:r>
              <a:t/>
            </a:r>
            <a:endParaRPr b="1" sz="1200">
              <a:solidFill>
                <a:schemeClr val="dk1"/>
              </a:solidFill>
              <a:latin typeface="Heebo"/>
              <a:ea typeface="Heebo"/>
              <a:cs typeface="Heebo"/>
              <a:sym typeface="Heebo"/>
            </a:endParaRPr>
          </a:p>
        </p:txBody>
      </p:sp>
      <p:sp>
        <p:nvSpPr>
          <p:cNvPr id="399" name="Google Shape;399;p34"/>
          <p:cNvSpPr txBox="1"/>
          <p:nvPr/>
        </p:nvSpPr>
        <p:spPr>
          <a:xfrm>
            <a:off x="10669500" y="887581"/>
            <a:ext cx="1666800" cy="65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200">
                <a:solidFill>
                  <a:schemeClr val="dk1"/>
                </a:solidFill>
                <a:latin typeface="Heebo"/>
                <a:ea typeface="Heebo"/>
                <a:cs typeface="Heebo"/>
                <a:sym typeface="Heebo"/>
              </a:rPr>
              <a:t>5</a:t>
            </a:r>
            <a:endParaRPr b="1" sz="1200">
              <a:solidFill>
                <a:schemeClr val="dk1"/>
              </a:solidFill>
              <a:latin typeface="Heebo"/>
              <a:ea typeface="Heebo"/>
              <a:cs typeface="Heebo"/>
              <a:sym typeface="Heebo"/>
            </a:endParaRPr>
          </a:p>
          <a:p>
            <a:pPr indent="0" lvl="0" marL="0" rtl="0" algn="ctr">
              <a:spcBef>
                <a:spcPts val="0"/>
              </a:spcBef>
              <a:spcAft>
                <a:spcPts val="0"/>
              </a:spcAft>
              <a:buNone/>
            </a:pPr>
            <a:r>
              <a:rPr b="1" lang="en-US" sz="1200">
                <a:solidFill>
                  <a:schemeClr val="dk1"/>
                </a:solidFill>
                <a:latin typeface="Heebo"/>
                <a:ea typeface="Heebo"/>
                <a:cs typeface="Heebo"/>
                <a:sym typeface="Heebo"/>
              </a:rPr>
              <a:t>(Strongly Agree)</a:t>
            </a:r>
            <a:endParaRPr b="1" sz="1200">
              <a:solidFill>
                <a:schemeClr val="dk1"/>
              </a:solidFill>
              <a:latin typeface="Heebo"/>
              <a:ea typeface="Heebo"/>
              <a:cs typeface="Heebo"/>
              <a:sym typeface="Heeb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03" name="Shape 403"/>
        <p:cNvGrpSpPr/>
        <p:nvPr/>
      </p:nvGrpSpPr>
      <p:grpSpPr>
        <a:xfrm>
          <a:off x="0" y="0"/>
          <a:ext cx="0" cy="0"/>
          <a:chOff x="0" y="0"/>
          <a:chExt cx="0" cy="0"/>
        </a:xfrm>
      </p:grpSpPr>
      <p:sp>
        <p:nvSpPr>
          <p:cNvPr id="404" name="Google Shape;404;p35"/>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rtl="0" algn="l">
              <a:lnSpc>
                <a:spcPct val="120000"/>
              </a:lnSpc>
              <a:spcBef>
                <a:spcPts val="0"/>
              </a:spcBef>
              <a:spcAft>
                <a:spcPts val="0"/>
              </a:spcAft>
              <a:buNone/>
            </a:pPr>
            <a:r>
              <a:rPr b="1" lang="en-US" sz="3600">
                <a:solidFill>
                  <a:srgbClr val="1E3A8A"/>
                </a:solidFill>
                <a:latin typeface="Rubik"/>
                <a:ea typeface="Rubik"/>
                <a:cs typeface="Rubik"/>
                <a:sym typeface="Rubik"/>
              </a:rPr>
              <a:t>User Evaluation </a:t>
            </a:r>
            <a:endParaRPr b="1" sz="3600">
              <a:solidFill>
                <a:srgbClr val="1E3A8A"/>
              </a:solidFill>
              <a:latin typeface="Rubik"/>
              <a:ea typeface="Rubik"/>
              <a:cs typeface="Rubik"/>
              <a:sym typeface="Rubik"/>
            </a:endParaRPr>
          </a:p>
        </p:txBody>
      </p:sp>
      <p:sp>
        <p:nvSpPr>
          <p:cNvPr id="405" name="Google Shape;405;p35"/>
          <p:cNvSpPr txBox="1"/>
          <p:nvPr/>
        </p:nvSpPr>
        <p:spPr>
          <a:xfrm>
            <a:off x="571500" y="1283850"/>
            <a:ext cx="11292300" cy="12561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2400">
                <a:solidFill>
                  <a:srgbClr val="2563EB"/>
                </a:solidFill>
                <a:latin typeface="Rubik Medium"/>
                <a:ea typeface="Rubik Medium"/>
                <a:cs typeface="Rubik Medium"/>
                <a:sym typeface="Rubik Medium"/>
              </a:rPr>
              <a:t>FATE: </a:t>
            </a:r>
            <a:r>
              <a:rPr lang="en-US" sz="2400">
                <a:solidFill>
                  <a:srgbClr val="475569"/>
                </a:solidFill>
                <a:latin typeface="Heebo"/>
                <a:ea typeface="Heebo"/>
                <a:cs typeface="Heebo"/>
                <a:sym typeface="Heebo"/>
              </a:rPr>
              <a:t>To measure user trust, we evaluate explanations based on </a:t>
            </a:r>
            <a:r>
              <a:rPr b="1" lang="en-US" sz="2400">
                <a:solidFill>
                  <a:srgbClr val="475569"/>
                </a:solidFill>
                <a:latin typeface="Heebo"/>
                <a:ea typeface="Heebo"/>
                <a:cs typeface="Heebo"/>
                <a:sym typeface="Heebo"/>
              </a:rPr>
              <a:t>four </a:t>
            </a:r>
            <a:r>
              <a:rPr b="1" lang="en-US" sz="2400">
                <a:solidFill>
                  <a:srgbClr val="475569"/>
                </a:solidFill>
                <a:latin typeface="Heebo"/>
                <a:ea typeface="Heebo"/>
                <a:cs typeface="Heebo"/>
                <a:sym typeface="Heebo"/>
              </a:rPr>
              <a:t>key perception metrics:</a:t>
            </a:r>
            <a:endParaRPr b="1" sz="2400">
              <a:solidFill>
                <a:schemeClr val="dk1"/>
              </a:solidFill>
              <a:latin typeface="Heebo"/>
              <a:ea typeface="Heebo"/>
              <a:cs typeface="Heebo"/>
              <a:sym typeface="Heebo"/>
            </a:endParaRPr>
          </a:p>
          <a:p>
            <a:pPr indent="0" lvl="0" marL="0" marR="0" rtl="0" algn="l">
              <a:lnSpc>
                <a:spcPct val="120000"/>
              </a:lnSpc>
              <a:spcBef>
                <a:spcPts val="0"/>
              </a:spcBef>
              <a:spcAft>
                <a:spcPts val="0"/>
              </a:spcAft>
              <a:buClr>
                <a:srgbClr val="000000"/>
              </a:buClr>
              <a:buFont typeface="Arial"/>
              <a:buNone/>
            </a:pPr>
            <a:r>
              <a:t/>
            </a:r>
            <a:endParaRPr sz="2400">
              <a:solidFill>
                <a:srgbClr val="2563EB"/>
              </a:solidFill>
              <a:latin typeface="Rubik Medium"/>
              <a:ea typeface="Rubik Medium"/>
              <a:cs typeface="Rubik Medium"/>
              <a:sym typeface="Rubik Medium"/>
            </a:endParaRPr>
          </a:p>
        </p:txBody>
      </p:sp>
      <p:pic>
        <p:nvPicPr>
          <p:cNvPr descr="image.png" id="406" name="Google Shape;406;p35"/>
          <p:cNvPicPr preferRelativeResize="0"/>
          <p:nvPr/>
        </p:nvPicPr>
        <p:blipFill rotWithShape="1">
          <a:blip r:embed="rId4">
            <a:alphaModFix/>
          </a:blip>
          <a:srcRect b="0" l="0" r="0" t="0"/>
          <a:stretch/>
        </p:blipFill>
        <p:spPr>
          <a:xfrm>
            <a:off x="571500" y="2698200"/>
            <a:ext cx="11292300" cy="2540000"/>
          </a:xfrm>
          <a:prstGeom prst="rect">
            <a:avLst/>
          </a:prstGeom>
          <a:noFill/>
          <a:ln>
            <a:noFill/>
          </a:ln>
        </p:spPr>
      </p:pic>
      <p:sp>
        <p:nvSpPr>
          <p:cNvPr id="407" name="Google Shape;407;p35"/>
          <p:cNvSpPr txBox="1"/>
          <p:nvPr/>
        </p:nvSpPr>
        <p:spPr>
          <a:xfrm>
            <a:off x="11200000" y="2904656"/>
            <a:ext cx="2859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1E293B"/>
                </a:solidFill>
                <a:latin typeface="Heebo"/>
                <a:ea typeface="Heebo"/>
                <a:cs typeface="Heebo"/>
                <a:sym typeface="Heebo"/>
              </a:rPr>
              <a:t>C</a:t>
            </a:r>
            <a:endParaRPr/>
          </a:p>
        </p:txBody>
      </p:sp>
      <p:sp>
        <p:nvSpPr>
          <p:cNvPr id="408" name="Google Shape;408;p35"/>
          <p:cNvSpPr txBox="1"/>
          <p:nvPr/>
        </p:nvSpPr>
        <p:spPr>
          <a:xfrm>
            <a:off x="1160650" y="2997050"/>
            <a:ext cx="2151600" cy="36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400">
                <a:solidFill>
                  <a:srgbClr val="1E3A8A"/>
                </a:solidFill>
                <a:latin typeface="Heebo SemiBold"/>
                <a:ea typeface="Heebo SemiBold"/>
                <a:cs typeface="Heebo SemiBold"/>
                <a:sym typeface="Heebo SemiBold"/>
              </a:rPr>
              <a:t>Causability</a:t>
            </a:r>
            <a:endParaRPr sz="2400"/>
          </a:p>
        </p:txBody>
      </p:sp>
      <p:sp>
        <p:nvSpPr>
          <p:cNvPr id="409" name="Google Shape;409;p35"/>
          <p:cNvSpPr txBox="1"/>
          <p:nvPr/>
        </p:nvSpPr>
        <p:spPr>
          <a:xfrm>
            <a:off x="1160650" y="3517791"/>
            <a:ext cx="10477500" cy="14031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lang="en-US" sz="2400">
                <a:solidFill>
                  <a:srgbClr val="475569"/>
                </a:solidFill>
                <a:latin typeface="Heebo"/>
                <a:ea typeface="Heebo"/>
                <a:cs typeface="Heebo"/>
                <a:sym typeface="Heebo"/>
              </a:rPr>
              <a:t>1. I understood the explanations within the context of my work.</a:t>
            </a:r>
            <a:endParaRPr sz="2400">
              <a:solidFill>
                <a:srgbClr val="475569"/>
              </a:solidFill>
              <a:latin typeface="Heebo"/>
              <a:ea typeface="Heebo"/>
              <a:cs typeface="Heebo"/>
              <a:sym typeface="Heebo"/>
            </a:endParaRPr>
          </a:p>
          <a:p>
            <a:pPr indent="0" lvl="0" marL="0" marR="0" rtl="0" algn="l">
              <a:lnSpc>
                <a:spcPct val="139925"/>
              </a:lnSpc>
              <a:spcBef>
                <a:spcPts val="0"/>
              </a:spcBef>
              <a:spcAft>
                <a:spcPts val="0"/>
              </a:spcAft>
              <a:buNone/>
            </a:pPr>
            <a:r>
              <a:rPr lang="en-US" sz="2400">
                <a:solidFill>
                  <a:srgbClr val="475569"/>
                </a:solidFill>
                <a:latin typeface="Heebo"/>
                <a:ea typeface="Heebo"/>
                <a:cs typeface="Heebo"/>
                <a:sym typeface="Heebo"/>
              </a:rPr>
              <a:t>2. I did not need support to understand the explanations.</a:t>
            </a:r>
            <a:endParaRPr sz="2400">
              <a:solidFill>
                <a:srgbClr val="475569"/>
              </a:solidFill>
              <a:latin typeface="Heebo"/>
              <a:ea typeface="Heebo"/>
              <a:cs typeface="Heebo"/>
              <a:sym typeface="Heebo"/>
            </a:endParaRPr>
          </a:p>
          <a:p>
            <a:pPr indent="0" lvl="0" marL="0" marR="0" rtl="0" algn="l">
              <a:lnSpc>
                <a:spcPct val="139925"/>
              </a:lnSpc>
              <a:spcBef>
                <a:spcPts val="0"/>
              </a:spcBef>
              <a:spcAft>
                <a:spcPts val="0"/>
              </a:spcAft>
              <a:buNone/>
            </a:pPr>
            <a:r>
              <a:rPr lang="en-US" sz="2400">
                <a:solidFill>
                  <a:srgbClr val="475569"/>
                </a:solidFill>
                <a:latin typeface="Heebo"/>
                <a:ea typeface="Heebo"/>
                <a:cs typeface="Heebo"/>
                <a:sym typeface="Heebo"/>
              </a:rPr>
              <a:t>3. I found the explanations helped me to understand causality.</a:t>
            </a:r>
            <a:endParaRPr sz="2400">
              <a:solidFill>
                <a:srgbClr val="475569"/>
              </a:solidFill>
              <a:latin typeface="Heebo"/>
              <a:ea typeface="Heebo"/>
              <a:cs typeface="Heebo"/>
              <a:sym typeface="Heebo"/>
            </a:endParaRPr>
          </a:p>
        </p:txBody>
      </p:sp>
      <p:sp>
        <p:nvSpPr>
          <p:cNvPr id="410" name="Google Shape;410;p35"/>
          <p:cNvSpPr txBox="1"/>
          <p:nvPr/>
        </p:nvSpPr>
        <p:spPr>
          <a:xfrm flipH="1">
            <a:off x="702250" y="6061475"/>
            <a:ext cx="8004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u="sng">
                <a:solidFill>
                  <a:schemeClr val="hlink"/>
                </a:solidFill>
                <a:latin typeface="Heebo"/>
                <a:ea typeface="Heebo"/>
                <a:cs typeface="Heebo"/>
                <a:sym typeface="Heebo"/>
                <a:hlinkClick r:id="rId5"/>
              </a:rPr>
              <a:t>https://www.sciencedirect.com/science/article/pii/S1071581920301531</a:t>
            </a:r>
            <a:endParaRPr sz="1800">
              <a:latin typeface="Heebo"/>
              <a:ea typeface="Heebo"/>
              <a:cs typeface="Heebo"/>
              <a:sym typeface="Heebo"/>
            </a:endParaRPr>
          </a:p>
        </p:txBody>
      </p:sp>
      <p:sp>
        <p:nvSpPr>
          <p:cNvPr id="411" name="Google Shape;411;p35"/>
          <p:cNvSpPr txBox="1"/>
          <p:nvPr>
            <p:ph idx="12" type="sldNum"/>
          </p:nvPr>
        </p:nvSpPr>
        <p:spPr>
          <a:xfrm>
            <a:off x="9858926" y="6031501"/>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15" name="Shape 415"/>
        <p:cNvGrpSpPr/>
        <p:nvPr/>
      </p:nvGrpSpPr>
      <p:grpSpPr>
        <a:xfrm>
          <a:off x="0" y="0"/>
          <a:ext cx="0" cy="0"/>
          <a:chOff x="0" y="0"/>
          <a:chExt cx="0" cy="0"/>
        </a:xfrm>
      </p:grpSpPr>
      <p:sp>
        <p:nvSpPr>
          <p:cNvPr id="416" name="Google Shape;416;p36"/>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rtl="0" algn="l">
              <a:lnSpc>
                <a:spcPct val="120000"/>
              </a:lnSpc>
              <a:spcBef>
                <a:spcPts val="0"/>
              </a:spcBef>
              <a:spcAft>
                <a:spcPts val="0"/>
              </a:spcAft>
              <a:buNone/>
            </a:pPr>
            <a:r>
              <a:rPr b="1" lang="en-US" sz="3600">
                <a:solidFill>
                  <a:srgbClr val="1E3A8A"/>
                </a:solidFill>
                <a:latin typeface="Rubik"/>
                <a:ea typeface="Rubik"/>
                <a:cs typeface="Rubik"/>
                <a:sym typeface="Rubik"/>
              </a:rPr>
              <a:t>User Evaluation </a:t>
            </a:r>
            <a:endParaRPr b="1" sz="3600">
              <a:solidFill>
                <a:srgbClr val="1E3A8A"/>
              </a:solidFill>
              <a:latin typeface="Rubik"/>
              <a:ea typeface="Rubik"/>
              <a:cs typeface="Rubik"/>
              <a:sym typeface="Rubik"/>
            </a:endParaRPr>
          </a:p>
        </p:txBody>
      </p:sp>
      <p:sp>
        <p:nvSpPr>
          <p:cNvPr id="417" name="Google Shape;417;p36"/>
          <p:cNvSpPr txBox="1"/>
          <p:nvPr/>
        </p:nvSpPr>
        <p:spPr>
          <a:xfrm>
            <a:off x="571500" y="1283850"/>
            <a:ext cx="11292300" cy="12561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2400">
                <a:solidFill>
                  <a:srgbClr val="2563EB"/>
                </a:solidFill>
                <a:latin typeface="Rubik Medium"/>
                <a:ea typeface="Rubik Medium"/>
                <a:cs typeface="Rubik Medium"/>
                <a:sym typeface="Rubik Medium"/>
              </a:rPr>
              <a:t>FATE: </a:t>
            </a:r>
            <a:r>
              <a:rPr lang="en-US" sz="2400">
                <a:solidFill>
                  <a:srgbClr val="475569"/>
                </a:solidFill>
                <a:latin typeface="Heebo"/>
                <a:ea typeface="Heebo"/>
                <a:cs typeface="Heebo"/>
                <a:sym typeface="Heebo"/>
              </a:rPr>
              <a:t>To measure user trust, we evaluate explanations based on </a:t>
            </a:r>
            <a:r>
              <a:rPr b="1" lang="en-US" sz="2400">
                <a:solidFill>
                  <a:srgbClr val="475569"/>
                </a:solidFill>
                <a:latin typeface="Heebo"/>
                <a:ea typeface="Heebo"/>
                <a:cs typeface="Heebo"/>
                <a:sym typeface="Heebo"/>
              </a:rPr>
              <a:t>four </a:t>
            </a:r>
            <a:r>
              <a:rPr b="1" lang="en-US" sz="2400">
                <a:solidFill>
                  <a:srgbClr val="475569"/>
                </a:solidFill>
                <a:latin typeface="Heebo"/>
                <a:ea typeface="Heebo"/>
                <a:cs typeface="Heebo"/>
                <a:sym typeface="Heebo"/>
              </a:rPr>
              <a:t>key perception metrics:</a:t>
            </a:r>
            <a:endParaRPr b="1" sz="2400">
              <a:solidFill>
                <a:schemeClr val="dk1"/>
              </a:solidFill>
              <a:latin typeface="Heebo"/>
              <a:ea typeface="Heebo"/>
              <a:cs typeface="Heebo"/>
              <a:sym typeface="Heebo"/>
            </a:endParaRPr>
          </a:p>
          <a:p>
            <a:pPr indent="0" lvl="0" marL="0" marR="0" rtl="0" algn="l">
              <a:lnSpc>
                <a:spcPct val="120000"/>
              </a:lnSpc>
              <a:spcBef>
                <a:spcPts val="0"/>
              </a:spcBef>
              <a:spcAft>
                <a:spcPts val="0"/>
              </a:spcAft>
              <a:buClr>
                <a:srgbClr val="000000"/>
              </a:buClr>
              <a:buFont typeface="Arial"/>
              <a:buNone/>
            </a:pPr>
            <a:r>
              <a:t/>
            </a:r>
            <a:endParaRPr sz="2400">
              <a:solidFill>
                <a:srgbClr val="2563EB"/>
              </a:solidFill>
              <a:latin typeface="Rubik Medium"/>
              <a:ea typeface="Rubik Medium"/>
              <a:cs typeface="Rubik Medium"/>
              <a:sym typeface="Rubik Medium"/>
            </a:endParaRPr>
          </a:p>
        </p:txBody>
      </p:sp>
      <p:pic>
        <p:nvPicPr>
          <p:cNvPr descr="image.png" id="418" name="Google Shape;418;p36"/>
          <p:cNvPicPr preferRelativeResize="0"/>
          <p:nvPr/>
        </p:nvPicPr>
        <p:blipFill rotWithShape="1">
          <a:blip r:embed="rId4">
            <a:alphaModFix/>
          </a:blip>
          <a:srcRect b="0" l="0" r="0" t="0"/>
          <a:stretch/>
        </p:blipFill>
        <p:spPr>
          <a:xfrm>
            <a:off x="571500" y="2698200"/>
            <a:ext cx="11292300" cy="2540000"/>
          </a:xfrm>
          <a:prstGeom prst="rect">
            <a:avLst/>
          </a:prstGeom>
          <a:noFill/>
          <a:ln>
            <a:noFill/>
          </a:ln>
        </p:spPr>
      </p:pic>
      <p:sp>
        <p:nvSpPr>
          <p:cNvPr id="419" name="Google Shape;419;p36"/>
          <p:cNvSpPr txBox="1"/>
          <p:nvPr/>
        </p:nvSpPr>
        <p:spPr>
          <a:xfrm>
            <a:off x="11200000" y="2904656"/>
            <a:ext cx="2859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1E293B"/>
                </a:solidFill>
                <a:latin typeface="Heebo"/>
                <a:ea typeface="Heebo"/>
                <a:cs typeface="Heebo"/>
                <a:sym typeface="Heebo"/>
              </a:rPr>
              <a:t>T</a:t>
            </a:r>
            <a:endParaRPr/>
          </a:p>
        </p:txBody>
      </p:sp>
      <p:sp>
        <p:nvSpPr>
          <p:cNvPr id="420" name="Google Shape;420;p36"/>
          <p:cNvSpPr txBox="1"/>
          <p:nvPr/>
        </p:nvSpPr>
        <p:spPr>
          <a:xfrm>
            <a:off x="1160650" y="2997050"/>
            <a:ext cx="2151600" cy="36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400">
                <a:solidFill>
                  <a:srgbClr val="1E3A8A"/>
                </a:solidFill>
                <a:latin typeface="Heebo SemiBold"/>
                <a:ea typeface="Heebo SemiBold"/>
                <a:cs typeface="Heebo SemiBold"/>
                <a:sym typeface="Heebo SemiBold"/>
              </a:rPr>
              <a:t>Trust</a:t>
            </a:r>
            <a:endParaRPr sz="2400"/>
          </a:p>
        </p:txBody>
      </p:sp>
      <p:sp>
        <p:nvSpPr>
          <p:cNvPr id="421" name="Google Shape;421;p36"/>
          <p:cNvSpPr txBox="1"/>
          <p:nvPr/>
        </p:nvSpPr>
        <p:spPr>
          <a:xfrm>
            <a:off x="1160650" y="3517791"/>
            <a:ext cx="10477500" cy="14031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lang="en-US" sz="2400">
                <a:solidFill>
                  <a:srgbClr val="475569"/>
                </a:solidFill>
                <a:latin typeface="Heebo"/>
                <a:ea typeface="Heebo"/>
                <a:cs typeface="Heebo"/>
                <a:sym typeface="Heebo"/>
              </a:rPr>
              <a:t>1. I trust the recommendations by algorithms-driven services.</a:t>
            </a:r>
            <a:endParaRPr sz="2400">
              <a:solidFill>
                <a:srgbClr val="475569"/>
              </a:solidFill>
              <a:latin typeface="Heebo"/>
              <a:ea typeface="Heebo"/>
              <a:cs typeface="Heebo"/>
              <a:sym typeface="Heebo"/>
            </a:endParaRPr>
          </a:p>
          <a:p>
            <a:pPr indent="0" lvl="0" marL="0" marR="0" rtl="0" algn="l">
              <a:lnSpc>
                <a:spcPct val="139925"/>
              </a:lnSpc>
              <a:spcBef>
                <a:spcPts val="0"/>
              </a:spcBef>
              <a:spcAft>
                <a:spcPts val="0"/>
              </a:spcAft>
              <a:buNone/>
            </a:pPr>
            <a:r>
              <a:rPr lang="en-US" sz="2400">
                <a:solidFill>
                  <a:srgbClr val="475569"/>
                </a:solidFill>
                <a:latin typeface="Heebo"/>
                <a:ea typeface="Heebo"/>
                <a:cs typeface="Heebo"/>
                <a:sym typeface="Heebo"/>
              </a:rPr>
              <a:t>2. Recommended items through algorithmic processes are trustworthy.</a:t>
            </a:r>
            <a:endParaRPr sz="2400">
              <a:solidFill>
                <a:srgbClr val="475569"/>
              </a:solidFill>
              <a:latin typeface="Heebo"/>
              <a:ea typeface="Heebo"/>
              <a:cs typeface="Heebo"/>
              <a:sym typeface="Heebo"/>
            </a:endParaRPr>
          </a:p>
          <a:p>
            <a:pPr indent="0" lvl="0" marL="0" marR="0" rtl="0" algn="l">
              <a:lnSpc>
                <a:spcPct val="139925"/>
              </a:lnSpc>
              <a:spcBef>
                <a:spcPts val="0"/>
              </a:spcBef>
              <a:spcAft>
                <a:spcPts val="0"/>
              </a:spcAft>
              <a:buNone/>
            </a:pPr>
            <a:r>
              <a:rPr lang="en-US" sz="2400">
                <a:solidFill>
                  <a:srgbClr val="475569"/>
                </a:solidFill>
                <a:latin typeface="Heebo"/>
                <a:ea typeface="Heebo"/>
                <a:cs typeface="Heebo"/>
                <a:sym typeface="Heebo"/>
              </a:rPr>
              <a:t>3. I believe that the algorithm service results are reliable.</a:t>
            </a:r>
            <a:endParaRPr sz="2400">
              <a:solidFill>
                <a:srgbClr val="475569"/>
              </a:solidFill>
              <a:latin typeface="Heebo"/>
              <a:ea typeface="Heebo"/>
              <a:cs typeface="Heebo"/>
              <a:sym typeface="Heebo"/>
            </a:endParaRPr>
          </a:p>
        </p:txBody>
      </p:sp>
      <p:sp>
        <p:nvSpPr>
          <p:cNvPr id="422" name="Google Shape;422;p36"/>
          <p:cNvSpPr txBox="1"/>
          <p:nvPr/>
        </p:nvSpPr>
        <p:spPr>
          <a:xfrm flipH="1">
            <a:off x="702250" y="6061475"/>
            <a:ext cx="8004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u="sng">
                <a:solidFill>
                  <a:schemeClr val="hlink"/>
                </a:solidFill>
                <a:latin typeface="Heebo"/>
                <a:ea typeface="Heebo"/>
                <a:cs typeface="Heebo"/>
                <a:sym typeface="Heebo"/>
                <a:hlinkClick r:id="rId5"/>
              </a:rPr>
              <a:t>https://www.sciencedirect.com/science/article/pii/S1071581920301531</a:t>
            </a:r>
            <a:endParaRPr sz="1800">
              <a:latin typeface="Heebo"/>
              <a:ea typeface="Heebo"/>
              <a:cs typeface="Heebo"/>
              <a:sym typeface="Heebo"/>
            </a:endParaRPr>
          </a:p>
        </p:txBody>
      </p:sp>
      <p:sp>
        <p:nvSpPr>
          <p:cNvPr id="423" name="Google Shape;423;p36"/>
          <p:cNvSpPr txBox="1"/>
          <p:nvPr>
            <p:ph idx="12" type="sldNum"/>
          </p:nvPr>
        </p:nvSpPr>
        <p:spPr>
          <a:xfrm>
            <a:off x="9858926" y="6031501"/>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27" name="Shape 427"/>
        <p:cNvGrpSpPr/>
        <p:nvPr/>
      </p:nvGrpSpPr>
      <p:grpSpPr>
        <a:xfrm>
          <a:off x="0" y="0"/>
          <a:ext cx="0" cy="0"/>
          <a:chOff x="0" y="0"/>
          <a:chExt cx="0" cy="0"/>
        </a:xfrm>
      </p:grpSpPr>
      <p:sp>
        <p:nvSpPr>
          <p:cNvPr id="428" name="Google Shape;428;p37"/>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rtl="0" algn="l">
              <a:lnSpc>
                <a:spcPct val="120000"/>
              </a:lnSpc>
              <a:spcBef>
                <a:spcPts val="0"/>
              </a:spcBef>
              <a:spcAft>
                <a:spcPts val="0"/>
              </a:spcAft>
              <a:buNone/>
            </a:pPr>
            <a:r>
              <a:rPr b="1" lang="en-US" sz="3600">
                <a:solidFill>
                  <a:srgbClr val="1E3A8A"/>
                </a:solidFill>
                <a:latin typeface="Rubik"/>
                <a:ea typeface="Rubik"/>
                <a:cs typeface="Rubik"/>
                <a:sym typeface="Rubik"/>
              </a:rPr>
              <a:t>User Evaluation </a:t>
            </a:r>
            <a:endParaRPr b="1" sz="3600">
              <a:solidFill>
                <a:srgbClr val="1E3A8A"/>
              </a:solidFill>
              <a:latin typeface="Rubik"/>
              <a:ea typeface="Rubik"/>
              <a:cs typeface="Rubik"/>
              <a:sym typeface="Rubik"/>
            </a:endParaRPr>
          </a:p>
        </p:txBody>
      </p:sp>
      <p:sp>
        <p:nvSpPr>
          <p:cNvPr id="429" name="Google Shape;429;p37"/>
          <p:cNvSpPr txBox="1"/>
          <p:nvPr/>
        </p:nvSpPr>
        <p:spPr>
          <a:xfrm>
            <a:off x="571500" y="1283850"/>
            <a:ext cx="11292300" cy="12561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2400">
                <a:solidFill>
                  <a:srgbClr val="2563EB"/>
                </a:solidFill>
                <a:latin typeface="Rubik Medium"/>
                <a:ea typeface="Rubik Medium"/>
                <a:cs typeface="Rubik Medium"/>
                <a:sym typeface="Rubik Medium"/>
              </a:rPr>
              <a:t>FATE: </a:t>
            </a:r>
            <a:r>
              <a:rPr lang="en-US" sz="2400">
                <a:solidFill>
                  <a:srgbClr val="475569"/>
                </a:solidFill>
                <a:latin typeface="Heebo"/>
                <a:ea typeface="Heebo"/>
                <a:cs typeface="Heebo"/>
                <a:sym typeface="Heebo"/>
              </a:rPr>
              <a:t>To measure user trust, we evaluate explanations based on </a:t>
            </a:r>
            <a:r>
              <a:rPr b="1" lang="en-US" sz="2400">
                <a:solidFill>
                  <a:srgbClr val="475569"/>
                </a:solidFill>
                <a:latin typeface="Heebo"/>
                <a:ea typeface="Heebo"/>
                <a:cs typeface="Heebo"/>
                <a:sym typeface="Heebo"/>
              </a:rPr>
              <a:t>four key perception metrics:</a:t>
            </a:r>
            <a:endParaRPr b="1" sz="2400">
              <a:solidFill>
                <a:schemeClr val="dk1"/>
              </a:solidFill>
              <a:latin typeface="Heebo"/>
              <a:ea typeface="Heebo"/>
              <a:cs typeface="Heebo"/>
              <a:sym typeface="Heebo"/>
            </a:endParaRPr>
          </a:p>
          <a:p>
            <a:pPr indent="0" lvl="0" marL="0" marR="0" rtl="0" algn="l">
              <a:lnSpc>
                <a:spcPct val="120000"/>
              </a:lnSpc>
              <a:spcBef>
                <a:spcPts val="0"/>
              </a:spcBef>
              <a:spcAft>
                <a:spcPts val="0"/>
              </a:spcAft>
              <a:buClr>
                <a:srgbClr val="000000"/>
              </a:buClr>
              <a:buFont typeface="Arial"/>
              <a:buNone/>
            </a:pPr>
            <a:r>
              <a:t/>
            </a:r>
            <a:endParaRPr sz="2400">
              <a:solidFill>
                <a:srgbClr val="2563EB"/>
              </a:solidFill>
              <a:latin typeface="Rubik Medium"/>
              <a:ea typeface="Rubik Medium"/>
              <a:cs typeface="Rubik Medium"/>
              <a:sym typeface="Rubik Medium"/>
            </a:endParaRPr>
          </a:p>
        </p:txBody>
      </p:sp>
      <p:pic>
        <p:nvPicPr>
          <p:cNvPr descr="image.png" id="430" name="Google Shape;430;p37"/>
          <p:cNvPicPr preferRelativeResize="0"/>
          <p:nvPr/>
        </p:nvPicPr>
        <p:blipFill rotWithShape="1">
          <a:blip r:embed="rId4">
            <a:alphaModFix/>
          </a:blip>
          <a:srcRect b="0" l="0" r="0" t="0"/>
          <a:stretch/>
        </p:blipFill>
        <p:spPr>
          <a:xfrm>
            <a:off x="571500" y="2698200"/>
            <a:ext cx="11292300" cy="2458324"/>
          </a:xfrm>
          <a:prstGeom prst="rect">
            <a:avLst/>
          </a:prstGeom>
          <a:noFill/>
          <a:ln>
            <a:noFill/>
          </a:ln>
        </p:spPr>
      </p:pic>
      <p:sp>
        <p:nvSpPr>
          <p:cNvPr id="431" name="Google Shape;431;p37"/>
          <p:cNvSpPr txBox="1"/>
          <p:nvPr/>
        </p:nvSpPr>
        <p:spPr>
          <a:xfrm>
            <a:off x="11311327" y="2881368"/>
            <a:ext cx="2859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1E293B"/>
                </a:solidFill>
                <a:latin typeface="Heebo"/>
                <a:ea typeface="Heebo"/>
                <a:cs typeface="Heebo"/>
                <a:sym typeface="Heebo"/>
              </a:rPr>
              <a:t>S</a:t>
            </a:r>
            <a:endParaRPr/>
          </a:p>
        </p:txBody>
      </p:sp>
      <p:sp>
        <p:nvSpPr>
          <p:cNvPr id="432" name="Google Shape;432;p37"/>
          <p:cNvSpPr txBox="1"/>
          <p:nvPr/>
        </p:nvSpPr>
        <p:spPr>
          <a:xfrm>
            <a:off x="978900" y="2882175"/>
            <a:ext cx="21516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sz="2400">
                <a:solidFill>
                  <a:srgbClr val="1E3A8A"/>
                </a:solidFill>
                <a:latin typeface="Heebo SemiBold"/>
                <a:ea typeface="Heebo SemiBold"/>
                <a:cs typeface="Heebo SemiBold"/>
                <a:sym typeface="Heebo SemiBold"/>
              </a:rPr>
              <a:t>Satisfaction</a:t>
            </a:r>
            <a:endParaRPr sz="2400">
              <a:solidFill>
                <a:srgbClr val="1E3A8A"/>
              </a:solidFill>
              <a:latin typeface="Heebo SemiBold"/>
              <a:ea typeface="Heebo SemiBold"/>
              <a:cs typeface="Heebo SemiBold"/>
              <a:sym typeface="Heebo SemiBold"/>
            </a:endParaRPr>
          </a:p>
        </p:txBody>
      </p:sp>
      <p:sp>
        <p:nvSpPr>
          <p:cNvPr id="433" name="Google Shape;433;p37"/>
          <p:cNvSpPr txBox="1"/>
          <p:nvPr/>
        </p:nvSpPr>
        <p:spPr>
          <a:xfrm>
            <a:off x="978900" y="3402925"/>
            <a:ext cx="10692900" cy="14031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lang="en-US" sz="2400">
                <a:solidFill>
                  <a:srgbClr val="475569"/>
                </a:solidFill>
                <a:latin typeface="Heebo"/>
                <a:ea typeface="Heebo"/>
                <a:cs typeface="Heebo"/>
                <a:sym typeface="Heebo"/>
              </a:rPr>
              <a:t>1. Largely, I am fairly pleased with algorithm services.</a:t>
            </a:r>
            <a:endParaRPr sz="2400">
              <a:solidFill>
                <a:srgbClr val="475569"/>
              </a:solidFill>
              <a:latin typeface="Heebo"/>
              <a:ea typeface="Heebo"/>
              <a:cs typeface="Heebo"/>
              <a:sym typeface="Heebo"/>
            </a:endParaRPr>
          </a:p>
          <a:p>
            <a:pPr indent="0" lvl="0" marL="0" marR="0" rtl="0" algn="l">
              <a:lnSpc>
                <a:spcPct val="139925"/>
              </a:lnSpc>
              <a:spcBef>
                <a:spcPts val="0"/>
              </a:spcBef>
              <a:spcAft>
                <a:spcPts val="0"/>
              </a:spcAft>
              <a:buNone/>
            </a:pPr>
            <a:r>
              <a:rPr lang="en-US" sz="2400">
                <a:solidFill>
                  <a:srgbClr val="475569"/>
                </a:solidFill>
                <a:latin typeface="Heebo"/>
                <a:ea typeface="Heebo"/>
                <a:cs typeface="Heebo"/>
                <a:sym typeface="Heebo"/>
              </a:rPr>
              <a:t>2. Overall, the algorithm services fulfill my initial expectations.</a:t>
            </a:r>
            <a:endParaRPr sz="2400">
              <a:solidFill>
                <a:srgbClr val="475569"/>
              </a:solidFill>
              <a:latin typeface="Heebo"/>
              <a:ea typeface="Heebo"/>
              <a:cs typeface="Heebo"/>
              <a:sym typeface="Heebo"/>
            </a:endParaRPr>
          </a:p>
          <a:p>
            <a:pPr indent="0" lvl="0" marL="0" marR="0" rtl="0" algn="l">
              <a:lnSpc>
                <a:spcPct val="139925"/>
              </a:lnSpc>
              <a:spcBef>
                <a:spcPts val="0"/>
              </a:spcBef>
              <a:spcAft>
                <a:spcPts val="0"/>
              </a:spcAft>
              <a:buNone/>
            </a:pPr>
            <a:r>
              <a:rPr lang="en-US" sz="2400">
                <a:solidFill>
                  <a:srgbClr val="475569"/>
                </a:solidFill>
                <a:latin typeface="Heebo"/>
                <a:ea typeface="Heebo"/>
                <a:cs typeface="Heebo"/>
                <a:sym typeface="Heebo"/>
              </a:rPr>
              <a:t>3. Generally, I am happy with the contents of algorithm services.</a:t>
            </a:r>
            <a:endParaRPr sz="2400">
              <a:solidFill>
                <a:srgbClr val="475569"/>
              </a:solidFill>
              <a:latin typeface="Heebo"/>
              <a:ea typeface="Heebo"/>
              <a:cs typeface="Heebo"/>
              <a:sym typeface="Heebo"/>
            </a:endParaRPr>
          </a:p>
        </p:txBody>
      </p:sp>
      <p:sp>
        <p:nvSpPr>
          <p:cNvPr id="434" name="Google Shape;434;p37"/>
          <p:cNvSpPr txBox="1"/>
          <p:nvPr/>
        </p:nvSpPr>
        <p:spPr>
          <a:xfrm flipH="1">
            <a:off x="702250" y="6061475"/>
            <a:ext cx="8004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u="sng">
                <a:solidFill>
                  <a:schemeClr val="hlink"/>
                </a:solidFill>
                <a:latin typeface="Heebo"/>
                <a:ea typeface="Heebo"/>
                <a:cs typeface="Heebo"/>
                <a:sym typeface="Heebo"/>
                <a:hlinkClick r:id="rId5"/>
              </a:rPr>
              <a:t>https://www.sciencedirect.com/science/article/pii/S1071581920301531</a:t>
            </a:r>
            <a:endParaRPr sz="1800">
              <a:latin typeface="Heebo"/>
              <a:ea typeface="Heebo"/>
              <a:cs typeface="Heebo"/>
              <a:sym typeface="Heebo"/>
            </a:endParaRPr>
          </a:p>
        </p:txBody>
      </p:sp>
      <p:sp>
        <p:nvSpPr>
          <p:cNvPr id="435" name="Google Shape;435;p37"/>
          <p:cNvSpPr txBox="1"/>
          <p:nvPr>
            <p:ph idx="12" type="sldNum"/>
          </p:nvPr>
        </p:nvSpPr>
        <p:spPr>
          <a:xfrm>
            <a:off x="9858926" y="6031501"/>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39" name="Shape 439"/>
        <p:cNvGrpSpPr/>
        <p:nvPr/>
      </p:nvGrpSpPr>
      <p:grpSpPr>
        <a:xfrm>
          <a:off x="0" y="0"/>
          <a:ext cx="0" cy="0"/>
          <a:chOff x="0" y="0"/>
          <a:chExt cx="0" cy="0"/>
        </a:xfrm>
      </p:grpSpPr>
      <p:sp>
        <p:nvSpPr>
          <p:cNvPr id="440" name="Google Shape;440;p38"/>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rtl="0" algn="l">
              <a:lnSpc>
                <a:spcPct val="120000"/>
              </a:lnSpc>
              <a:spcBef>
                <a:spcPts val="0"/>
              </a:spcBef>
              <a:spcAft>
                <a:spcPts val="0"/>
              </a:spcAft>
              <a:buNone/>
            </a:pPr>
            <a:r>
              <a:rPr b="1" lang="en-US" sz="3600">
                <a:solidFill>
                  <a:srgbClr val="1E3A8A"/>
                </a:solidFill>
                <a:latin typeface="Rubik"/>
                <a:ea typeface="Rubik"/>
                <a:cs typeface="Rubik"/>
                <a:sym typeface="Rubik"/>
              </a:rPr>
              <a:t>User Evaluation </a:t>
            </a:r>
            <a:endParaRPr b="1" sz="3600">
              <a:solidFill>
                <a:srgbClr val="1E3A8A"/>
              </a:solidFill>
              <a:latin typeface="Rubik"/>
              <a:ea typeface="Rubik"/>
              <a:cs typeface="Rubik"/>
              <a:sym typeface="Rubik"/>
            </a:endParaRPr>
          </a:p>
        </p:txBody>
      </p:sp>
      <p:sp>
        <p:nvSpPr>
          <p:cNvPr id="441" name="Google Shape;441;p38"/>
          <p:cNvSpPr txBox="1"/>
          <p:nvPr/>
        </p:nvSpPr>
        <p:spPr>
          <a:xfrm>
            <a:off x="571500" y="1283850"/>
            <a:ext cx="11292300" cy="12561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2400">
                <a:solidFill>
                  <a:srgbClr val="2563EB"/>
                </a:solidFill>
                <a:latin typeface="Rubik Medium"/>
                <a:ea typeface="Rubik Medium"/>
                <a:cs typeface="Rubik Medium"/>
                <a:sym typeface="Rubik Medium"/>
              </a:rPr>
              <a:t>FATE: </a:t>
            </a:r>
            <a:r>
              <a:rPr lang="en-US" sz="2400">
                <a:solidFill>
                  <a:srgbClr val="475569"/>
                </a:solidFill>
                <a:latin typeface="Heebo"/>
                <a:ea typeface="Heebo"/>
                <a:cs typeface="Heebo"/>
                <a:sym typeface="Heebo"/>
              </a:rPr>
              <a:t>To measure user trust, we evaluate explanations based on </a:t>
            </a:r>
            <a:r>
              <a:rPr b="1" lang="en-US" sz="2400">
                <a:solidFill>
                  <a:srgbClr val="475569"/>
                </a:solidFill>
                <a:latin typeface="Heebo"/>
                <a:ea typeface="Heebo"/>
                <a:cs typeface="Heebo"/>
                <a:sym typeface="Heebo"/>
              </a:rPr>
              <a:t>four key perception metrics:</a:t>
            </a:r>
            <a:endParaRPr b="1" sz="2400">
              <a:solidFill>
                <a:schemeClr val="dk1"/>
              </a:solidFill>
              <a:latin typeface="Heebo"/>
              <a:ea typeface="Heebo"/>
              <a:cs typeface="Heebo"/>
              <a:sym typeface="Heebo"/>
            </a:endParaRPr>
          </a:p>
          <a:p>
            <a:pPr indent="0" lvl="0" marL="0" marR="0" rtl="0" algn="l">
              <a:lnSpc>
                <a:spcPct val="120000"/>
              </a:lnSpc>
              <a:spcBef>
                <a:spcPts val="0"/>
              </a:spcBef>
              <a:spcAft>
                <a:spcPts val="0"/>
              </a:spcAft>
              <a:buClr>
                <a:srgbClr val="000000"/>
              </a:buClr>
              <a:buFont typeface="Arial"/>
              <a:buNone/>
            </a:pPr>
            <a:r>
              <a:t/>
            </a:r>
            <a:endParaRPr sz="2400">
              <a:solidFill>
                <a:srgbClr val="2563EB"/>
              </a:solidFill>
              <a:latin typeface="Rubik Medium"/>
              <a:ea typeface="Rubik Medium"/>
              <a:cs typeface="Rubik Medium"/>
              <a:sym typeface="Rubik Medium"/>
            </a:endParaRPr>
          </a:p>
        </p:txBody>
      </p:sp>
      <p:pic>
        <p:nvPicPr>
          <p:cNvPr descr="image.png" id="442" name="Google Shape;442;p38"/>
          <p:cNvPicPr preferRelativeResize="0"/>
          <p:nvPr/>
        </p:nvPicPr>
        <p:blipFill rotWithShape="1">
          <a:blip r:embed="rId4">
            <a:alphaModFix/>
          </a:blip>
          <a:srcRect b="0" l="0" r="0" t="0"/>
          <a:stretch/>
        </p:blipFill>
        <p:spPr>
          <a:xfrm>
            <a:off x="571500" y="2223725"/>
            <a:ext cx="11292300" cy="3837750"/>
          </a:xfrm>
          <a:prstGeom prst="rect">
            <a:avLst/>
          </a:prstGeom>
          <a:noFill/>
          <a:ln>
            <a:noFill/>
          </a:ln>
        </p:spPr>
      </p:pic>
      <p:sp>
        <p:nvSpPr>
          <p:cNvPr id="443" name="Google Shape;443;p38"/>
          <p:cNvSpPr txBox="1"/>
          <p:nvPr/>
        </p:nvSpPr>
        <p:spPr>
          <a:xfrm>
            <a:off x="11311327" y="2406893"/>
            <a:ext cx="2859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1E293B"/>
                </a:solidFill>
                <a:latin typeface="Heebo"/>
                <a:ea typeface="Heebo"/>
                <a:cs typeface="Heebo"/>
                <a:sym typeface="Heebo"/>
              </a:rPr>
              <a:t>T</a:t>
            </a:r>
            <a:endParaRPr/>
          </a:p>
        </p:txBody>
      </p:sp>
      <p:sp>
        <p:nvSpPr>
          <p:cNvPr id="444" name="Google Shape;444;p38"/>
          <p:cNvSpPr txBox="1"/>
          <p:nvPr/>
        </p:nvSpPr>
        <p:spPr>
          <a:xfrm>
            <a:off x="978900" y="2407700"/>
            <a:ext cx="21516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sz="2400">
                <a:solidFill>
                  <a:srgbClr val="1E3A8A"/>
                </a:solidFill>
                <a:latin typeface="Heebo SemiBold"/>
                <a:ea typeface="Heebo SemiBold"/>
                <a:cs typeface="Heebo SemiBold"/>
                <a:sym typeface="Heebo SemiBold"/>
              </a:rPr>
              <a:t>Transparency</a:t>
            </a:r>
            <a:endParaRPr sz="2400">
              <a:solidFill>
                <a:srgbClr val="1E3A8A"/>
              </a:solidFill>
              <a:latin typeface="Heebo SemiBold"/>
              <a:ea typeface="Heebo SemiBold"/>
              <a:cs typeface="Heebo SemiBold"/>
              <a:sym typeface="Heebo SemiBold"/>
            </a:endParaRPr>
          </a:p>
        </p:txBody>
      </p:sp>
      <p:sp>
        <p:nvSpPr>
          <p:cNvPr id="445" name="Google Shape;445;p38"/>
          <p:cNvSpPr txBox="1"/>
          <p:nvPr/>
        </p:nvSpPr>
        <p:spPr>
          <a:xfrm>
            <a:off x="978900" y="2928450"/>
            <a:ext cx="10692900" cy="29541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lang="en-US" sz="2400">
                <a:solidFill>
                  <a:srgbClr val="475569"/>
                </a:solidFill>
                <a:latin typeface="Heebo"/>
                <a:ea typeface="Heebo"/>
                <a:cs typeface="Heebo"/>
                <a:sym typeface="Heebo"/>
              </a:rPr>
              <a:t>1. I think that the evaluation and the criteria of algorithms used should be publicly released and understandable to people (Understandability).</a:t>
            </a:r>
            <a:endParaRPr sz="2400">
              <a:solidFill>
                <a:srgbClr val="475569"/>
              </a:solidFill>
              <a:latin typeface="Heebo"/>
              <a:ea typeface="Heebo"/>
              <a:cs typeface="Heebo"/>
              <a:sym typeface="Heebo"/>
            </a:endParaRPr>
          </a:p>
          <a:p>
            <a:pPr indent="0" lvl="0" marL="0" marR="0" rtl="0" algn="l">
              <a:lnSpc>
                <a:spcPct val="139925"/>
              </a:lnSpc>
              <a:spcBef>
                <a:spcPts val="0"/>
              </a:spcBef>
              <a:spcAft>
                <a:spcPts val="0"/>
              </a:spcAft>
              <a:buNone/>
            </a:pPr>
            <a:r>
              <a:rPr lang="en-US" sz="2400">
                <a:solidFill>
                  <a:srgbClr val="475569"/>
                </a:solidFill>
                <a:latin typeface="Heebo"/>
                <a:ea typeface="Heebo"/>
                <a:cs typeface="Heebo"/>
                <a:sym typeface="Heebo"/>
              </a:rPr>
              <a:t>2. Any outputs produced by an algorithmic system should be explainable to the people affected by those outputs (Explainability)</a:t>
            </a:r>
            <a:endParaRPr sz="2400">
              <a:solidFill>
                <a:srgbClr val="475569"/>
              </a:solidFill>
              <a:latin typeface="Heebo"/>
              <a:ea typeface="Heebo"/>
              <a:cs typeface="Heebo"/>
              <a:sym typeface="Heebo"/>
            </a:endParaRPr>
          </a:p>
          <a:p>
            <a:pPr indent="0" lvl="0" marL="0" marR="0" rtl="0" algn="l">
              <a:lnSpc>
                <a:spcPct val="139925"/>
              </a:lnSpc>
              <a:spcBef>
                <a:spcPts val="0"/>
              </a:spcBef>
              <a:spcAft>
                <a:spcPts val="0"/>
              </a:spcAft>
              <a:buNone/>
            </a:pPr>
            <a:r>
              <a:rPr lang="en-US" sz="2400">
                <a:solidFill>
                  <a:srgbClr val="475569"/>
                </a:solidFill>
                <a:latin typeface="Heebo"/>
                <a:ea typeface="Heebo"/>
                <a:cs typeface="Heebo"/>
                <a:sym typeface="Heebo"/>
              </a:rPr>
              <a:t>3. Algorithms should let people know how well internal states of algorithms can be understood from knowledge of its external outputs (Observability)</a:t>
            </a:r>
            <a:endParaRPr sz="2400">
              <a:solidFill>
                <a:srgbClr val="475569"/>
              </a:solidFill>
              <a:latin typeface="Heebo"/>
              <a:ea typeface="Heebo"/>
              <a:cs typeface="Heebo"/>
              <a:sym typeface="Heebo"/>
            </a:endParaRPr>
          </a:p>
        </p:txBody>
      </p:sp>
      <p:sp>
        <p:nvSpPr>
          <p:cNvPr id="446" name="Google Shape;446;p38"/>
          <p:cNvSpPr txBox="1"/>
          <p:nvPr/>
        </p:nvSpPr>
        <p:spPr>
          <a:xfrm flipH="1">
            <a:off x="702250" y="6061475"/>
            <a:ext cx="8004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u="sng">
                <a:solidFill>
                  <a:schemeClr val="hlink"/>
                </a:solidFill>
                <a:latin typeface="Heebo"/>
                <a:ea typeface="Heebo"/>
                <a:cs typeface="Heebo"/>
                <a:sym typeface="Heebo"/>
                <a:hlinkClick r:id="rId5"/>
              </a:rPr>
              <a:t>https://www.sciencedirect.com/science/article/pii/S1071581920301531</a:t>
            </a:r>
            <a:endParaRPr sz="1800">
              <a:latin typeface="Heebo"/>
              <a:ea typeface="Heebo"/>
              <a:cs typeface="Heebo"/>
              <a:sym typeface="Heebo"/>
            </a:endParaRPr>
          </a:p>
        </p:txBody>
      </p:sp>
      <p:sp>
        <p:nvSpPr>
          <p:cNvPr id="447" name="Google Shape;447;p38"/>
          <p:cNvSpPr txBox="1"/>
          <p:nvPr>
            <p:ph idx="12" type="sldNum"/>
          </p:nvPr>
        </p:nvSpPr>
        <p:spPr>
          <a:xfrm>
            <a:off x="9858926" y="6031501"/>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51" name="Shape 451"/>
        <p:cNvGrpSpPr/>
        <p:nvPr/>
      </p:nvGrpSpPr>
      <p:grpSpPr>
        <a:xfrm>
          <a:off x="0" y="0"/>
          <a:ext cx="0" cy="0"/>
          <a:chOff x="0" y="0"/>
          <a:chExt cx="0" cy="0"/>
        </a:xfrm>
      </p:grpSpPr>
      <p:sp>
        <p:nvSpPr>
          <p:cNvPr id="452" name="Google Shape;452;p39"/>
          <p:cNvSpPr txBox="1"/>
          <p:nvPr/>
        </p:nvSpPr>
        <p:spPr>
          <a:xfrm>
            <a:off x="11311327" y="2406893"/>
            <a:ext cx="2859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a:p>
        </p:txBody>
      </p:sp>
      <p:sp>
        <p:nvSpPr>
          <p:cNvPr id="453" name="Google Shape;453;p39"/>
          <p:cNvSpPr txBox="1"/>
          <p:nvPr>
            <p:ph idx="12" type="sldNum"/>
          </p:nvPr>
        </p:nvSpPr>
        <p:spPr>
          <a:xfrm>
            <a:off x="9858926" y="6031501"/>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54" name="Google Shape;454;p39"/>
          <p:cNvSpPr txBox="1"/>
          <p:nvPr/>
        </p:nvSpPr>
        <p:spPr>
          <a:xfrm>
            <a:off x="524650" y="446600"/>
            <a:ext cx="11601600" cy="554100"/>
          </a:xfrm>
          <a:prstGeom prst="rect">
            <a:avLst/>
          </a:prstGeom>
          <a:noFill/>
          <a:ln>
            <a:noFill/>
          </a:ln>
        </p:spPr>
        <p:txBody>
          <a:bodyPr anchorCtr="0" anchor="t" bIns="0" lIns="0" spcFirstLastPara="1" rIns="0" wrap="square" tIns="0">
            <a:spAutoFit/>
          </a:bodyPr>
          <a:lstStyle/>
          <a:p>
            <a:pPr indent="0" lvl="0" marL="0" rtl="0" algn="l">
              <a:lnSpc>
                <a:spcPct val="120000"/>
              </a:lnSpc>
              <a:spcBef>
                <a:spcPts val="0"/>
              </a:spcBef>
              <a:spcAft>
                <a:spcPts val="0"/>
              </a:spcAft>
              <a:buNone/>
            </a:pPr>
            <a:r>
              <a:rPr b="1" lang="en-US" sz="3600">
                <a:solidFill>
                  <a:srgbClr val="1E3A8A"/>
                </a:solidFill>
                <a:latin typeface="Rubik"/>
                <a:ea typeface="Rubik"/>
                <a:cs typeface="Rubik"/>
                <a:sym typeface="Rubik"/>
              </a:rPr>
              <a:t>Testing Plan </a:t>
            </a:r>
            <a:endParaRPr b="1" sz="3600">
              <a:solidFill>
                <a:srgbClr val="1E3A8A"/>
              </a:solidFill>
              <a:latin typeface="Rubik"/>
              <a:ea typeface="Rubik"/>
              <a:cs typeface="Rubik"/>
              <a:sym typeface="Rubik"/>
            </a:endParaRPr>
          </a:p>
        </p:txBody>
      </p:sp>
      <p:sp>
        <p:nvSpPr>
          <p:cNvPr id="455" name="Google Shape;455;p39"/>
          <p:cNvSpPr txBox="1"/>
          <p:nvPr/>
        </p:nvSpPr>
        <p:spPr>
          <a:xfrm>
            <a:off x="524650" y="1360200"/>
            <a:ext cx="10936500" cy="11112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None/>
            </a:pPr>
            <a:r>
              <a:rPr lang="en-US" sz="2800">
                <a:solidFill>
                  <a:srgbClr val="475569"/>
                </a:solidFill>
                <a:latin typeface="Heebo"/>
                <a:ea typeface="Heebo"/>
                <a:cs typeface="Heebo"/>
                <a:sym typeface="Heebo"/>
              </a:rPr>
              <a:t>Verifying that the system correctly generates SHAP, LIME, and DiCE explanations and saves them to the database.</a:t>
            </a:r>
            <a:endParaRPr sz="2800">
              <a:solidFill>
                <a:srgbClr val="475569"/>
              </a:solidFill>
              <a:latin typeface="Heebo"/>
              <a:ea typeface="Heebo"/>
              <a:cs typeface="Heebo"/>
              <a:sym typeface="Heebo"/>
            </a:endParaRPr>
          </a:p>
        </p:txBody>
      </p:sp>
      <p:sp>
        <p:nvSpPr>
          <p:cNvPr id="456" name="Google Shape;456;p39"/>
          <p:cNvSpPr txBox="1"/>
          <p:nvPr/>
        </p:nvSpPr>
        <p:spPr>
          <a:xfrm>
            <a:off x="524650" y="2776425"/>
            <a:ext cx="10821900" cy="16068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None/>
            </a:pPr>
            <a:r>
              <a:rPr lang="en-US" sz="2800">
                <a:solidFill>
                  <a:srgbClr val="475569"/>
                </a:solidFill>
                <a:latin typeface="Heebo"/>
                <a:ea typeface="Heebo"/>
                <a:cs typeface="Heebo"/>
                <a:sym typeface="Heebo"/>
              </a:rPr>
              <a:t>Ensuring the system correctly displays the predictions and explanations for each domain and that every user sees the exact same instances.</a:t>
            </a:r>
            <a:endParaRPr sz="2800">
              <a:solidFill>
                <a:srgbClr val="475569"/>
              </a:solidFill>
              <a:latin typeface="Heebo"/>
              <a:ea typeface="Heebo"/>
              <a:cs typeface="Heebo"/>
              <a:sym typeface="Heebo"/>
            </a:endParaRPr>
          </a:p>
        </p:txBody>
      </p:sp>
      <p:sp>
        <p:nvSpPr>
          <p:cNvPr id="457" name="Google Shape;457;p39"/>
          <p:cNvSpPr txBox="1"/>
          <p:nvPr/>
        </p:nvSpPr>
        <p:spPr>
          <a:xfrm>
            <a:off x="524650" y="4839150"/>
            <a:ext cx="11051400" cy="16068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None/>
            </a:pPr>
            <a:r>
              <a:rPr lang="en-US" sz="2800">
                <a:solidFill>
                  <a:srgbClr val="475569"/>
                </a:solidFill>
                <a:latin typeface="Heebo"/>
                <a:ea typeface="Heebo"/>
                <a:cs typeface="Heebo"/>
                <a:sym typeface="Heebo"/>
              </a:rPr>
              <a:t>Checking that the users can review the explanations and that their feedback through the SCS and FATE questionnaires is saved in the database.</a:t>
            </a:r>
            <a:endParaRPr sz="2800">
              <a:solidFill>
                <a:srgbClr val="475569"/>
              </a:solidFill>
              <a:latin typeface="Heebo"/>
              <a:ea typeface="Heebo"/>
              <a:cs typeface="Heebo"/>
              <a:sym typeface="Heebo"/>
            </a:endParaRPr>
          </a:p>
        </p:txBody>
      </p:sp>
      <p:pic>
        <p:nvPicPr>
          <p:cNvPr descr="image.png" id="458" name="Google Shape;458;p39"/>
          <p:cNvPicPr preferRelativeResize="0"/>
          <p:nvPr/>
        </p:nvPicPr>
        <p:blipFill rotWithShape="1">
          <a:blip r:embed="rId4">
            <a:alphaModFix/>
          </a:blip>
          <a:srcRect b="0" l="0" r="0" t="0"/>
          <a:stretch/>
        </p:blipFill>
        <p:spPr>
          <a:xfrm>
            <a:off x="292000" y="1360204"/>
            <a:ext cx="666750" cy="666750"/>
          </a:xfrm>
          <a:prstGeom prst="rect">
            <a:avLst/>
          </a:prstGeom>
          <a:noFill/>
          <a:ln>
            <a:noFill/>
          </a:ln>
        </p:spPr>
      </p:pic>
      <p:pic>
        <p:nvPicPr>
          <p:cNvPr descr="image.png" id="459" name="Google Shape;459;p39"/>
          <p:cNvPicPr preferRelativeResize="0"/>
          <p:nvPr/>
        </p:nvPicPr>
        <p:blipFill rotWithShape="1">
          <a:blip r:embed="rId5">
            <a:alphaModFix/>
          </a:blip>
          <a:srcRect b="0" l="0" r="0" t="0"/>
          <a:stretch/>
        </p:blipFill>
        <p:spPr>
          <a:xfrm>
            <a:off x="458687" y="1560229"/>
            <a:ext cx="333375" cy="266700"/>
          </a:xfrm>
          <a:prstGeom prst="rect">
            <a:avLst/>
          </a:prstGeom>
          <a:noFill/>
          <a:ln>
            <a:noFill/>
          </a:ln>
        </p:spPr>
      </p:pic>
      <p:pic>
        <p:nvPicPr>
          <p:cNvPr descr="image.png" id="460" name="Google Shape;460;p39"/>
          <p:cNvPicPr preferRelativeResize="0"/>
          <p:nvPr/>
        </p:nvPicPr>
        <p:blipFill rotWithShape="1">
          <a:blip r:embed="rId6">
            <a:alphaModFix/>
          </a:blip>
          <a:srcRect b="0" l="0" r="0" t="0"/>
          <a:stretch/>
        </p:blipFill>
        <p:spPr>
          <a:xfrm>
            <a:off x="291988" y="2830904"/>
            <a:ext cx="666750" cy="666750"/>
          </a:xfrm>
          <a:prstGeom prst="rect">
            <a:avLst/>
          </a:prstGeom>
          <a:noFill/>
          <a:ln>
            <a:noFill/>
          </a:ln>
        </p:spPr>
      </p:pic>
      <p:pic>
        <p:nvPicPr>
          <p:cNvPr descr="image.png" id="461" name="Google Shape;461;p39"/>
          <p:cNvPicPr preferRelativeResize="0"/>
          <p:nvPr/>
        </p:nvPicPr>
        <p:blipFill rotWithShape="1">
          <a:blip r:embed="rId7">
            <a:alphaModFix/>
          </a:blip>
          <a:srcRect b="0" l="0" r="0" t="0"/>
          <a:stretch/>
        </p:blipFill>
        <p:spPr>
          <a:xfrm>
            <a:off x="472963" y="3030929"/>
            <a:ext cx="304800" cy="266700"/>
          </a:xfrm>
          <a:prstGeom prst="rect">
            <a:avLst/>
          </a:prstGeom>
          <a:noFill/>
          <a:ln>
            <a:noFill/>
          </a:ln>
        </p:spPr>
      </p:pic>
      <p:pic>
        <p:nvPicPr>
          <p:cNvPr descr="image.png" id="462" name="Google Shape;462;p39"/>
          <p:cNvPicPr preferRelativeResize="0"/>
          <p:nvPr/>
        </p:nvPicPr>
        <p:blipFill rotWithShape="1">
          <a:blip r:embed="rId8">
            <a:alphaModFix/>
          </a:blip>
          <a:srcRect b="0" l="0" r="0" t="0"/>
          <a:stretch/>
        </p:blipFill>
        <p:spPr>
          <a:xfrm>
            <a:off x="291988" y="4839154"/>
            <a:ext cx="666750" cy="666750"/>
          </a:xfrm>
          <a:prstGeom prst="rect">
            <a:avLst/>
          </a:prstGeom>
          <a:noFill/>
          <a:ln>
            <a:noFill/>
          </a:ln>
        </p:spPr>
      </p:pic>
      <p:pic>
        <p:nvPicPr>
          <p:cNvPr descr="image.png" id="463" name="Google Shape;463;p39"/>
          <p:cNvPicPr preferRelativeResize="0"/>
          <p:nvPr/>
        </p:nvPicPr>
        <p:blipFill rotWithShape="1">
          <a:blip r:embed="rId9">
            <a:alphaModFix/>
          </a:blip>
          <a:srcRect b="0" l="0" r="0" t="0"/>
          <a:stretch/>
        </p:blipFill>
        <p:spPr>
          <a:xfrm>
            <a:off x="525350" y="5039179"/>
            <a:ext cx="200025" cy="2667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67" name="Shape 467"/>
        <p:cNvGrpSpPr/>
        <p:nvPr/>
      </p:nvGrpSpPr>
      <p:grpSpPr>
        <a:xfrm>
          <a:off x="0" y="0"/>
          <a:ext cx="0" cy="0"/>
          <a:chOff x="0" y="0"/>
          <a:chExt cx="0" cy="0"/>
        </a:xfrm>
      </p:grpSpPr>
      <p:sp>
        <p:nvSpPr>
          <p:cNvPr id="468" name="Google Shape;468;p40"/>
          <p:cNvSpPr txBox="1"/>
          <p:nvPr/>
        </p:nvSpPr>
        <p:spPr>
          <a:xfrm>
            <a:off x="11311327" y="2406893"/>
            <a:ext cx="2859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a:p>
        </p:txBody>
      </p:sp>
      <p:sp>
        <p:nvSpPr>
          <p:cNvPr id="469" name="Google Shape;469;p40"/>
          <p:cNvSpPr txBox="1"/>
          <p:nvPr>
            <p:ph idx="12" type="sldNum"/>
          </p:nvPr>
        </p:nvSpPr>
        <p:spPr>
          <a:xfrm>
            <a:off x="9858926" y="6031501"/>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70" name="Google Shape;470;p40"/>
          <p:cNvSpPr txBox="1"/>
          <p:nvPr/>
        </p:nvSpPr>
        <p:spPr>
          <a:xfrm>
            <a:off x="524650" y="446600"/>
            <a:ext cx="11601600" cy="554100"/>
          </a:xfrm>
          <a:prstGeom prst="rect">
            <a:avLst/>
          </a:prstGeom>
          <a:noFill/>
          <a:ln>
            <a:noFill/>
          </a:ln>
        </p:spPr>
        <p:txBody>
          <a:bodyPr anchorCtr="0" anchor="t" bIns="0" lIns="0" spcFirstLastPara="1" rIns="0" wrap="square" tIns="0">
            <a:spAutoFit/>
          </a:bodyPr>
          <a:lstStyle/>
          <a:p>
            <a:pPr indent="0" lvl="0" marL="0" rtl="0" algn="l">
              <a:lnSpc>
                <a:spcPct val="120000"/>
              </a:lnSpc>
              <a:spcBef>
                <a:spcPts val="0"/>
              </a:spcBef>
              <a:spcAft>
                <a:spcPts val="0"/>
              </a:spcAft>
              <a:buNone/>
            </a:pPr>
            <a:r>
              <a:rPr b="1" lang="en-US" sz="3600">
                <a:solidFill>
                  <a:srgbClr val="1E3A8A"/>
                </a:solidFill>
                <a:latin typeface="Rubik"/>
                <a:ea typeface="Rubik"/>
                <a:cs typeface="Rubik"/>
                <a:sym typeface="Rubik"/>
              </a:rPr>
              <a:t>Evaluation Plan </a:t>
            </a:r>
            <a:endParaRPr b="1" sz="3600">
              <a:solidFill>
                <a:srgbClr val="1E3A8A"/>
              </a:solidFill>
              <a:latin typeface="Rubik"/>
              <a:ea typeface="Rubik"/>
              <a:cs typeface="Rubik"/>
              <a:sym typeface="Rubik"/>
            </a:endParaRPr>
          </a:p>
        </p:txBody>
      </p:sp>
      <p:sp>
        <p:nvSpPr>
          <p:cNvPr id="471" name="Google Shape;471;p40"/>
          <p:cNvSpPr txBox="1"/>
          <p:nvPr/>
        </p:nvSpPr>
        <p:spPr>
          <a:xfrm>
            <a:off x="1217075" y="1799550"/>
            <a:ext cx="10512900" cy="4311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2800" u="none" cap="none" strike="noStrike">
                <a:solidFill>
                  <a:srgbClr val="475569"/>
                </a:solidFill>
                <a:latin typeface="Heebo"/>
                <a:ea typeface="Heebo"/>
                <a:cs typeface="Heebo"/>
                <a:sym typeface="Heebo"/>
              </a:rPr>
              <a:t>Participants:</a:t>
            </a:r>
            <a:r>
              <a:rPr i="0" lang="en-US" sz="2800" u="none" cap="none" strike="noStrike">
                <a:solidFill>
                  <a:srgbClr val="475569"/>
                </a:solidFill>
                <a:latin typeface="Heebo"/>
                <a:ea typeface="Heebo"/>
                <a:cs typeface="Heebo"/>
                <a:sym typeface="Heebo"/>
              </a:rPr>
              <a:t> Real users will review AI decisions.</a:t>
            </a:r>
            <a:endParaRPr sz="2800">
              <a:latin typeface="Heebo"/>
              <a:ea typeface="Heebo"/>
              <a:cs typeface="Heebo"/>
              <a:sym typeface="Heebo"/>
            </a:endParaRPr>
          </a:p>
        </p:txBody>
      </p:sp>
      <p:sp>
        <p:nvSpPr>
          <p:cNvPr id="472" name="Google Shape;472;p40"/>
          <p:cNvSpPr txBox="1"/>
          <p:nvPr/>
        </p:nvSpPr>
        <p:spPr>
          <a:xfrm>
            <a:off x="1217075" y="2786649"/>
            <a:ext cx="10325700" cy="11205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2800" u="none" cap="none" strike="noStrike">
                <a:solidFill>
                  <a:srgbClr val="475569"/>
                </a:solidFill>
                <a:latin typeface="Heebo"/>
                <a:ea typeface="Heebo"/>
                <a:cs typeface="Heebo"/>
                <a:sym typeface="Heebo"/>
              </a:rPr>
              <a:t>Explanations:</a:t>
            </a:r>
            <a:r>
              <a:rPr i="0" lang="en-US" sz="2800" u="none" cap="none" strike="noStrike">
                <a:solidFill>
                  <a:srgbClr val="475569"/>
                </a:solidFill>
                <a:latin typeface="Heebo"/>
                <a:ea typeface="Heebo"/>
                <a:cs typeface="Heebo"/>
                <a:sym typeface="Heebo"/>
              </a:rPr>
              <a:t> Comparing effectiveness of SHAP, LIME, and DiCE through</a:t>
            </a:r>
            <a:r>
              <a:rPr lang="en-US" sz="2800">
                <a:solidFill>
                  <a:srgbClr val="475569"/>
                </a:solidFill>
                <a:latin typeface="Heebo"/>
                <a:ea typeface="Heebo"/>
                <a:cs typeface="Heebo"/>
                <a:sym typeface="Heebo"/>
              </a:rPr>
              <a:t> Fate and SCS </a:t>
            </a:r>
            <a:r>
              <a:rPr lang="en-US" sz="2800">
                <a:solidFill>
                  <a:srgbClr val="475569"/>
                </a:solidFill>
                <a:latin typeface="Heebo"/>
                <a:ea typeface="Heebo"/>
                <a:cs typeface="Heebo"/>
                <a:sym typeface="Heebo"/>
              </a:rPr>
              <a:t>frameworks</a:t>
            </a:r>
            <a:r>
              <a:rPr i="0" lang="en-US" sz="2800" u="none" cap="none" strike="noStrike">
                <a:solidFill>
                  <a:srgbClr val="475569"/>
                </a:solidFill>
                <a:latin typeface="Heebo"/>
                <a:ea typeface="Heebo"/>
                <a:cs typeface="Heebo"/>
                <a:sym typeface="Heebo"/>
              </a:rPr>
              <a:t>.</a:t>
            </a:r>
            <a:endParaRPr sz="2800">
              <a:latin typeface="Heebo"/>
              <a:ea typeface="Heebo"/>
              <a:cs typeface="Heebo"/>
              <a:sym typeface="Heebo"/>
            </a:endParaRPr>
          </a:p>
        </p:txBody>
      </p:sp>
      <p:sp>
        <p:nvSpPr>
          <p:cNvPr id="473" name="Google Shape;473;p40"/>
          <p:cNvSpPr txBox="1"/>
          <p:nvPr/>
        </p:nvSpPr>
        <p:spPr>
          <a:xfrm>
            <a:off x="1217075" y="4463148"/>
            <a:ext cx="10512900" cy="11205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Font typeface="Arial"/>
              <a:buNone/>
            </a:pPr>
            <a:r>
              <a:rPr b="1" lang="en-US" sz="2800">
                <a:solidFill>
                  <a:srgbClr val="475569"/>
                </a:solidFill>
                <a:latin typeface="Heebo"/>
                <a:ea typeface="Heebo"/>
                <a:cs typeface="Heebo"/>
                <a:sym typeface="Heebo"/>
              </a:rPr>
              <a:t>Data Collection: </a:t>
            </a:r>
            <a:r>
              <a:rPr lang="en-US" sz="2800">
                <a:solidFill>
                  <a:srgbClr val="475569"/>
                </a:solidFill>
                <a:latin typeface="Heebo"/>
                <a:ea typeface="Heebo"/>
                <a:cs typeface="Heebo"/>
                <a:sym typeface="Heebo"/>
              </a:rPr>
              <a:t>All user responses and feedback are systematically saved for analysis.</a:t>
            </a:r>
            <a:endParaRPr b="1" sz="2800">
              <a:solidFill>
                <a:srgbClr val="475569"/>
              </a:solidFill>
              <a:latin typeface="Heebo"/>
              <a:ea typeface="Heebo"/>
              <a:cs typeface="Heebo"/>
              <a:sym typeface="Heebo"/>
            </a:endParaRPr>
          </a:p>
        </p:txBody>
      </p:sp>
      <p:pic>
        <p:nvPicPr>
          <p:cNvPr descr="image.png" id="474" name="Google Shape;474;p40"/>
          <p:cNvPicPr preferRelativeResize="0"/>
          <p:nvPr/>
        </p:nvPicPr>
        <p:blipFill rotWithShape="1">
          <a:blip r:embed="rId4">
            <a:alphaModFix/>
          </a:blip>
          <a:srcRect b="0" l="0" r="0" t="0"/>
          <a:stretch/>
        </p:blipFill>
        <p:spPr>
          <a:xfrm>
            <a:off x="325850" y="4364609"/>
            <a:ext cx="666750" cy="666750"/>
          </a:xfrm>
          <a:prstGeom prst="rect">
            <a:avLst/>
          </a:prstGeom>
          <a:noFill/>
          <a:ln>
            <a:noFill/>
          </a:ln>
        </p:spPr>
      </p:pic>
      <p:pic>
        <p:nvPicPr>
          <p:cNvPr descr="image.png" id="475" name="Google Shape;475;p40"/>
          <p:cNvPicPr preferRelativeResize="0"/>
          <p:nvPr/>
        </p:nvPicPr>
        <p:blipFill rotWithShape="1">
          <a:blip r:embed="rId5">
            <a:alphaModFix/>
          </a:blip>
          <a:srcRect b="0" l="0" r="0" t="0"/>
          <a:stretch/>
        </p:blipFill>
        <p:spPr>
          <a:xfrm>
            <a:off x="525875" y="4564634"/>
            <a:ext cx="266700" cy="266700"/>
          </a:xfrm>
          <a:prstGeom prst="rect">
            <a:avLst/>
          </a:prstGeom>
          <a:noFill/>
          <a:ln>
            <a:noFill/>
          </a:ln>
        </p:spPr>
      </p:pic>
      <p:pic>
        <p:nvPicPr>
          <p:cNvPr descr="image.png" id="476" name="Google Shape;476;p40"/>
          <p:cNvPicPr preferRelativeResize="0"/>
          <p:nvPr/>
        </p:nvPicPr>
        <p:blipFill rotWithShape="1">
          <a:blip r:embed="rId6">
            <a:alphaModFix/>
          </a:blip>
          <a:srcRect b="0" l="0" r="0" t="0"/>
          <a:stretch/>
        </p:blipFill>
        <p:spPr>
          <a:xfrm>
            <a:off x="325850" y="1681715"/>
            <a:ext cx="666750" cy="666750"/>
          </a:xfrm>
          <a:prstGeom prst="rect">
            <a:avLst/>
          </a:prstGeom>
          <a:noFill/>
          <a:ln>
            <a:noFill/>
          </a:ln>
        </p:spPr>
      </p:pic>
      <p:pic>
        <p:nvPicPr>
          <p:cNvPr descr="image.png" id="477" name="Google Shape;477;p40"/>
          <p:cNvPicPr preferRelativeResize="0"/>
          <p:nvPr/>
        </p:nvPicPr>
        <p:blipFill rotWithShape="1">
          <a:blip r:embed="rId7">
            <a:alphaModFix/>
          </a:blip>
          <a:srcRect b="0" l="0" r="0" t="0"/>
          <a:stretch/>
        </p:blipFill>
        <p:spPr>
          <a:xfrm>
            <a:off x="492537" y="1881740"/>
            <a:ext cx="333375" cy="266700"/>
          </a:xfrm>
          <a:prstGeom prst="rect">
            <a:avLst/>
          </a:prstGeom>
          <a:noFill/>
          <a:ln>
            <a:noFill/>
          </a:ln>
        </p:spPr>
      </p:pic>
      <p:pic>
        <p:nvPicPr>
          <p:cNvPr descr="image.png" id="478" name="Google Shape;478;p40"/>
          <p:cNvPicPr preferRelativeResize="0"/>
          <p:nvPr/>
        </p:nvPicPr>
        <p:blipFill rotWithShape="1">
          <a:blip r:embed="rId4">
            <a:alphaModFix/>
          </a:blip>
          <a:srcRect b="0" l="0" r="0" t="0"/>
          <a:stretch/>
        </p:blipFill>
        <p:spPr>
          <a:xfrm>
            <a:off x="325838" y="2786640"/>
            <a:ext cx="666750" cy="666750"/>
          </a:xfrm>
          <a:prstGeom prst="rect">
            <a:avLst/>
          </a:prstGeom>
          <a:noFill/>
          <a:ln>
            <a:noFill/>
          </a:ln>
        </p:spPr>
      </p:pic>
      <p:pic>
        <p:nvPicPr>
          <p:cNvPr descr="image.png" id="479" name="Google Shape;479;p40"/>
          <p:cNvPicPr preferRelativeResize="0"/>
          <p:nvPr/>
        </p:nvPicPr>
        <p:blipFill rotWithShape="1">
          <a:blip r:embed="rId8">
            <a:alphaModFix/>
          </a:blip>
          <a:srcRect b="0" l="0" r="0" t="0"/>
          <a:stretch/>
        </p:blipFill>
        <p:spPr>
          <a:xfrm>
            <a:off x="525863" y="2986665"/>
            <a:ext cx="266700" cy="2667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83" name="Shape 483"/>
        <p:cNvGrpSpPr/>
        <p:nvPr/>
      </p:nvGrpSpPr>
      <p:grpSpPr>
        <a:xfrm>
          <a:off x="0" y="0"/>
          <a:ext cx="0" cy="0"/>
          <a:chOff x="0" y="0"/>
          <a:chExt cx="0" cy="0"/>
        </a:xfrm>
      </p:grpSpPr>
      <p:sp>
        <p:nvSpPr>
          <p:cNvPr id="484" name="Google Shape;484;p41"/>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rtl="0" algn="l">
              <a:lnSpc>
                <a:spcPct val="120000"/>
              </a:lnSpc>
              <a:spcBef>
                <a:spcPts val="0"/>
              </a:spcBef>
              <a:spcAft>
                <a:spcPts val="0"/>
              </a:spcAft>
              <a:buNone/>
            </a:pPr>
            <a:r>
              <a:rPr b="1" lang="en-US" sz="3600">
                <a:solidFill>
                  <a:srgbClr val="1E3A8A"/>
                </a:solidFill>
                <a:latin typeface="Rubik"/>
                <a:ea typeface="Rubik"/>
                <a:cs typeface="Rubik"/>
                <a:sym typeface="Rubik"/>
              </a:rPr>
              <a:t>Next Steps For Phase B </a:t>
            </a:r>
            <a:endParaRPr b="1" sz="3600">
              <a:solidFill>
                <a:srgbClr val="1E3A8A"/>
              </a:solidFill>
              <a:latin typeface="Rubik"/>
              <a:ea typeface="Rubik"/>
              <a:cs typeface="Rubik"/>
              <a:sym typeface="Rubik"/>
            </a:endParaRPr>
          </a:p>
        </p:txBody>
      </p:sp>
      <p:sp>
        <p:nvSpPr>
          <p:cNvPr id="485" name="Google Shape;485;p41"/>
          <p:cNvSpPr txBox="1"/>
          <p:nvPr>
            <p:ph idx="12" type="sldNum"/>
          </p:nvPr>
        </p:nvSpPr>
        <p:spPr>
          <a:xfrm>
            <a:off x="9858926" y="6375026"/>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86" name="Google Shape;486;p41"/>
          <p:cNvSpPr txBox="1"/>
          <p:nvPr/>
        </p:nvSpPr>
        <p:spPr>
          <a:xfrm>
            <a:off x="1245150" y="1816717"/>
            <a:ext cx="10652700" cy="92670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lang="en-US" sz="2800">
                <a:solidFill>
                  <a:srgbClr val="475569"/>
                </a:solidFill>
                <a:latin typeface="Heebo"/>
                <a:ea typeface="Heebo"/>
                <a:cs typeface="Heebo"/>
                <a:sym typeface="Heebo"/>
              </a:rPr>
              <a:t>Training the models and </a:t>
            </a:r>
            <a:r>
              <a:rPr i="0" lang="en-US" sz="2800" u="none" cap="none" strike="noStrike">
                <a:solidFill>
                  <a:srgbClr val="475569"/>
                </a:solidFill>
                <a:latin typeface="Heebo"/>
                <a:ea typeface="Heebo"/>
                <a:cs typeface="Heebo"/>
                <a:sym typeface="Heebo"/>
              </a:rPr>
              <a:t>Pre-generat</a:t>
            </a:r>
            <a:r>
              <a:rPr lang="en-US" sz="2800">
                <a:solidFill>
                  <a:srgbClr val="475569"/>
                </a:solidFill>
                <a:latin typeface="Heebo"/>
                <a:ea typeface="Heebo"/>
                <a:cs typeface="Heebo"/>
                <a:sym typeface="Heebo"/>
              </a:rPr>
              <a:t>ing</a:t>
            </a:r>
            <a:r>
              <a:rPr i="0" lang="en-US" sz="2800" u="none" cap="none" strike="noStrike">
                <a:solidFill>
                  <a:srgbClr val="475569"/>
                </a:solidFill>
                <a:latin typeface="Heebo"/>
                <a:ea typeface="Heebo"/>
                <a:cs typeface="Heebo"/>
                <a:sym typeface="Heebo"/>
              </a:rPr>
              <a:t> SHAP, LIME, and DiCE explanations.</a:t>
            </a:r>
            <a:endParaRPr sz="2800">
              <a:latin typeface="Heebo"/>
              <a:ea typeface="Heebo"/>
              <a:cs typeface="Heebo"/>
              <a:sym typeface="Heebo"/>
            </a:endParaRPr>
          </a:p>
        </p:txBody>
      </p:sp>
      <p:sp>
        <p:nvSpPr>
          <p:cNvPr id="487" name="Google Shape;487;p41"/>
          <p:cNvSpPr txBox="1"/>
          <p:nvPr/>
        </p:nvSpPr>
        <p:spPr>
          <a:xfrm>
            <a:off x="1245150" y="3141625"/>
            <a:ext cx="8775600" cy="43110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i="0" lang="en-US" sz="2800" u="none" cap="none" strike="noStrike">
                <a:solidFill>
                  <a:srgbClr val="475569"/>
                </a:solidFill>
                <a:latin typeface="Heebo"/>
                <a:ea typeface="Heebo"/>
                <a:cs typeface="Heebo"/>
                <a:sym typeface="Heebo"/>
              </a:rPr>
              <a:t>Same predefined decision instance for all users</a:t>
            </a:r>
            <a:endParaRPr sz="2800">
              <a:latin typeface="Heebo"/>
              <a:ea typeface="Heebo"/>
              <a:cs typeface="Heebo"/>
              <a:sym typeface="Heebo"/>
            </a:endParaRPr>
          </a:p>
        </p:txBody>
      </p:sp>
      <p:sp>
        <p:nvSpPr>
          <p:cNvPr id="488" name="Google Shape;488;p41"/>
          <p:cNvSpPr txBox="1"/>
          <p:nvPr/>
        </p:nvSpPr>
        <p:spPr>
          <a:xfrm>
            <a:off x="1245150" y="3970933"/>
            <a:ext cx="8775600" cy="43110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i="0" lang="en-US" sz="2800" u="none" cap="none" strike="noStrike">
                <a:solidFill>
                  <a:srgbClr val="475569"/>
                </a:solidFill>
                <a:latin typeface="Heebo"/>
                <a:ea typeface="Heebo"/>
                <a:cs typeface="Heebo"/>
                <a:sym typeface="Heebo"/>
              </a:rPr>
              <a:t>Review across Healthcare, HR, and Text domains</a:t>
            </a:r>
            <a:endParaRPr sz="2800">
              <a:latin typeface="Heebo"/>
              <a:ea typeface="Heebo"/>
              <a:cs typeface="Heebo"/>
              <a:sym typeface="Heebo"/>
            </a:endParaRPr>
          </a:p>
        </p:txBody>
      </p:sp>
      <p:sp>
        <p:nvSpPr>
          <p:cNvPr id="489" name="Google Shape;489;p41"/>
          <p:cNvSpPr txBox="1"/>
          <p:nvPr/>
        </p:nvSpPr>
        <p:spPr>
          <a:xfrm>
            <a:off x="1245150" y="4800242"/>
            <a:ext cx="8775600" cy="43110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i="0" lang="en-US" sz="2800" u="none" cap="none" strike="noStrike">
                <a:solidFill>
                  <a:srgbClr val="475569"/>
                </a:solidFill>
                <a:latin typeface="Heebo"/>
                <a:ea typeface="Heebo"/>
                <a:cs typeface="Heebo"/>
                <a:sym typeface="Heebo"/>
              </a:rPr>
              <a:t>User feedback via SCS &amp; FATE questionnaires</a:t>
            </a:r>
            <a:endParaRPr sz="2800">
              <a:latin typeface="Heebo"/>
              <a:ea typeface="Heebo"/>
              <a:cs typeface="Heebo"/>
              <a:sym typeface="Heebo"/>
            </a:endParaRPr>
          </a:p>
        </p:txBody>
      </p:sp>
      <p:sp>
        <p:nvSpPr>
          <p:cNvPr id="490" name="Google Shape;490;p41"/>
          <p:cNvSpPr txBox="1"/>
          <p:nvPr/>
        </p:nvSpPr>
        <p:spPr>
          <a:xfrm>
            <a:off x="1245150" y="5629550"/>
            <a:ext cx="8775600" cy="43110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i="0" lang="en-US" sz="2800" u="none" cap="none" strike="noStrike">
                <a:solidFill>
                  <a:srgbClr val="475569"/>
                </a:solidFill>
                <a:latin typeface="Heebo"/>
                <a:ea typeface="Heebo"/>
                <a:cs typeface="Heebo"/>
                <a:sym typeface="Heebo"/>
              </a:rPr>
              <a:t>Results analyzed across risk levels</a:t>
            </a:r>
            <a:endParaRPr sz="2800">
              <a:latin typeface="Heebo"/>
              <a:ea typeface="Heebo"/>
              <a:cs typeface="Heebo"/>
              <a:sym typeface="Heebo"/>
            </a:endParaRPr>
          </a:p>
        </p:txBody>
      </p:sp>
      <p:pic>
        <p:nvPicPr>
          <p:cNvPr descr="image.png" id="491" name="Google Shape;491;p41"/>
          <p:cNvPicPr preferRelativeResize="0"/>
          <p:nvPr/>
        </p:nvPicPr>
        <p:blipFill rotWithShape="1">
          <a:blip r:embed="rId4">
            <a:alphaModFix/>
          </a:blip>
          <a:srcRect b="0" l="0" r="0" t="0"/>
          <a:stretch/>
        </p:blipFill>
        <p:spPr>
          <a:xfrm>
            <a:off x="571509" y="1810998"/>
            <a:ext cx="476241" cy="476241"/>
          </a:xfrm>
          <a:prstGeom prst="rect">
            <a:avLst/>
          </a:prstGeom>
          <a:noFill/>
          <a:ln>
            <a:noFill/>
          </a:ln>
        </p:spPr>
      </p:pic>
      <p:pic>
        <p:nvPicPr>
          <p:cNvPr descr="image.png" id="492" name="Google Shape;492;p41"/>
          <p:cNvPicPr preferRelativeResize="0"/>
          <p:nvPr/>
        </p:nvPicPr>
        <p:blipFill rotWithShape="1">
          <a:blip r:embed="rId5">
            <a:alphaModFix/>
          </a:blip>
          <a:srcRect b="0" l="0" r="0" t="0"/>
          <a:stretch/>
        </p:blipFill>
        <p:spPr>
          <a:xfrm>
            <a:off x="714381" y="1953872"/>
            <a:ext cx="190496" cy="190499"/>
          </a:xfrm>
          <a:prstGeom prst="rect">
            <a:avLst/>
          </a:prstGeom>
          <a:noFill/>
          <a:ln>
            <a:noFill/>
          </a:ln>
        </p:spPr>
      </p:pic>
      <p:pic>
        <p:nvPicPr>
          <p:cNvPr descr="image.png" id="493" name="Google Shape;493;p41"/>
          <p:cNvPicPr preferRelativeResize="0"/>
          <p:nvPr/>
        </p:nvPicPr>
        <p:blipFill rotWithShape="1">
          <a:blip r:embed="rId6">
            <a:alphaModFix/>
          </a:blip>
          <a:srcRect b="0" l="0" r="0" t="0"/>
          <a:stretch/>
        </p:blipFill>
        <p:spPr>
          <a:xfrm>
            <a:off x="571521" y="3131653"/>
            <a:ext cx="476241" cy="476241"/>
          </a:xfrm>
          <a:prstGeom prst="rect">
            <a:avLst/>
          </a:prstGeom>
          <a:noFill/>
          <a:ln>
            <a:noFill/>
          </a:ln>
        </p:spPr>
      </p:pic>
      <p:pic>
        <p:nvPicPr>
          <p:cNvPr descr="image.png" id="494" name="Google Shape;494;p41"/>
          <p:cNvPicPr preferRelativeResize="0"/>
          <p:nvPr/>
        </p:nvPicPr>
        <p:blipFill rotWithShape="1">
          <a:blip r:embed="rId7">
            <a:alphaModFix/>
          </a:blip>
          <a:srcRect b="0" l="0" r="0" t="0"/>
          <a:stretch/>
        </p:blipFill>
        <p:spPr>
          <a:xfrm>
            <a:off x="724599" y="3274527"/>
            <a:ext cx="170086" cy="190496"/>
          </a:xfrm>
          <a:prstGeom prst="rect">
            <a:avLst/>
          </a:prstGeom>
          <a:noFill/>
          <a:ln>
            <a:noFill/>
          </a:ln>
        </p:spPr>
      </p:pic>
      <p:pic>
        <p:nvPicPr>
          <p:cNvPr descr="image.png" id="495" name="Google Shape;495;p41"/>
          <p:cNvPicPr preferRelativeResize="0"/>
          <p:nvPr/>
        </p:nvPicPr>
        <p:blipFill rotWithShape="1">
          <a:blip r:embed="rId8">
            <a:alphaModFix/>
          </a:blip>
          <a:srcRect b="0" l="0" r="0" t="0"/>
          <a:stretch/>
        </p:blipFill>
        <p:spPr>
          <a:xfrm>
            <a:off x="571525" y="4000243"/>
            <a:ext cx="476241" cy="476241"/>
          </a:xfrm>
          <a:prstGeom prst="rect">
            <a:avLst/>
          </a:prstGeom>
          <a:noFill/>
          <a:ln>
            <a:noFill/>
          </a:ln>
        </p:spPr>
      </p:pic>
      <p:pic>
        <p:nvPicPr>
          <p:cNvPr descr="image.png" id="496" name="Google Shape;496;p41"/>
          <p:cNvPicPr preferRelativeResize="0"/>
          <p:nvPr/>
        </p:nvPicPr>
        <p:blipFill rotWithShape="1">
          <a:blip r:embed="rId9">
            <a:alphaModFix/>
          </a:blip>
          <a:srcRect b="0" l="0" r="0" t="0"/>
          <a:stretch/>
        </p:blipFill>
        <p:spPr>
          <a:xfrm>
            <a:off x="700790" y="4143118"/>
            <a:ext cx="217710" cy="190499"/>
          </a:xfrm>
          <a:prstGeom prst="rect">
            <a:avLst/>
          </a:prstGeom>
          <a:noFill/>
          <a:ln>
            <a:noFill/>
          </a:ln>
        </p:spPr>
      </p:pic>
      <p:pic>
        <p:nvPicPr>
          <p:cNvPr descr="image.png" id="497" name="Google Shape;497;p41"/>
          <p:cNvPicPr preferRelativeResize="0"/>
          <p:nvPr/>
        </p:nvPicPr>
        <p:blipFill rotWithShape="1">
          <a:blip r:embed="rId10">
            <a:alphaModFix/>
          </a:blip>
          <a:srcRect b="0" l="0" r="0" t="0"/>
          <a:stretch/>
        </p:blipFill>
        <p:spPr>
          <a:xfrm>
            <a:off x="571509" y="4807952"/>
            <a:ext cx="476241" cy="476241"/>
          </a:xfrm>
          <a:prstGeom prst="rect">
            <a:avLst/>
          </a:prstGeom>
          <a:noFill/>
          <a:ln>
            <a:noFill/>
          </a:ln>
        </p:spPr>
      </p:pic>
      <p:pic>
        <p:nvPicPr>
          <p:cNvPr descr="image.png" id="498" name="Google Shape;498;p41"/>
          <p:cNvPicPr preferRelativeResize="0"/>
          <p:nvPr/>
        </p:nvPicPr>
        <p:blipFill rotWithShape="1">
          <a:blip r:embed="rId11">
            <a:alphaModFix/>
          </a:blip>
          <a:srcRect b="0" l="0" r="0" t="0"/>
          <a:stretch/>
        </p:blipFill>
        <p:spPr>
          <a:xfrm>
            <a:off x="690569" y="4950827"/>
            <a:ext cx="238121" cy="190496"/>
          </a:xfrm>
          <a:prstGeom prst="rect">
            <a:avLst/>
          </a:prstGeom>
          <a:noFill/>
          <a:ln>
            <a:noFill/>
          </a:ln>
        </p:spPr>
      </p:pic>
      <p:pic>
        <p:nvPicPr>
          <p:cNvPr descr="image.png" id="499" name="Google Shape;499;p41"/>
          <p:cNvPicPr preferRelativeResize="0"/>
          <p:nvPr/>
        </p:nvPicPr>
        <p:blipFill rotWithShape="1">
          <a:blip r:embed="rId12">
            <a:alphaModFix/>
          </a:blip>
          <a:srcRect b="0" l="0" r="0" t="0"/>
          <a:stretch/>
        </p:blipFill>
        <p:spPr>
          <a:xfrm>
            <a:off x="571525" y="5664271"/>
            <a:ext cx="476241" cy="476241"/>
          </a:xfrm>
          <a:prstGeom prst="rect">
            <a:avLst/>
          </a:prstGeom>
          <a:noFill/>
          <a:ln>
            <a:noFill/>
          </a:ln>
        </p:spPr>
      </p:pic>
      <p:pic>
        <p:nvPicPr>
          <p:cNvPr descr="image.png" id="500" name="Google Shape;500;p41"/>
          <p:cNvPicPr preferRelativeResize="0"/>
          <p:nvPr/>
        </p:nvPicPr>
        <p:blipFill rotWithShape="1">
          <a:blip r:embed="rId13">
            <a:alphaModFix/>
          </a:blip>
          <a:srcRect b="0" l="0" r="0" t="0"/>
          <a:stretch/>
        </p:blipFill>
        <p:spPr>
          <a:xfrm>
            <a:off x="714397" y="5807146"/>
            <a:ext cx="190496" cy="19049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42"/>
          <p:cNvSpPr txBox="1"/>
          <p:nvPr/>
        </p:nvSpPr>
        <p:spPr>
          <a:xfrm>
            <a:off x="768450" y="3044250"/>
            <a:ext cx="10655100" cy="7695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lang="en-US" sz="5000">
                <a:solidFill>
                  <a:srgbClr val="1E3A8A"/>
                </a:solidFill>
                <a:latin typeface="Rubik ExtraBold"/>
                <a:ea typeface="Rubik ExtraBold"/>
                <a:cs typeface="Rubik ExtraBold"/>
                <a:sym typeface="Rubik ExtraBold"/>
              </a:rPr>
              <a:t>Thank you !</a:t>
            </a:r>
            <a:endParaRPr sz="5000">
              <a:latin typeface="Rubik ExtraBold"/>
              <a:ea typeface="Rubik ExtraBold"/>
              <a:cs typeface="Rubik ExtraBold"/>
              <a:sym typeface="Rubik ExtraBold"/>
            </a:endParaRPr>
          </a:p>
        </p:txBody>
      </p:sp>
      <p:sp>
        <p:nvSpPr>
          <p:cNvPr id="506" name="Google Shape;506;p42"/>
          <p:cNvSpPr txBox="1"/>
          <p:nvPr>
            <p:ph idx="12" type="sldNum"/>
          </p:nvPr>
        </p:nvSpPr>
        <p:spPr>
          <a:xfrm>
            <a:off x="984025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507" name="Google Shape;507;p42"/>
          <p:cNvSpPr txBox="1"/>
          <p:nvPr/>
        </p:nvSpPr>
        <p:spPr>
          <a:xfrm>
            <a:off x="4596000" y="3935800"/>
            <a:ext cx="3000000" cy="5232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4500"/>
              </a:spcAft>
              <a:buNone/>
            </a:pPr>
            <a:r>
              <a:rPr lang="en-US" sz="2200">
                <a:solidFill>
                  <a:srgbClr val="475569"/>
                </a:solidFill>
                <a:latin typeface="Rubik"/>
                <a:ea typeface="Rubik"/>
                <a:cs typeface="Rubik"/>
                <a:sym typeface="Rubik"/>
              </a:rPr>
              <a:t>Any Questions?</a:t>
            </a:r>
            <a:endParaRPr sz="2200">
              <a:solidFill>
                <a:srgbClr val="475569"/>
              </a:solidFill>
              <a:latin typeface="Rubik"/>
              <a:ea typeface="Rubik"/>
              <a:cs typeface="Rubik"/>
              <a:sym typeface="Rubik"/>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